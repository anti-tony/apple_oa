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Tony. Thank you for your time. The brief asked for a tool that turns raw text, numbers and images into polished, accessible snippet cards you can share by email and chat. I built it as a native Mac app called Reporting Builder. I'll show it working first, then three design principles, how I handled accessibility and AI, the engineering, and what I would not claim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program manager on a Thursday afternoon. The material for the weekly update is scattered: bullet points in a notes app, numbers in a spreadsheet, a chart as a screenshot. They assemble it for email, then again for Slack, then again for the wiki. And nothing ever asks: can a colleague with a screen reader read this? Does the status still make sense without red and green? Three problems: assembling, re-formatting, and accessibility arriving too late, or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Reporting Builder, a native Mac app in Swift and SwiftUI. On the left, your cards. In the middle, the card itself, and that is the editor: you click the title and type, as in Pages or Keynote. On the right, a Format inspector for what you can't see on the card: theme, layout, image descriptions, and the accessibility check. Why native rather than web? Copy and share are the product, and the Mac pasteboard can carry rich text, HTML and plain text at once. And accessibility is a platform feature here, not an add-on.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 start a weekly status from a template and type straight onto the card. Now I copy a range from a spreadsheet and press Shift-Command-V. It recognises a table and offers metrics, with the change computed, and it knows that fewer open bugs is good news. I drop in a screenshot. The shield in the toolbar turns red, and the image asks for a description. Before I fix it, listen. [Play Hear This Card.] That's what a colleague with a screen reader gets: Image, no description. I describe it, and the check clears. Colour Vision shows the card as someone with red-green colour blindness sees it, and it still works, because every change has an arrow and words, not just colour. Finally Shift-Command-C. Paste into Mail: rich text, a real table, the image. Paste into Slack: the same copy, and Slack picks the flavour it understands. One copy, the right format in each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design principles. First: one model, many renderers. A card is a plain value type in a Swift package with no UI dependencies. Every output is a pure function of it: the canvas you edit, the PNG and PDF, inline-styled HTML for email, rich text for Mail and Notes, Markdown for Slack, plain text, even the spoken narration. That's why what you see is what you paste. It also makes a new destination cheap, and it lets the same code run without a window: a command-line tool renders and lints cards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principle came from throwing my first interface away. Version one, on the left, was a form beside a live preview. It worked, but you described the card in one place and looked at it in another, and the card looked like a dashboard: capital-letter labels, coloured pills, boxed tiles. So I rebuilt it the way Pages and Keynote work. The card is the editor, and properties live in a Format inspector. The card became typographic: one large title, sentence-case headings, status as words beside a small indicator. Both versions are in the repository history, with the decision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principle is the one I care most about. Passing a checklist is the floor. Most people who write status reports don't use a screen reader, so they can't tell what their report is like for someone who does. So the app lets you experience it. Hear This Card reads the card in the order and words a screen reader uses: heading level one, list of three items, velocity forty-two, up five percent, positive. If an image has no description, you hear the gap. Colour Vision shows the card under the common colour-vision deficiencies. And the linter checks fourteen rules as you type, each mapped to a WCAG criterion. Some are about language: it flags "the items marked in red", and it notices an image that is really a picture of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has two audiences. For people who receive a card: large print, which every export follows, and a tagged PDF with real text, headings and figure descriptions, so a screen reader treats it as a document, not a picture. For people who use the app with VoiceOver: a metric's trend is an Audio Graph, so you hear the line as pitch, as in Stocks and Health; each block has move and delete actions, and a rotor jumps between blocks. The app honours the system's contrast, colour, transparency and motion settings, and structural edits have named Undo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added one AI feature, because it answers the first sentence of the brief: quickly assemble and structure project progress. You paste rough notes, and the model returns a structured report: title, status, highlights, metrics, risks, next steps. What matters is what happens to the reply. It's treated as untrusted input: parsed defensively, every list bounded, the status mapped onto an enum, and then it goes through the same accessibility linter. The prompt forbids inventing numbers, nothing is saved until you press Create, and the sheet tells you to check every number. Refine does the same for one text block: concise, formal, or fix grammar. I did not rebuild Writing Tools: with Apple Intelligence, the system provides them in every text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want to be very clear about. In this demo the model is a public API, DeepSeek. That is for this exercise only. I would not ship it, and I would not use it with real data. Status reports are business data. Sent to a public third-party model, they leave the organisation's control: the provider's retention and training terms apply, in the provider's jurisdiction, with no data-processing agreement, no security review and no audit trail. Pasted notes can carry a prompt injection, and a model can state a wrong number confidently. So why is it there? My Mac runs macOS 15, which can't run Apple's on-device model, and a demo needs a model that answers. But the design assumes the right answer. The provider sits behind a protocol. The first implementation is Apple's Foundation Models, on device, where nothing leaves the Mac. The second is any compatible endpoint, which in a company means an approved internal gateway with authentication, redaction and logging. The feature is off by default, asks consent per host, keeps the key in the Keychain, and one build flag removes it with the network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engineering. The domain logic is a Swift package with no UI imports, so its tests run in about a second. Everything compiles in Swift 6 mode with strict concurrency. There are about a hundred and forty unit tests: parsers, renderers and the linter in the package; export, the pasteboard, undo, and the assistant against a stubbed network in the app. On top sit UI tests that include XCTest's accessibility audit. Configuration lives in xcconfig files and reaches runtime as feature flags. Lint is clean, CI runs on every push, and there are no third-party dependencies. Twelve short decision records explain the choices someone might question, including the ones I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mentions the cloud. A Mac app is distributed rather than hosted, and I keep user data local on purpose. So what goes to the cloud is the software and its output. On every push, GitHub Actions runs tests and lint. A push to main also renders a gallery of every template with the same HTML renderer the app uses for email, and publishes it to GitHub Pages, but only if every card passes the accessibility linter in strict mode. Accessibility becomes a pipeline gate. A version tag is set up to build a release; I have not cut one yet. In an enterprise, the same artifact would be notarised and distributed through Apple Business Manager or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straightforward about what I can't claim. The on-device model path compiles behind availability checks, but I couldn't run it on macOS 15. The paste matrix separates what I verified by hand from what I expect from each app's documentation. The VoiceOver features are tested for their data, but the experience needs someone who uses VoiceOver every day. The tagged PDF has a structure tree, but I haven't run a PDF/UA validator. And rich text has no alt text, so an image pasted into Mail carries its caption, not its description. Next would be an iPad target on the same core, share links, and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One model, many renderers: what you see is what you paste. Accessibility you can hear and see, not only pass, for the author, the reader and the VoiceOver user. And privacy as a design decision: local by default, AI opt-in, and honest about which parts are a demonstration. Thank you. I'd be glad to go deeper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a:t>
            </a:r>
            <a:endParaRPr lang="en-US" sz="1000" dirty="0"/>
          </a:p>
        </p:txBody>
      </p:sp>
      <p:pic>
        <p:nvPicPr>
          <p:cNvPr id="4" name="Image 0" descr="/Users/tonygpt/Desktop/PROJECTS/project-reporting-builder/deck/assets/app-icon.png">    </p:cNvPr>
          <p:cNvPicPr>
            <a:picLocks noChangeAspect="1"/>
          </p:cNvPicPr>
          <p:nvPr/>
        </p:nvPicPr>
        <p:blipFill>
          <a:blip r:embed="rId1"/>
          <a:srcRect l="0" r="0" t="0" b="0"/>
          <a:stretch/>
        </p:blipFill>
        <p:spPr>
          <a:xfrm>
            <a:off x="640080" y="1371600"/>
            <a:ext cx="1371600" cy="1371600"/>
          </a:xfrm>
          <a:prstGeom prst="rect">
            <a:avLst/>
          </a:prstGeom>
        </p:spPr>
      </p:pic>
      <p:sp>
        <p:nvSpPr>
          <p:cNvPr id="5" name="Text 1"/>
          <p:cNvSpPr txBox="1"/>
          <p:nvPr/>
        </p:nvSpPr>
        <p:spPr>
          <a:xfrm>
            <a:off x="640080" y="3017520"/>
            <a:ext cx="8229600" cy="914400"/>
          </a:xfrm>
          <a:prstGeom prst="rect">
            <a:avLst/>
          </a:prstGeom>
          <a:noFill/>
          <a:ln/>
        </p:spPr>
        <p:txBody>
          <a:bodyPr wrap="square" lIns="0" tIns="0" rIns="0" bIns="0" rtlCol="0" anchor="t"/>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Reporting Builder</a:t>
            </a:r>
            <a:endParaRPr lang="en-US" sz="5000" dirty="0"/>
          </a:p>
        </p:txBody>
      </p:sp>
      <p:sp>
        <p:nvSpPr>
          <p:cNvPr id="6" name="Text 2"/>
          <p:cNvSpPr txBox="1"/>
          <p:nvPr/>
        </p:nvSpPr>
        <p:spPr>
          <a:xfrm>
            <a:off x="640080" y="3977640"/>
            <a:ext cx="8686800" cy="822960"/>
          </a:xfrm>
          <a:prstGeom prst="rect">
            <a:avLst/>
          </a:prstGeom>
          <a:noFill/>
          <a:ln/>
        </p:spPr>
        <p:txBody>
          <a:bodyPr wrap="square" lIns="0" tIns="0" rIns="0" bIns="0" rtlCol="0" anchor="t"/>
          <a:lstStyle/>
          <a:p>
            <a:pPr indent="0" marL="0">
              <a:buNone/>
            </a:pPr>
            <a:r>
              <a:rPr lang="en-US" sz="2200" dirty="0">
                <a:solidFill>
                  <a:srgbClr val="A1A1A6"/>
                </a:solidFill>
                <a:latin typeface="Helvetica Neue" pitchFamily="34" charset="0"/>
                <a:ea typeface="Helvetica Neue" pitchFamily="34" charset="-122"/>
                <a:cs typeface="Helvetica Neue" pitchFamily="34" charset="-120"/>
              </a:rPr>
              <a:t>From raw notes to an accessible status card, in the tools your team already uses.</a:t>
            </a:r>
            <a:endParaRPr lang="en-US" sz="2200" dirty="0"/>
          </a:p>
        </p:txBody>
      </p:sp>
      <p:sp>
        <p:nvSpPr>
          <p:cNvPr id="7" name="Text 3"/>
          <p:cNvSpPr txBox="1"/>
          <p:nvPr/>
        </p:nvSpPr>
        <p:spPr>
          <a:xfrm>
            <a:off x="640080" y="5760720"/>
            <a:ext cx="8229600" cy="36576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Tony Wen  ·  Project Reporting Builder  ·  Proof of concept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THE PROBLEM</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Every week, the same update, three times</a:t>
            </a:r>
            <a:endParaRPr lang="en-US" sz="3400" dirty="0"/>
          </a:p>
        </p:txBody>
      </p:sp>
      <p:sp>
        <p:nvSpPr>
          <p:cNvPr id="6" name="Shape 3"/>
          <p:cNvSpPr/>
          <p:nvPr/>
        </p:nvSpPr>
        <p:spPr>
          <a:xfrm>
            <a:off x="640080"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1</a:t>
            </a:r>
            <a:endParaRPr lang="en-US" sz="4000" dirty="0"/>
          </a:p>
        </p:txBody>
      </p:sp>
      <p:sp>
        <p:nvSpPr>
          <p:cNvPr id="8" name="Text 5"/>
          <p:cNvSpPr txBox="1"/>
          <p:nvPr/>
        </p:nvSpPr>
        <p:spPr>
          <a:xfrm>
            <a:off x="1005840"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Scattered inputs</a:t>
            </a:r>
            <a:endParaRPr lang="en-US" sz="2000" dirty="0"/>
          </a:p>
        </p:txBody>
      </p:sp>
      <p:sp>
        <p:nvSpPr>
          <p:cNvPr id="9" name="Text 6"/>
          <p:cNvSpPr txBox="1"/>
          <p:nvPr/>
        </p:nvSpPr>
        <p:spPr>
          <a:xfrm>
            <a:off x="1005840"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Points in a notes app, numbers in a spreadsheet, a chart as a screenshot. Nothing is in one place or one format.</a:t>
            </a:r>
            <a:endParaRPr lang="en-US" sz="1500" dirty="0"/>
          </a:p>
        </p:txBody>
      </p:sp>
      <p:sp>
        <p:nvSpPr>
          <p:cNvPr id="10" name="Shape 7"/>
          <p:cNvSpPr/>
          <p:nvPr/>
        </p:nvSpPr>
        <p:spPr>
          <a:xfrm>
            <a:off x="4399178"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4764938"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2</a:t>
            </a:r>
            <a:endParaRPr lang="en-US" sz="4000" dirty="0"/>
          </a:p>
        </p:txBody>
      </p:sp>
      <p:sp>
        <p:nvSpPr>
          <p:cNvPr id="12" name="Text 9"/>
          <p:cNvSpPr txBox="1"/>
          <p:nvPr/>
        </p:nvSpPr>
        <p:spPr>
          <a:xfrm>
            <a:off x="4764938"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Redone per channel</a:t>
            </a:r>
            <a:endParaRPr lang="en-US" sz="2000" dirty="0"/>
          </a:p>
        </p:txBody>
      </p:sp>
      <p:sp>
        <p:nvSpPr>
          <p:cNvPr id="13" name="Text 10"/>
          <p:cNvSpPr txBox="1"/>
          <p:nvPr/>
        </p:nvSpPr>
        <p:spPr>
          <a:xfrm>
            <a:off x="4764938"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Mail wants rich text, Slack wants its own markup, the wiki wants Markdown. Each copy is made by hand.</a:t>
            </a:r>
            <a:endParaRPr lang="en-US" sz="1500" dirty="0"/>
          </a:p>
        </p:txBody>
      </p:sp>
      <p:sp>
        <p:nvSpPr>
          <p:cNvPr id="14" name="Shape 11"/>
          <p:cNvSpPr/>
          <p:nvPr/>
        </p:nvSpPr>
        <p:spPr>
          <a:xfrm>
            <a:off x="8158277"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8524037"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3</a:t>
            </a:r>
            <a:endParaRPr lang="en-US" sz="4000" dirty="0"/>
          </a:p>
        </p:txBody>
      </p:sp>
      <p:sp>
        <p:nvSpPr>
          <p:cNvPr id="16" name="Text 13"/>
          <p:cNvSpPr txBox="1"/>
          <p:nvPr/>
        </p:nvSpPr>
        <p:spPr>
          <a:xfrm>
            <a:off x="8524037"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Accessibility last</a:t>
            </a:r>
            <a:endParaRPr lang="en-US" sz="2000" dirty="0"/>
          </a:p>
        </p:txBody>
      </p:sp>
      <p:sp>
        <p:nvSpPr>
          <p:cNvPr id="17" name="Text 14"/>
          <p:cNvSpPr txBox="1"/>
          <p:nvPr/>
        </p:nvSpPr>
        <p:spPr>
          <a:xfrm>
            <a:off x="8524037"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Images without descriptions, status shown by colour alone, text trapped inside screenshots. Nobody checks.</a:t>
            </a:r>
            <a:endParaRPr lang="en-US" sz="1500" dirty="0"/>
          </a:p>
        </p:txBody>
      </p:sp>
      <p:sp>
        <p:nvSpPr>
          <p:cNvPr id="18" name="Text 15"/>
          <p:cNvSpPr txBox="1"/>
          <p:nvPr/>
        </p:nvSpPr>
        <p:spPr>
          <a:xfrm>
            <a:off x="640080" y="544068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The brief: ingest text, metrics and images; produce modular, polished, accessible cards; copy or export them instantly.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WHAT I BUILT</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 Mac app where the card is the document</a:t>
            </a:r>
            <a:endParaRPr lang="en-US" sz="3400" dirty="0"/>
          </a:p>
        </p:txBody>
      </p:sp>
      <p:sp>
        <p:nvSpPr>
          <p:cNvPr id="6" name="Shape 3"/>
          <p:cNvSpPr/>
          <p:nvPr/>
        </p:nvSpPr>
        <p:spPr>
          <a:xfrm>
            <a:off x="640080" y="1463040"/>
            <a:ext cx="7589520" cy="4754880"/>
          </a:xfrm>
          <a:prstGeom prst="roundRect">
            <a:avLst>
              <a:gd name="adj" fmla="val 3462"/>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Image 0" descr="/Users/tonygpt/Desktop/PROJECTS/project-reporting-builder/deck/assets/hero.png">    </p:cNvPr>
          <p:cNvPicPr>
            <a:picLocks noChangeAspect="1"/>
          </p:cNvPicPr>
          <p:nvPr/>
        </p:nvPicPr>
        <p:blipFill>
          <a:blip r:embed="rId1"/>
          <a:srcRect l="0" r="0" t="0" b="0"/>
          <a:stretch/>
        </p:blipFill>
        <p:spPr>
          <a:xfrm>
            <a:off x="777240" y="1600200"/>
            <a:ext cx="7315200" cy="4480560"/>
          </a:xfrm>
          <a:prstGeom prst="rect">
            <a:avLst/>
          </a:prstGeom>
        </p:spPr>
      </p:pic>
      <p:sp>
        <p:nvSpPr>
          <p:cNvPr id="8" name="Text 4"/>
          <p:cNvSpPr txBox="1"/>
          <p:nvPr/>
        </p:nvSpPr>
        <p:spPr>
          <a:xfrm>
            <a:off x="8595360" y="155448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In</a:t>
            </a:r>
            <a:endParaRPr lang="en-US" sz="1300" dirty="0"/>
          </a:p>
        </p:txBody>
      </p:sp>
      <p:sp>
        <p:nvSpPr>
          <p:cNvPr id="9" name="Text 5"/>
          <p:cNvSpPr txBox="1"/>
          <p:nvPr/>
        </p:nvSpPr>
        <p:spPr>
          <a:xfrm>
            <a:off x="8595360" y="187452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Type on the card, paste a spreadsheet range, drop files. Smart Paste picks the block type.</a:t>
            </a:r>
            <a:endParaRPr lang="en-US" sz="1500" dirty="0"/>
          </a:p>
        </p:txBody>
      </p:sp>
      <p:sp>
        <p:nvSpPr>
          <p:cNvPr id="10" name="Text 6"/>
          <p:cNvSpPr txBox="1"/>
          <p:nvPr/>
        </p:nvSpPr>
        <p:spPr>
          <a:xfrm>
            <a:off x="8595360" y="297180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Card</a:t>
            </a:r>
            <a:endParaRPr lang="en-US" sz="1300" dirty="0"/>
          </a:p>
        </p:txBody>
      </p:sp>
      <p:sp>
        <p:nvSpPr>
          <p:cNvPr id="11" name="Text 7"/>
          <p:cNvSpPr txBox="1"/>
          <p:nvPr/>
        </p:nvSpPr>
        <p:spPr>
          <a:xfrm>
            <a:off x="8595360" y="329184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Text, metrics and image blocks. Four themes, large print, fourteen accessibility checks as you type.</a:t>
            </a:r>
            <a:endParaRPr lang="en-US" sz="1500" dirty="0"/>
          </a:p>
        </p:txBody>
      </p:sp>
      <p:sp>
        <p:nvSpPr>
          <p:cNvPr id="12" name="Text 8"/>
          <p:cNvSpPr txBox="1"/>
          <p:nvPr/>
        </p:nvSpPr>
        <p:spPr>
          <a:xfrm>
            <a:off x="8595360" y="438912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Out</a:t>
            </a:r>
            <a:endParaRPr lang="en-US" sz="1300" dirty="0"/>
          </a:p>
        </p:txBody>
      </p:sp>
      <p:sp>
        <p:nvSpPr>
          <p:cNvPr id="13" name="Text 9"/>
          <p:cNvSpPr txBox="1"/>
          <p:nvPr/>
        </p:nvSpPr>
        <p:spPr>
          <a:xfrm>
            <a:off x="8595360" y="4709160"/>
            <a:ext cx="2956255" cy="109728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One shortcut copies for Mail, Notes and Slack. PNG, tagged PDF, HTML, Markdown, print, share, drag out.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4</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A1A1A6"/>
                </a:solidFill>
                <a:latin typeface="Helvetica Neue" pitchFamily="34" charset="0"/>
                <a:ea typeface="Helvetica Neue" pitchFamily="34" charset="-122"/>
                <a:cs typeface="Helvetica Neue" pitchFamily="34" charset="-120"/>
              </a:rPr>
              <a:t>LIVE DEMO  ·  3 MINUTES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FFFFFF"/>
                </a:solidFill>
                <a:latin typeface="Helvetica Neue" pitchFamily="34" charset="0"/>
                <a:ea typeface="Helvetica Neue" pitchFamily="34" charset="-122"/>
                <a:cs typeface="Helvetica Neue" pitchFamily="34" charset="-120"/>
              </a:rPr>
              <a:t>From scattered inputs to a shared card</a:t>
            </a:r>
            <a:endParaRPr lang="en-US" sz="3400" dirty="0"/>
          </a:p>
        </p:txBody>
      </p:sp>
      <p:sp>
        <p:nvSpPr>
          <p:cNvPr id="6" name="Shape 3"/>
          <p:cNvSpPr/>
          <p:nvPr/>
        </p:nvSpPr>
        <p:spPr>
          <a:xfrm>
            <a:off x="640080" y="1600200"/>
            <a:ext cx="457200" cy="457200"/>
          </a:xfrm>
          <a:prstGeom prst="ellipse">
            <a:avLst/>
          </a:prstGeom>
          <a:solidFill>
            <a:srgbClr val="2C2C2E"/>
          </a:solidFill>
          <a:ln w="12700">
            <a:solidFill>
              <a:srgbClr val="2C2C2E"/>
            </a:solidFill>
            <a:prstDash val="solid"/>
          </a:ln>
        </p:spPr>
      </p:sp>
      <p:sp>
        <p:nvSpPr>
          <p:cNvPr id="7" name="Text 4"/>
          <p:cNvSpPr txBox="1"/>
          <p:nvPr/>
        </p:nvSpPr>
        <p:spPr>
          <a:xfrm>
            <a:off x="640080" y="167335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1</a:t>
            </a:r>
            <a:endParaRPr lang="en-US" sz="1500" dirty="0"/>
          </a:p>
        </p:txBody>
      </p:sp>
      <p:sp>
        <p:nvSpPr>
          <p:cNvPr id="8" name="Text 5"/>
          <p:cNvSpPr txBox="1"/>
          <p:nvPr/>
        </p:nvSpPr>
        <p:spPr>
          <a:xfrm>
            <a:off x="1325880" y="166420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New card from a template; type on the card</a:t>
            </a:r>
            <a:endParaRPr lang="en-US" sz="1600" dirty="0"/>
          </a:p>
        </p:txBody>
      </p:sp>
      <p:sp>
        <p:nvSpPr>
          <p:cNvPr id="9" name="Shape 6"/>
          <p:cNvSpPr/>
          <p:nvPr/>
        </p:nvSpPr>
        <p:spPr>
          <a:xfrm>
            <a:off x="640080" y="2313432"/>
            <a:ext cx="457200" cy="457200"/>
          </a:xfrm>
          <a:prstGeom prst="ellipse">
            <a:avLst/>
          </a:prstGeom>
          <a:solidFill>
            <a:srgbClr val="2C2C2E"/>
          </a:solidFill>
          <a:ln w="12700">
            <a:solidFill>
              <a:srgbClr val="2C2C2E"/>
            </a:solidFill>
            <a:prstDash val="solid"/>
          </a:ln>
        </p:spPr>
      </p:sp>
      <p:sp>
        <p:nvSpPr>
          <p:cNvPr id="10" name="Text 7"/>
          <p:cNvSpPr txBox="1"/>
          <p:nvPr/>
        </p:nvSpPr>
        <p:spPr>
          <a:xfrm>
            <a:off x="640080" y="2386584"/>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2</a:t>
            </a:r>
            <a:endParaRPr lang="en-US" sz="1500" dirty="0"/>
          </a:p>
        </p:txBody>
      </p:sp>
      <p:sp>
        <p:nvSpPr>
          <p:cNvPr id="11" name="Text 8"/>
          <p:cNvSpPr txBox="1"/>
          <p:nvPr/>
        </p:nvSpPr>
        <p:spPr>
          <a:xfrm>
            <a:off x="1325880" y="2377440"/>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Paste a spreadsheet range: metrics with change arrows</a:t>
            </a:r>
            <a:endParaRPr lang="en-US" sz="1600" dirty="0"/>
          </a:p>
        </p:txBody>
      </p:sp>
      <p:sp>
        <p:nvSpPr>
          <p:cNvPr id="12" name="Shape 9"/>
          <p:cNvSpPr/>
          <p:nvPr/>
        </p:nvSpPr>
        <p:spPr>
          <a:xfrm>
            <a:off x="640080" y="3026664"/>
            <a:ext cx="457200" cy="457200"/>
          </a:xfrm>
          <a:prstGeom prst="ellipse">
            <a:avLst/>
          </a:prstGeom>
          <a:solidFill>
            <a:srgbClr val="2C2C2E"/>
          </a:solidFill>
          <a:ln w="12700">
            <a:solidFill>
              <a:srgbClr val="2C2C2E"/>
            </a:solidFill>
            <a:prstDash val="solid"/>
          </a:ln>
        </p:spPr>
      </p:sp>
      <p:sp>
        <p:nvSpPr>
          <p:cNvPr id="13" name="Text 10"/>
          <p:cNvSpPr txBox="1"/>
          <p:nvPr/>
        </p:nvSpPr>
        <p:spPr>
          <a:xfrm>
            <a:off x="640080" y="3099816"/>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3</a:t>
            </a:r>
            <a:endParaRPr lang="en-US" sz="1500" dirty="0"/>
          </a:p>
        </p:txBody>
      </p:sp>
      <p:sp>
        <p:nvSpPr>
          <p:cNvPr id="14" name="Text 11"/>
          <p:cNvSpPr txBox="1"/>
          <p:nvPr/>
        </p:nvSpPr>
        <p:spPr>
          <a:xfrm>
            <a:off x="1325880" y="3090672"/>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Drop a screenshot: the shield turns red, “Add Description”</a:t>
            </a:r>
            <a:endParaRPr lang="en-US" sz="1600" dirty="0"/>
          </a:p>
        </p:txBody>
      </p:sp>
      <p:sp>
        <p:nvSpPr>
          <p:cNvPr id="15" name="Shape 12"/>
          <p:cNvSpPr/>
          <p:nvPr/>
        </p:nvSpPr>
        <p:spPr>
          <a:xfrm>
            <a:off x="640080" y="3739896"/>
            <a:ext cx="457200" cy="457200"/>
          </a:xfrm>
          <a:prstGeom prst="ellipse">
            <a:avLst/>
          </a:prstGeom>
          <a:solidFill>
            <a:srgbClr val="2C2C2E"/>
          </a:solidFill>
          <a:ln w="12700">
            <a:solidFill>
              <a:srgbClr val="2C2C2E"/>
            </a:solidFill>
            <a:prstDash val="solid"/>
          </a:ln>
        </p:spPr>
      </p:sp>
      <p:sp>
        <p:nvSpPr>
          <p:cNvPr id="16" name="Text 13"/>
          <p:cNvSpPr txBox="1"/>
          <p:nvPr/>
        </p:nvSpPr>
        <p:spPr>
          <a:xfrm>
            <a:off x="640080" y="3813048"/>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4</a:t>
            </a:r>
            <a:endParaRPr lang="en-US" sz="1500" dirty="0"/>
          </a:p>
        </p:txBody>
      </p:sp>
      <p:sp>
        <p:nvSpPr>
          <p:cNvPr id="17" name="Text 14"/>
          <p:cNvSpPr txBox="1"/>
          <p:nvPr/>
        </p:nvSpPr>
        <p:spPr>
          <a:xfrm>
            <a:off x="1325880" y="3803904"/>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Hear This Card: “Image. No description.” Describe it; it clears</a:t>
            </a:r>
            <a:endParaRPr lang="en-US" sz="1600" dirty="0"/>
          </a:p>
        </p:txBody>
      </p:sp>
      <p:sp>
        <p:nvSpPr>
          <p:cNvPr id="18" name="Shape 15"/>
          <p:cNvSpPr/>
          <p:nvPr/>
        </p:nvSpPr>
        <p:spPr>
          <a:xfrm>
            <a:off x="640080" y="4453128"/>
            <a:ext cx="457200" cy="457200"/>
          </a:xfrm>
          <a:prstGeom prst="ellipse">
            <a:avLst/>
          </a:prstGeom>
          <a:solidFill>
            <a:srgbClr val="2C2C2E"/>
          </a:solidFill>
          <a:ln w="12700">
            <a:solidFill>
              <a:srgbClr val="2C2C2E"/>
            </a:solidFill>
            <a:prstDash val="solid"/>
          </a:ln>
        </p:spPr>
      </p:sp>
      <p:sp>
        <p:nvSpPr>
          <p:cNvPr id="19" name="Text 16"/>
          <p:cNvSpPr txBox="1"/>
          <p:nvPr/>
        </p:nvSpPr>
        <p:spPr>
          <a:xfrm>
            <a:off x="640080" y="4526280"/>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5</a:t>
            </a:r>
            <a:endParaRPr lang="en-US" sz="1500" dirty="0"/>
          </a:p>
        </p:txBody>
      </p:sp>
      <p:sp>
        <p:nvSpPr>
          <p:cNvPr id="20" name="Text 17"/>
          <p:cNvSpPr txBox="1"/>
          <p:nvPr/>
        </p:nvSpPr>
        <p:spPr>
          <a:xfrm>
            <a:off x="1325880" y="4517136"/>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Colour Vision: still readable without red and green</a:t>
            </a:r>
            <a:endParaRPr lang="en-US" sz="1600" dirty="0"/>
          </a:p>
        </p:txBody>
      </p:sp>
      <p:sp>
        <p:nvSpPr>
          <p:cNvPr id="21" name="Shape 18"/>
          <p:cNvSpPr/>
          <p:nvPr/>
        </p:nvSpPr>
        <p:spPr>
          <a:xfrm>
            <a:off x="640080" y="5166360"/>
            <a:ext cx="457200" cy="457200"/>
          </a:xfrm>
          <a:prstGeom prst="ellipse">
            <a:avLst/>
          </a:prstGeom>
          <a:solidFill>
            <a:srgbClr val="2C2C2E"/>
          </a:solidFill>
          <a:ln w="12700">
            <a:solidFill>
              <a:srgbClr val="2C2C2E"/>
            </a:solidFill>
            <a:prstDash val="solid"/>
          </a:ln>
        </p:spPr>
      </p:sp>
      <p:sp>
        <p:nvSpPr>
          <p:cNvPr id="22" name="Text 19"/>
          <p:cNvSpPr txBox="1"/>
          <p:nvPr/>
        </p:nvSpPr>
        <p:spPr>
          <a:xfrm>
            <a:off x="640080" y="523951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6</a:t>
            </a:r>
            <a:endParaRPr lang="en-US" sz="1500" dirty="0"/>
          </a:p>
        </p:txBody>
      </p:sp>
      <p:sp>
        <p:nvSpPr>
          <p:cNvPr id="23" name="Text 20"/>
          <p:cNvSpPr txBox="1"/>
          <p:nvPr/>
        </p:nvSpPr>
        <p:spPr>
          <a:xfrm>
            <a:off x="1325880" y="523036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 paste into Mail, then into Slack</a:t>
            </a:r>
            <a:endParaRPr lang="en-US" sz="1600" dirty="0"/>
          </a:p>
        </p:txBody>
      </p:sp>
      <p:pic>
        <p:nvPicPr>
          <p:cNvPr id="24" name="Image 0" descr="/Users/tonygpt/Desktop/PROJECTS/project-reporting-builder/deck/assets/missing.png">    </p:cNvPr>
          <p:cNvPicPr>
            <a:picLocks noChangeAspect="1"/>
          </p:cNvPicPr>
          <p:nvPr/>
        </p:nvPicPr>
        <p:blipFill>
          <a:blip r:embed="rId1"/>
          <a:srcRect l="0" r="0" t="0" b="0"/>
          <a:stretch/>
        </p:blipFill>
        <p:spPr>
          <a:xfrm>
            <a:off x="6675120" y="1554480"/>
            <a:ext cx="4876495" cy="44805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5</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1</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model, many renderers</a:t>
            </a:r>
            <a:endParaRPr lang="en-US" sz="3400" dirty="0"/>
          </a:p>
        </p:txBody>
      </p:sp>
      <p:sp>
        <p:nvSpPr>
          <p:cNvPr id="6" name="Shape 3"/>
          <p:cNvSpPr/>
          <p:nvPr/>
        </p:nvSpPr>
        <p:spPr>
          <a:xfrm>
            <a:off x="4572000" y="2962656"/>
            <a:ext cx="3017520" cy="1371600"/>
          </a:xfrm>
          <a:prstGeom prst="roundRect">
            <a:avLst>
              <a:gd name="adj" fmla="val 12000"/>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4572000" y="3255264"/>
            <a:ext cx="3017520" cy="411480"/>
          </a:xfrm>
          <a:prstGeom prst="rect">
            <a:avLst/>
          </a:prstGeom>
          <a:noFill/>
          <a:ln/>
        </p:spPr>
        <p:txBody>
          <a:bodyPr wrap="square" lIns="0" tIns="0" rIns="0" bIns="0" rtlCol="0" anchor="t"/>
          <a:lstStyle/>
          <a:p>
            <a:pPr algn="ctr" indent="0" marL="0">
              <a:buNone/>
            </a:pPr>
            <a:r>
              <a:rPr lang="en-US" sz="2200" b="1" dirty="0">
                <a:solidFill>
                  <a:srgbClr val="FFFFFF"/>
                </a:solidFill>
                <a:latin typeface="Helvetica Neue" pitchFamily="34" charset="0"/>
                <a:ea typeface="Helvetica Neue" pitchFamily="34" charset="-122"/>
                <a:cs typeface="Helvetica Neue" pitchFamily="34" charset="-120"/>
              </a:rPr>
              <a:t>SnippetCard</a:t>
            </a:r>
            <a:endParaRPr lang="en-US" sz="2200" dirty="0"/>
          </a:p>
        </p:txBody>
      </p:sp>
      <p:sp>
        <p:nvSpPr>
          <p:cNvPr id="8" name="Text 5"/>
          <p:cNvSpPr txBox="1"/>
          <p:nvPr/>
        </p:nvSpPr>
        <p:spPr>
          <a:xfrm>
            <a:off x="4572000" y="3739896"/>
            <a:ext cx="3017520" cy="320040"/>
          </a:xfrm>
          <a:prstGeom prst="rect">
            <a:avLst/>
          </a:prstGeom>
          <a:noFill/>
          <a:ln/>
        </p:spPr>
        <p:txBody>
          <a:bodyPr wrap="square" lIns="0" tIns="0" rIns="0" bIns="0" rtlCol="0" anchor="t"/>
          <a:lstStyle/>
          <a:p>
            <a:pPr algn="ctr" indent="0" marL="0">
              <a:buNone/>
            </a:pPr>
            <a:r>
              <a:rPr lang="en-US" sz="1200" dirty="0">
                <a:solidFill>
                  <a:srgbClr val="A1A1A6"/>
                </a:solidFill>
                <a:latin typeface="Helvetica Neue" pitchFamily="34" charset="0"/>
                <a:ea typeface="Helvetica Neue" pitchFamily="34" charset="-122"/>
                <a:cs typeface="Helvetica Neue" pitchFamily="34" charset="-120"/>
              </a:rPr>
              <a:t>value type · Codable · Sendable</a:t>
            </a:r>
            <a:endParaRPr lang="en-US" sz="1200" dirty="0"/>
          </a:p>
        </p:txBody>
      </p:sp>
      <p:sp>
        <p:nvSpPr>
          <p:cNvPr id="9" name="Shape 6"/>
          <p:cNvSpPr/>
          <p:nvPr/>
        </p:nvSpPr>
        <p:spPr>
          <a:xfrm>
            <a:off x="640080"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914400"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Canvas, PNG, tagged PDF</a:t>
            </a:r>
            <a:endParaRPr lang="en-US" sz="1600" dirty="0"/>
          </a:p>
        </p:txBody>
      </p:sp>
      <p:sp>
        <p:nvSpPr>
          <p:cNvPr id="11" name="Text 8"/>
          <p:cNvSpPr txBox="1"/>
          <p:nvPr/>
        </p:nvSpPr>
        <p:spPr>
          <a:xfrm>
            <a:off x="914400"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SwiftUI</a:t>
            </a:r>
            <a:endParaRPr lang="en-US" sz="1300" dirty="0"/>
          </a:p>
        </p:txBody>
      </p:sp>
      <p:sp>
        <p:nvSpPr>
          <p:cNvPr id="12" name="Shape 9"/>
          <p:cNvSpPr/>
          <p:nvPr/>
        </p:nvSpPr>
        <p:spPr>
          <a:xfrm>
            <a:off x="3931920" y="2171700"/>
            <a:ext cx="640080" cy="1476756"/>
          </a:xfrm>
          <a:prstGeom prst="line">
            <a:avLst/>
          </a:prstGeom>
          <a:noFill/>
          <a:ln w="19050">
            <a:solidFill>
              <a:srgbClr val="D2D2D7"/>
            </a:solidFill>
            <a:prstDash val="solid"/>
          </a:ln>
        </p:spPr>
      </p:sp>
      <p:sp>
        <p:nvSpPr>
          <p:cNvPr id="13" name="Shape 10"/>
          <p:cNvSpPr/>
          <p:nvPr/>
        </p:nvSpPr>
        <p:spPr>
          <a:xfrm>
            <a:off x="640080"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4" name="Text 11"/>
          <p:cNvSpPr txBox="1"/>
          <p:nvPr/>
        </p:nvSpPr>
        <p:spPr>
          <a:xfrm>
            <a:off x="914400"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Email HTML, web page</a:t>
            </a:r>
            <a:endParaRPr lang="en-US" sz="1600" dirty="0"/>
          </a:p>
        </p:txBody>
      </p:sp>
      <p:sp>
        <p:nvSpPr>
          <p:cNvPr id="15" name="Text 12"/>
          <p:cNvSpPr txBox="1"/>
          <p:nvPr/>
        </p:nvSpPr>
        <p:spPr>
          <a:xfrm>
            <a:off x="914400"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inline styles, semantic</a:t>
            </a:r>
            <a:endParaRPr lang="en-US" sz="1300" dirty="0"/>
          </a:p>
        </p:txBody>
      </p:sp>
      <p:sp>
        <p:nvSpPr>
          <p:cNvPr id="16" name="Shape 13"/>
          <p:cNvSpPr/>
          <p:nvPr/>
        </p:nvSpPr>
        <p:spPr>
          <a:xfrm flipV="1">
            <a:off x="3931920" y="3648456"/>
            <a:ext cx="640080" cy="4572"/>
          </a:xfrm>
          <a:prstGeom prst="line">
            <a:avLst/>
          </a:prstGeom>
          <a:noFill/>
          <a:ln w="19050">
            <a:solidFill>
              <a:srgbClr val="D2D2D7"/>
            </a:solidFill>
            <a:prstDash val="solid"/>
          </a:ln>
        </p:spPr>
      </p:sp>
      <p:sp>
        <p:nvSpPr>
          <p:cNvPr id="17" name="Shape 14"/>
          <p:cNvSpPr/>
          <p:nvPr/>
        </p:nvSpPr>
        <p:spPr>
          <a:xfrm>
            <a:off x="640080"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914400"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Rich text</a:t>
            </a:r>
            <a:endParaRPr lang="en-US" sz="1600" dirty="0"/>
          </a:p>
        </p:txBody>
      </p:sp>
      <p:sp>
        <p:nvSpPr>
          <p:cNvPr id="19" name="Text 16"/>
          <p:cNvSpPr txBox="1"/>
          <p:nvPr/>
        </p:nvSpPr>
        <p:spPr>
          <a:xfrm>
            <a:off x="914400"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Mail, Notes</a:t>
            </a:r>
            <a:endParaRPr lang="en-US" sz="1300" dirty="0"/>
          </a:p>
        </p:txBody>
      </p:sp>
      <p:sp>
        <p:nvSpPr>
          <p:cNvPr id="20" name="Shape 17"/>
          <p:cNvSpPr/>
          <p:nvPr/>
        </p:nvSpPr>
        <p:spPr>
          <a:xfrm flipV="1">
            <a:off x="3931920" y="3648456"/>
            <a:ext cx="640080" cy="1485900"/>
          </a:xfrm>
          <a:prstGeom prst="line">
            <a:avLst/>
          </a:prstGeom>
          <a:noFill/>
          <a:ln w="19050">
            <a:solidFill>
              <a:srgbClr val="D2D2D7"/>
            </a:solidFill>
            <a:prstDash val="solid"/>
          </a:ln>
        </p:spPr>
      </p:sp>
      <p:sp>
        <p:nvSpPr>
          <p:cNvPr id="21" name="Shape 18"/>
          <p:cNvSpPr/>
          <p:nvPr/>
        </p:nvSpPr>
        <p:spPr>
          <a:xfrm>
            <a:off x="8259775"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8534095"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Markdown, Slack</a:t>
            </a:r>
            <a:endParaRPr lang="en-US" sz="1600" dirty="0"/>
          </a:p>
        </p:txBody>
      </p:sp>
      <p:sp>
        <p:nvSpPr>
          <p:cNvPr id="23" name="Text 20"/>
          <p:cNvSpPr txBox="1"/>
          <p:nvPr/>
        </p:nvSpPr>
        <p:spPr>
          <a:xfrm>
            <a:off x="8534095"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chat and wiki</a:t>
            </a:r>
            <a:endParaRPr lang="en-US" sz="1300" dirty="0"/>
          </a:p>
        </p:txBody>
      </p:sp>
      <p:sp>
        <p:nvSpPr>
          <p:cNvPr id="24" name="Shape 21"/>
          <p:cNvSpPr/>
          <p:nvPr/>
        </p:nvSpPr>
        <p:spPr>
          <a:xfrm flipV="1">
            <a:off x="7589520" y="2171700"/>
            <a:ext cx="670255" cy="1476756"/>
          </a:xfrm>
          <a:prstGeom prst="line">
            <a:avLst/>
          </a:prstGeom>
          <a:noFill/>
          <a:ln w="19050">
            <a:solidFill>
              <a:srgbClr val="D2D2D7"/>
            </a:solidFill>
            <a:prstDash val="solid"/>
          </a:ln>
        </p:spPr>
      </p:sp>
      <p:sp>
        <p:nvSpPr>
          <p:cNvPr id="25" name="Shape 22"/>
          <p:cNvSpPr/>
          <p:nvPr/>
        </p:nvSpPr>
        <p:spPr>
          <a:xfrm>
            <a:off x="8259775"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6" name="Text 23"/>
          <p:cNvSpPr txBox="1"/>
          <p:nvPr/>
        </p:nvSpPr>
        <p:spPr>
          <a:xfrm>
            <a:off x="8534095"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Plain text</a:t>
            </a:r>
            <a:endParaRPr lang="en-US" sz="1600" dirty="0"/>
          </a:p>
        </p:txBody>
      </p:sp>
      <p:sp>
        <p:nvSpPr>
          <p:cNvPr id="27" name="Text 24"/>
          <p:cNvSpPr txBox="1"/>
          <p:nvPr/>
        </p:nvSpPr>
        <p:spPr>
          <a:xfrm>
            <a:off x="8534095"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Messages, fallback</a:t>
            </a:r>
            <a:endParaRPr lang="en-US" sz="1300" dirty="0"/>
          </a:p>
        </p:txBody>
      </p:sp>
      <p:sp>
        <p:nvSpPr>
          <p:cNvPr id="28" name="Shape 25"/>
          <p:cNvSpPr/>
          <p:nvPr/>
        </p:nvSpPr>
        <p:spPr>
          <a:xfrm>
            <a:off x="7589520" y="3648456"/>
            <a:ext cx="670255" cy="4572"/>
          </a:xfrm>
          <a:prstGeom prst="line">
            <a:avLst/>
          </a:prstGeom>
          <a:noFill/>
          <a:ln w="19050">
            <a:solidFill>
              <a:srgbClr val="D2D2D7"/>
            </a:solidFill>
            <a:prstDash val="solid"/>
          </a:ln>
        </p:spPr>
      </p:sp>
      <p:sp>
        <p:nvSpPr>
          <p:cNvPr id="29" name="Shape 26"/>
          <p:cNvSpPr/>
          <p:nvPr/>
        </p:nvSpPr>
        <p:spPr>
          <a:xfrm>
            <a:off x="8259775"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30" name="Text 27"/>
          <p:cNvSpPr txBox="1"/>
          <p:nvPr/>
        </p:nvSpPr>
        <p:spPr>
          <a:xfrm>
            <a:off x="8534095"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Spoken narration</a:t>
            </a:r>
            <a:endParaRPr lang="en-US" sz="1600" dirty="0"/>
          </a:p>
        </p:txBody>
      </p:sp>
      <p:sp>
        <p:nvSpPr>
          <p:cNvPr id="31" name="Text 28"/>
          <p:cNvSpPr txBox="1"/>
          <p:nvPr/>
        </p:nvSpPr>
        <p:spPr>
          <a:xfrm>
            <a:off x="8534095"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Hear This Card</a:t>
            </a:r>
            <a:endParaRPr lang="en-US" sz="1300" dirty="0"/>
          </a:p>
        </p:txBody>
      </p:sp>
      <p:sp>
        <p:nvSpPr>
          <p:cNvPr id="32" name="Shape 29"/>
          <p:cNvSpPr/>
          <p:nvPr/>
        </p:nvSpPr>
        <p:spPr>
          <a:xfrm>
            <a:off x="7589520" y="3648456"/>
            <a:ext cx="670255" cy="1485900"/>
          </a:xfrm>
          <a:prstGeom prst="line">
            <a:avLst/>
          </a:prstGeom>
          <a:noFill/>
          <a:ln w="19050">
            <a:solidFill>
              <a:srgbClr val="D2D2D7"/>
            </a:solidFill>
            <a:prstDash val="solid"/>
          </a:ln>
        </p:spPr>
      </p:sp>
      <p:sp>
        <p:nvSpPr>
          <p:cNvPr id="33" name="Text 30"/>
          <p:cNvSpPr txBox="1"/>
          <p:nvPr/>
        </p:nvSpPr>
        <p:spPr>
          <a:xfrm>
            <a:off x="640080" y="6080760"/>
            <a:ext cx="10911535" cy="365760"/>
          </a:xfrm>
          <a:prstGeom prst="rect">
            <a:avLst/>
          </a:prstGeom>
          <a:noFill/>
          <a:ln/>
        </p:spPr>
        <p:txBody>
          <a:bodyPr wrap="square" lIns="0" tIns="0" rIns="0" bIns="0" rtlCol="0" anchor="t"/>
          <a:lstStyle/>
          <a:p>
            <a:pPr algn="ctr" indent="0" marL="0">
              <a:buNone/>
            </a:pPr>
            <a:r>
              <a:rPr lang="en-US" sz="1400" dirty="0">
                <a:solidFill>
                  <a:srgbClr val="6E6E73"/>
                </a:solidFill>
                <a:latin typeface="Helvetica Neue" pitchFamily="34" charset="0"/>
                <a:ea typeface="Helvetica Neue" pitchFamily="34" charset="-122"/>
                <a:cs typeface="Helvetica Neue" pitchFamily="34" charset="-120"/>
              </a:rPr>
              <a:t>Also on the same model: accessibility linter · templates · JSON import/export · reportcard CLI</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6</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2</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The card is the editor</a:t>
            </a:r>
            <a:endParaRPr lang="en-US" sz="3400" dirty="0"/>
          </a:p>
        </p:txBody>
      </p:sp>
      <p:sp>
        <p:nvSpPr>
          <p:cNvPr id="6" name="Shape 3"/>
          <p:cNvSpPr/>
          <p:nvPr/>
        </p:nvSpPr>
        <p:spPr>
          <a:xfrm>
            <a:off x="640080" y="1508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Image 0" descr="/Users/tonygpt/Desktop/PROJECTS/project-reporting-builder/deck/assets/before.png">    </p:cNvPr>
          <p:cNvPicPr>
            <a:picLocks noChangeAspect="1"/>
          </p:cNvPicPr>
          <p:nvPr/>
        </p:nvPicPr>
        <p:blipFill>
          <a:blip r:embed="rId1"/>
          <a:srcRect l="0" r="0" t="0" b="0"/>
          <a:stretch/>
        </p:blipFill>
        <p:spPr>
          <a:xfrm>
            <a:off x="749808" y="1618488"/>
            <a:ext cx="5007712" cy="3108960"/>
          </a:xfrm>
          <a:prstGeom prst="rect">
            <a:avLst/>
          </a:prstGeom>
        </p:spPr>
      </p:pic>
      <p:sp>
        <p:nvSpPr>
          <p:cNvPr id="8" name="Text 4"/>
          <p:cNvSpPr txBox="1"/>
          <p:nvPr/>
        </p:nvSpPr>
        <p:spPr>
          <a:xfrm>
            <a:off x="914400" y="4800600"/>
            <a:ext cx="4678528" cy="27432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Version 1: form + preview</a:t>
            </a:r>
            <a:endParaRPr lang="en-US" sz="1300" dirty="0"/>
          </a:p>
        </p:txBody>
      </p:sp>
      <p:sp>
        <p:nvSpPr>
          <p:cNvPr id="9" name="Shape 5"/>
          <p:cNvSpPr/>
          <p:nvPr/>
        </p:nvSpPr>
        <p:spPr>
          <a:xfrm>
            <a:off x="6324448" y="1508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0" name="Image 1" descr="/Users/tonygpt/Desktop/PROJECTS/project-reporting-builder/deck/assets/hero.png">    </p:cNvPr>
          <p:cNvPicPr>
            <a:picLocks noChangeAspect="1"/>
          </p:cNvPicPr>
          <p:nvPr/>
        </p:nvPicPr>
        <p:blipFill>
          <a:blip r:embed="rId2"/>
          <a:srcRect l="0" r="0" t="0" b="0"/>
          <a:stretch/>
        </p:blipFill>
        <p:spPr>
          <a:xfrm>
            <a:off x="6434176" y="1618488"/>
            <a:ext cx="5007712" cy="3108960"/>
          </a:xfrm>
          <a:prstGeom prst="rect">
            <a:avLst/>
          </a:prstGeom>
        </p:spPr>
      </p:pic>
      <p:sp>
        <p:nvSpPr>
          <p:cNvPr id="11" name="Text 6"/>
          <p:cNvSpPr txBox="1"/>
          <p:nvPr/>
        </p:nvSpPr>
        <p:spPr>
          <a:xfrm>
            <a:off x="6598768" y="4800600"/>
            <a:ext cx="4678528" cy="274320"/>
          </a:xfrm>
          <a:prstGeom prst="rect">
            <a:avLst/>
          </a:prstGeom>
          <a:noFill/>
          <a:ln/>
        </p:spPr>
        <p:txBody>
          <a:bodyPr wrap="square" lIns="0" tIns="0" rIns="0" bIns="0" rtlCol="0" anchor="t"/>
          <a:lstStyle/>
          <a:p>
            <a:pPr indent="0" marL="0">
              <a:buNone/>
            </a:pPr>
            <a:r>
              <a:rPr lang="en-US" sz="1300" b="1" dirty="0">
                <a:solidFill>
                  <a:srgbClr val="0066CC"/>
                </a:solidFill>
                <a:latin typeface="Helvetica Neue" pitchFamily="34" charset="0"/>
                <a:ea typeface="Helvetica Neue" pitchFamily="34" charset="-122"/>
                <a:cs typeface="Helvetica Neue" pitchFamily="34" charset="-120"/>
              </a:rPr>
              <a:t>Version 2: canvas + Format inspector</a:t>
            </a:r>
            <a:endParaRPr lang="en-US" sz="1300" dirty="0"/>
          </a:p>
        </p:txBody>
      </p:sp>
      <p:sp>
        <p:nvSpPr>
          <p:cNvPr id="12" name="Text 7"/>
          <p:cNvSpPr txBox="1"/>
          <p:nvPr/>
        </p:nvSpPr>
        <p:spPr>
          <a:xfrm>
            <a:off x="777240" y="5394960"/>
            <a:ext cx="10774375" cy="1188720"/>
          </a:xfrm>
          <a:prstGeom prst="rect">
            <a:avLst/>
          </a:prstGeom>
          <a:noFill/>
          <a:ln/>
        </p:spPr>
        <p:txBody>
          <a:bodyPr wrap="square" lIns="0" tIns="0" rIns="0" bIns="0" rtlCol="0" anchor="t"/>
          <a:lstStyle/>
          <a:p>
            <a:pPr marL="203200" indent="-203200">
              <a:spcAft>
                <a:spcPts val="4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Direct manipulation: click the title and type, as in Pages and Keynote</a:t>
            </a:r>
            <a:endParaRPr lang="en-US" sz="1500" dirty="0"/>
          </a:p>
          <a:p>
            <a:pPr marL="203200" indent="-203200">
              <a:spcAft>
                <a:spcPts val="4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What is not visible on the card lives in an inspector: theme, layout, image description</a:t>
            </a:r>
            <a:endParaRPr lang="en-US" sz="1500" dirty="0"/>
          </a:p>
          <a:p>
            <a:pPr marL="203200" indent="-203200">
              <a:spcAft>
                <a:spcPts val="4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Typographic card: hierarchy from size and weight, not boxes, capitals or colour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7</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3</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Accessibility you can experience, not just pass</a:t>
            </a:r>
            <a:endParaRPr lang="en-US" sz="3400" dirty="0"/>
          </a:p>
        </p:txBody>
      </p:sp>
      <p:sp>
        <p:nvSpPr>
          <p:cNvPr id="6" name="Shape 3"/>
          <p:cNvSpPr/>
          <p:nvPr/>
        </p:nvSpPr>
        <p:spPr>
          <a:xfrm>
            <a:off x="640080"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Image 0" descr="/Users/tonygpt/Desktop/PROJECTS/project-reporting-builder/deck/assets/listen-crop.png">    </p:cNvPr>
          <p:cNvPicPr>
            <a:picLocks noChangeAspect="1"/>
          </p:cNvPicPr>
          <p:nvPr/>
        </p:nvPicPr>
        <p:blipFill>
          <a:blip r:embed="rId1"/>
          <a:srcRect l="0" r="0" t="0" b="0"/>
          <a:stretch/>
        </p:blipFill>
        <p:spPr>
          <a:xfrm>
            <a:off x="777240" y="1645920"/>
            <a:ext cx="3119018" cy="2743200"/>
          </a:xfrm>
          <a:prstGeom prst="rect">
            <a:avLst/>
          </a:prstGeom>
        </p:spPr>
      </p:pic>
      <p:sp>
        <p:nvSpPr>
          <p:cNvPr id="8" name="Text 4"/>
          <p:cNvSpPr txBox="1"/>
          <p:nvPr/>
        </p:nvSpPr>
        <p:spPr>
          <a:xfrm>
            <a:off x="960120"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Hear This Card</a:t>
            </a:r>
            <a:endParaRPr lang="en-US" sz="1800" dirty="0"/>
          </a:p>
        </p:txBody>
      </p:sp>
      <p:sp>
        <p:nvSpPr>
          <p:cNvPr id="9" name="Text 5"/>
          <p:cNvSpPr txBox="1"/>
          <p:nvPr/>
        </p:nvSpPr>
        <p:spPr>
          <a:xfrm>
            <a:off x="960120"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Spoken the way a screen reader presents it, block by block. A missing description is a silence you can hear.</a:t>
            </a:r>
            <a:endParaRPr lang="en-US" sz="1350" dirty="0"/>
          </a:p>
        </p:txBody>
      </p:sp>
      <p:sp>
        <p:nvSpPr>
          <p:cNvPr id="10" name="Shape 6"/>
          <p:cNvSpPr/>
          <p:nvPr/>
        </p:nvSpPr>
        <p:spPr>
          <a:xfrm>
            <a:off x="4399178"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1" name="Image 1" descr="/Users/tonygpt/Desktop/PROJECTS/project-reporting-builder/deck/assets/cvd-crop.png">    </p:cNvPr>
          <p:cNvPicPr>
            <a:picLocks noChangeAspect="1"/>
          </p:cNvPicPr>
          <p:nvPr/>
        </p:nvPicPr>
        <p:blipFill>
          <a:blip r:embed="rId2"/>
          <a:srcRect l="0" r="0" t="0" b="0"/>
          <a:stretch/>
        </p:blipFill>
        <p:spPr>
          <a:xfrm>
            <a:off x="4536338" y="1645920"/>
            <a:ext cx="3119018" cy="2743200"/>
          </a:xfrm>
          <a:prstGeom prst="rect">
            <a:avLst/>
          </a:prstGeom>
        </p:spPr>
      </p:pic>
      <p:sp>
        <p:nvSpPr>
          <p:cNvPr id="12" name="Text 7"/>
          <p:cNvSpPr txBox="1"/>
          <p:nvPr/>
        </p:nvSpPr>
        <p:spPr>
          <a:xfrm>
            <a:off x="4719218"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Colour Vision</a:t>
            </a:r>
            <a:endParaRPr lang="en-US" sz="1800" dirty="0"/>
          </a:p>
        </p:txBody>
      </p:sp>
      <p:sp>
        <p:nvSpPr>
          <p:cNvPr id="13" name="Text 8"/>
          <p:cNvSpPr txBox="1"/>
          <p:nvPr/>
        </p:nvSpPr>
        <p:spPr>
          <a:xfrm>
            <a:off x="4719218"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Protanopia, deuteranopia, tritanopia, no colour. Status and changes still read, because they are shapes and words.</a:t>
            </a:r>
            <a:endParaRPr lang="en-US" sz="1350" dirty="0"/>
          </a:p>
        </p:txBody>
      </p:sp>
      <p:sp>
        <p:nvSpPr>
          <p:cNvPr id="14" name="Shape 9"/>
          <p:cNvSpPr/>
          <p:nvPr/>
        </p:nvSpPr>
        <p:spPr>
          <a:xfrm>
            <a:off x="8158277"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5" name="Image 2" descr="/Users/tonygpt/Desktop/PROJECTS/project-reporting-builder/deck/assets/checks-crop.png">    </p:cNvPr>
          <p:cNvPicPr>
            <a:picLocks noChangeAspect="1"/>
          </p:cNvPicPr>
          <p:nvPr/>
        </p:nvPicPr>
        <p:blipFill>
          <a:blip r:embed="rId3"/>
          <a:srcRect l="0" r="0" t="0" b="0"/>
          <a:stretch/>
        </p:blipFill>
        <p:spPr>
          <a:xfrm>
            <a:off x="8295437" y="1645920"/>
            <a:ext cx="3119018" cy="2743200"/>
          </a:xfrm>
          <a:prstGeom prst="rect">
            <a:avLst/>
          </a:prstGeom>
        </p:spPr>
      </p:pic>
      <p:sp>
        <p:nvSpPr>
          <p:cNvPr id="16" name="Text 10"/>
          <p:cNvSpPr txBox="1"/>
          <p:nvPr/>
        </p:nvSpPr>
        <p:spPr>
          <a:xfrm>
            <a:off x="8478317"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Fourteen checks, live</a:t>
            </a:r>
            <a:endParaRPr lang="en-US" sz="1800" dirty="0"/>
          </a:p>
        </p:txBody>
      </p:sp>
      <p:sp>
        <p:nvSpPr>
          <p:cNvPr id="17" name="Text 11"/>
          <p:cNvSpPr txBox="1"/>
          <p:nvPr/>
        </p:nvSpPr>
        <p:spPr>
          <a:xfrm>
            <a:off x="8478317"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Contrast, alt text, labels, headings, and language: “the red items”, long capitals, images that are mostly text (on-device OCR).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8</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ACCESSIBILITY, CONTINUED</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those who read it, and those who write it</a:t>
            </a:r>
            <a:endParaRPr lang="en-US" sz="3400" dirty="0"/>
          </a:p>
        </p:txBody>
      </p:sp>
      <p:sp>
        <p:nvSpPr>
          <p:cNvPr id="6" name="Shape 3"/>
          <p:cNvSpPr/>
          <p:nvPr/>
        </p:nvSpPr>
        <p:spPr>
          <a:xfrm>
            <a:off x="640080"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the reader</a:t>
            </a:r>
            <a:endParaRPr lang="en-US" sz="1300" dirty="0"/>
          </a:p>
        </p:txBody>
      </p:sp>
      <p:sp>
        <p:nvSpPr>
          <p:cNvPr id="8" name="Shape 5"/>
          <p:cNvSpPr/>
          <p:nvPr/>
        </p:nvSpPr>
        <p:spPr>
          <a:xfrm>
            <a:off x="1024128" y="2468880"/>
            <a:ext cx="146304" cy="146304"/>
          </a:xfrm>
          <a:prstGeom prst="ellipse">
            <a:avLst/>
          </a:prstGeom>
          <a:solidFill>
            <a:srgbClr val="0066CC"/>
          </a:solidFill>
          <a:ln w="12700">
            <a:solidFill>
              <a:srgbClr val="0066CC"/>
            </a:solidFill>
            <a:prstDash val="solid"/>
          </a:ln>
        </p:spPr>
      </p:sp>
      <p:sp>
        <p:nvSpPr>
          <p:cNvPr id="9" name="Text 6"/>
          <p:cNvSpPr txBox="1"/>
          <p:nvPr/>
        </p:nvSpPr>
        <p:spPr>
          <a:xfrm>
            <a:off x="1371600"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Large print</a:t>
            </a:r>
            <a:endParaRPr lang="en-US" sz="1700" dirty="0"/>
          </a:p>
        </p:txBody>
      </p:sp>
      <p:sp>
        <p:nvSpPr>
          <p:cNvPr id="10" name="Text 7"/>
          <p:cNvSpPr txBox="1"/>
          <p:nvPr/>
        </p:nvSpPr>
        <p:spPr>
          <a:xfrm>
            <a:off x="1371600"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Standard, Large, Extra Large. HTML, rich text, PNG and PDF all follow.</a:t>
            </a:r>
            <a:endParaRPr lang="en-US" sz="1350" dirty="0"/>
          </a:p>
        </p:txBody>
      </p:sp>
      <p:sp>
        <p:nvSpPr>
          <p:cNvPr id="11" name="Shape 8"/>
          <p:cNvSpPr/>
          <p:nvPr/>
        </p:nvSpPr>
        <p:spPr>
          <a:xfrm>
            <a:off x="1024128" y="3703320"/>
            <a:ext cx="146304" cy="146304"/>
          </a:xfrm>
          <a:prstGeom prst="ellipse">
            <a:avLst/>
          </a:prstGeom>
          <a:solidFill>
            <a:srgbClr val="0066CC"/>
          </a:solidFill>
          <a:ln w="12700">
            <a:solidFill>
              <a:srgbClr val="0066CC"/>
            </a:solidFill>
            <a:prstDash val="solid"/>
          </a:ln>
        </p:spPr>
      </p:sp>
      <p:sp>
        <p:nvSpPr>
          <p:cNvPr id="12" name="Text 9"/>
          <p:cNvSpPr txBox="1"/>
          <p:nvPr/>
        </p:nvSpPr>
        <p:spPr>
          <a:xfrm>
            <a:off x="1371600"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Tagged PDF</a:t>
            </a:r>
            <a:endParaRPr lang="en-US" sz="1700" dirty="0"/>
          </a:p>
        </p:txBody>
      </p:sp>
      <p:sp>
        <p:nvSpPr>
          <p:cNvPr id="13" name="Text 10"/>
          <p:cNvSpPr txBox="1"/>
          <p:nvPr/>
        </p:nvSpPr>
        <p:spPr>
          <a:xfrm>
            <a:off x="1371600"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Real text, H1/H2, lists, figures with alt text, document metadata.</a:t>
            </a:r>
            <a:endParaRPr lang="en-US" sz="1350" dirty="0"/>
          </a:p>
        </p:txBody>
      </p:sp>
      <p:sp>
        <p:nvSpPr>
          <p:cNvPr id="14" name="Shape 11"/>
          <p:cNvSpPr/>
          <p:nvPr/>
        </p:nvSpPr>
        <p:spPr>
          <a:xfrm>
            <a:off x="1024128" y="4937760"/>
            <a:ext cx="146304" cy="146304"/>
          </a:xfrm>
          <a:prstGeom prst="ellipse">
            <a:avLst/>
          </a:prstGeom>
          <a:solidFill>
            <a:srgbClr val="0066CC"/>
          </a:solidFill>
          <a:ln w="12700">
            <a:solidFill>
              <a:srgbClr val="0066CC"/>
            </a:solidFill>
            <a:prstDash val="solid"/>
          </a:ln>
        </p:spPr>
      </p:sp>
      <p:sp>
        <p:nvSpPr>
          <p:cNvPr id="15" name="Text 12"/>
          <p:cNvSpPr txBox="1"/>
          <p:nvPr/>
        </p:nvSpPr>
        <p:spPr>
          <a:xfrm>
            <a:off x="1371600"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Semantic email HTML</a:t>
            </a:r>
            <a:endParaRPr lang="en-US" sz="1700" dirty="0"/>
          </a:p>
        </p:txBody>
      </p:sp>
      <p:sp>
        <p:nvSpPr>
          <p:cNvPr id="16" name="Text 13"/>
          <p:cNvSpPr txBox="1"/>
          <p:nvPr/>
        </p:nvSpPr>
        <p:spPr>
          <a:xfrm>
            <a:off x="1371600"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Headings, table header scopes, hidden words for ▲ and ▼, status never by colour alone.</a:t>
            </a:r>
            <a:endParaRPr lang="en-US" sz="1350" dirty="0"/>
          </a:p>
        </p:txBody>
      </p:sp>
      <p:sp>
        <p:nvSpPr>
          <p:cNvPr id="17" name="Shape 14"/>
          <p:cNvSpPr/>
          <p:nvPr/>
        </p:nvSpPr>
        <p:spPr>
          <a:xfrm>
            <a:off x="6324448"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6690208"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VoiceOver and keyboard users</a:t>
            </a:r>
            <a:endParaRPr lang="en-US" sz="1300" dirty="0"/>
          </a:p>
        </p:txBody>
      </p:sp>
      <p:sp>
        <p:nvSpPr>
          <p:cNvPr id="19" name="Shape 16"/>
          <p:cNvSpPr/>
          <p:nvPr/>
        </p:nvSpPr>
        <p:spPr>
          <a:xfrm>
            <a:off x="6708496" y="2468880"/>
            <a:ext cx="146304" cy="146304"/>
          </a:xfrm>
          <a:prstGeom prst="ellipse">
            <a:avLst/>
          </a:prstGeom>
          <a:solidFill>
            <a:srgbClr val="0066CC"/>
          </a:solidFill>
          <a:ln w="12700">
            <a:solidFill>
              <a:srgbClr val="0066CC"/>
            </a:solidFill>
            <a:prstDash val="solid"/>
          </a:ln>
        </p:spPr>
      </p:sp>
      <p:sp>
        <p:nvSpPr>
          <p:cNvPr id="20" name="Text 17"/>
          <p:cNvSpPr txBox="1"/>
          <p:nvPr/>
        </p:nvSpPr>
        <p:spPr>
          <a:xfrm>
            <a:off x="7055968"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Audio Graph</a:t>
            </a:r>
            <a:endParaRPr lang="en-US" sz="1700" dirty="0"/>
          </a:p>
        </p:txBody>
      </p:sp>
      <p:sp>
        <p:nvSpPr>
          <p:cNvPr id="21" name="Text 18"/>
          <p:cNvSpPr txBox="1"/>
          <p:nvPr/>
        </p:nvSpPr>
        <p:spPr>
          <a:xfrm>
            <a:off x="7055968"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metric's trend plays as pitch through AXChartDescriptor, as in Stocks and Health.</a:t>
            </a:r>
            <a:endParaRPr lang="en-US" sz="1350" dirty="0"/>
          </a:p>
        </p:txBody>
      </p:sp>
      <p:sp>
        <p:nvSpPr>
          <p:cNvPr id="22" name="Shape 19"/>
          <p:cNvSpPr/>
          <p:nvPr/>
        </p:nvSpPr>
        <p:spPr>
          <a:xfrm>
            <a:off x="6708496" y="3703320"/>
            <a:ext cx="146304" cy="146304"/>
          </a:xfrm>
          <a:prstGeom prst="ellipse">
            <a:avLst/>
          </a:prstGeom>
          <a:solidFill>
            <a:srgbClr val="0066CC"/>
          </a:solidFill>
          <a:ln w="12700">
            <a:solidFill>
              <a:srgbClr val="0066CC"/>
            </a:solidFill>
            <a:prstDash val="solid"/>
          </a:ln>
        </p:spPr>
      </p:sp>
      <p:sp>
        <p:nvSpPr>
          <p:cNvPr id="23" name="Text 20"/>
          <p:cNvSpPr txBox="1"/>
          <p:nvPr/>
        </p:nvSpPr>
        <p:spPr>
          <a:xfrm>
            <a:off x="7055968"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Rotor and actions</a:t>
            </a:r>
            <a:endParaRPr lang="en-US" sz="1700" dirty="0"/>
          </a:p>
        </p:txBody>
      </p:sp>
      <p:sp>
        <p:nvSpPr>
          <p:cNvPr id="24" name="Text 21"/>
          <p:cNvSpPr txBox="1"/>
          <p:nvPr/>
        </p:nvSpPr>
        <p:spPr>
          <a:xfrm>
            <a:off x="7055968"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Blocks rotor; Move Up, Move Down, Format, Delete on every block.</a:t>
            </a:r>
            <a:endParaRPr lang="en-US" sz="1350" dirty="0"/>
          </a:p>
        </p:txBody>
      </p:sp>
      <p:sp>
        <p:nvSpPr>
          <p:cNvPr id="25" name="Shape 22"/>
          <p:cNvSpPr/>
          <p:nvPr/>
        </p:nvSpPr>
        <p:spPr>
          <a:xfrm>
            <a:off x="6708496" y="4937760"/>
            <a:ext cx="146304" cy="146304"/>
          </a:xfrm>
          <a:prstGeom prst="ellipse">
            <a:avLst/>
          </a:prstGeom>
          <a:solidFill>
            <a:srgbClr val="0066CC"/>
          </a:solidFill>
          <a:ln w="12700">
            <a:solidFill>
              <a:srgbClr val="0066CC"/>
            </a:solidFill>
            <a:prstDash val="solid"/>
          </a:ln>
        </p:spPr>
      </p:sp>
      <p:sp>
        <p:nvSpPr>
          <p:cNvPr id="26" name="Text 23"/>
          <p:cNvSpPr txBox="1"/>
          <p:nvPr/>
        </p:nvSpPr>
        <p:spPr>
          <a:xfrm>
            <a:off x="7055968"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System settings honoured</a:t>
            </a:r>
            <a:endParaRPr lang="en-US" sz="1700" dirty="0"/>
          </a:p>
        </p:txBody>
      </p:sp>
      <p:sp>
        <p:nvSpPr>
          <p:cNvPr id="27" name="Text 24"/>
          <p:cNvSpPr txBox="1"/>
          <p:nvPr/>
        </p:nvSpPr>
        <p:spPr>
          <a:xfrm>
            <a:off x="7055968"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Differentiate Without Colour, Increase Contrast, Reduce Transparency, Reduce Motion. Undo and Redo.</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9</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OPT-IN</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New Card from Notes: the brief's first sentence</a:t>
            </a:r>
            <a:endParaRPr lang="en-US" sz="3400" dirty="0"/>
          </a:p>
        </p:txBody>
      </p:sp>
      <p:sp>
        <p:nvSpPr>
          <p:cNvPr id="6" name="Shape 3"/>
          <p:cNvSpPr/>
          <p:nvPr/>
        </p:nvSpPr>
        <p:spPr>
          <a:xfrm>
            <a:off x="640080" y="1508760"/>
            <a:ext cx="6766560"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Image 0" descr="/Users/tonygpt/Desktop/PROJECTS/project-reporting-builder/deck/assets/draft.png">    </p:cNvPr>
          <p:cNvPicPr>
            <a:picLocks noChangeAspect="1"/>
          </p:cNvPicPr>
          <p:nvPr/>
        </p:nvPicPr>
        <p:blipFill>
          <a:blip r:embed="rId1"/>
          <a:srcRect l="0" r="0" t="0" b="0"/>
          <a:stretch/>
        </p:blipFill>
        <p:spPr>
          <a:xfrm>
            <a:off x="777240" y="1645920"/>
            <a:ext cx="6492240" cy="4434840"/>
          </a:xfrm>
          <a:prstGeom prst="rect">
            <a:avLst/>
          </a:prstGeom>
        </p:spPr>
      </p:pic>
      <p:sp>
        <p:nvSpPr>
          <p:cNvPr id="8" name="Text 4"/>
          <p:cNvSpPr txBox="1"/>
          <p:nvPr/>
        </p:nvSpPr>
        <p:spPr>
          <a:xfrm>
            <a:off x="7772400" y="1600200"/>
            <a:ext cx="3779215" cy="42062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Rough notes in; title, status, highlights, metrics, risks, next steps out</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The reply is untrusted input: parsed, bounded, mapped, then linted</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Nothing is saved until Create; “check every number”</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Refine a text block: concise, formal, grammar. One undo step</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 rebuilt: the system's Writing Tools already work in every field</a:t>
            </a:r>
            <a:endParaRPr lang="en-US" sz="1500" dirty="0"/>
          </a:p>
        </p:txBody>
      </p:sp>
      <p:sp>
        <p:nvSpPr>
          <p:cNvPr id="9" name="Text 5"/>
          <p:cNvSpPr txBox="1"/>
          <p:nvPr/>
        </p:nvSpPr>
        <p:spPr>
          <a:xfrm>
            <a:off x="7772400" y="5715000"/>
            <a:ext cx="3779215" cy="365760"/>
          </a:xfrm>
          <a:prstGeom prst="rect">
            <a:avLst/>
          </a:prstGeom>
          <a:noFill/>
          <a:ln/>
        </p:spPr>
        <p:txBody>
          <a:bodyPr wrap="square" lIns="0" tIns="0" rIns="0" bIns="0" rtlCol="0" anchor="t"/>
          <a:lstStyle/>
          <a:p>
            <a:pPr indent="0" marL="0">
              <a:buNone/>
            </a:pPr>
            <a:r>
              <a:rPr lang="en-US" sz="1400" b="1" dirty="0">
                <a:solidFill>
                  <a:srgbClr val="0066CC"/>
                </a:solidFill>
                <a:latin typeface="Helvetica Neue" pitchFamily="34" charset="0"/>
                <a:ea typeface="Helvetica Neue" pitchFamily="34" charset="-122"/>
                <a:cs typeface="Helvetica Neue" pitchFamily="34" charset="-120"/>
              </a:rPr>
              <a:t>Provider-agnostic: on-device first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10</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DATA RISK</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this exercise only: not how I would ship it</a:t>
            </a:r>
            <a:endParaRPr lang="en-US" sz="3400" dirty="0"/>
          </a:p>
        </p:txBody>
      </p:sp>
      <p:sp>
        <p:nvSpPr>
          <p:cNvPr id="6" name="Shape 3"/>
          <p:cNvSpPr/>
          <p:nvPr/>
        </p:nvSpPr>
        <p:spPr>
          <a:xfrm>
            <a:off x="640080" y="1463040"/>
            <a:ext cx="10911535" cy="960120"/>
          </a:xfrm>
          <a:prstGeom prst="roundRect">
            <a:avLst>
              <a:gd name="adj" fmla="val 17143"/>
            </a:avLst>
          </a:prstGeom>
          <a:solidFill>
            <a:srgbClr val="FFF1F0"/>
          </a:solidFill>
          <a:ln w="12700">
            <a:solidFill>
              <a:srgbClr val="FFF1F0"/>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627632"/>
            <a:ext cx="10180015" cy="685800"/>
          </a:xfrm>
          <a:prstGeom prst="rect">
            <a:avLst/>
          </a:prstGeom>
          <a:noFill/>
          <a:ln/>
        </p:spPr>
        <p:txBody>
          <a:bodyPr wrap="square" lIns="0" tIns="0" rIns="0" bIns="0" rtlCol="0" anchor="t"/>
          <a:lstStyle/>
          <a:p>
            <a:pPr indent="0" marL="0">
              <a:buNone/>
            </a:pPr>
            <a:r>
              <a:rPr lang="en-US" sz="1550" b="1" dirty="0">
                <a:solidFill>
                  <a:srgbClr val="8A0F14"/>
                </a:solidFill>
                <a:latin typeface="Helvetica Neue" pitchFamily="34" charset="0"/>
                <a:ea typeface="Helvetica Neue" pitchFamily="34" charset="-122"/>
                <a:cs typeface="Helvetica Neue" pitchFamily="34" charset="-120"/>
              </a:rPr>
              <a:t>Sending real project data to a public third-party model is not acceptable in a real business setting. The demo uses a public API only because my Mac (macOS 15) cannot run the on-device model.</a:t>
            </a:r>
            <a:endParaRPr lang="en-US" sz="1550" dirty="0"/>
          </a:p>
        </p:txBody>
      </p:sp>
      <p:sp>
        <p:nvSpPr>
          <p:cNvPr id="8" name="Shape 5"/>
          <p:cNvSpPr/>
          <p:nvPr/>
        </p:nvSpPr>
        <p:spPr>
          <a:xfrm>
            <a:off x="640080"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9" name="Text 6"/>
          <p:cNvSpPr txBox="1"/>
          <p:nvPr/>
        </p:nvSpPr>
        <p:spPr>
          <a:xfrm>
            <a:off x="1005840" y="2834640"/>
            <a:ext cx="4495648" cy="36576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Why it is a risk</a:t>
            </a:r>
            <a:endParaRPr lang="en-US" sz="1700" dirty="0"/>
          </a:p>
        </p:txBody>
      </p:sp>
      <p:sp>
        <p:nvSpPr>
          <p:cNvPr id="10" name="Text 7"/>
          <p:cNvSpPr txBox="1"/>
          <p:nvPr/>
        </p:nvSpPr>
        <p:spPr>
          <a:xfrm>
            <a:off x="1005840"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Confidentiality: plans, names, financials, incidents leave the organisation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Provider's retention and training terms, provider's jurisdiction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No DPA, vendor security review, data residency or audit trail</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Prompt injection via pasted notes; confident wrong numbers</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 personal API key on a laptop is not an enterprise credential</a:t>
            </a:r>
            <a:endParaRPr lang="en-US" sz="1350" dirty="0"/>
          </a:p>
        </p:txBody>
      </p:sp>
      <p:sp>
        <p:nvSpPr>
          <p:cNvPr id="11" name="Shape 8"/>
          <p:cNvSpPr/>
          <p:nvPr/>
        </p:nvSpPr>
        <p:spPr>
          <a:xfrm>
            <a:off x="6324448"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2" name="Text 9"/>
          <p:cNvSpPr txBox="1"/>
          <p:nvPr/>
        </p:nvSpPr>
        <p:spPr>
          <a:xfrm>
            <a:off x="6690208" y="2834640"/>
            <a:ext cx="4495648" cy="365760"/>
          </a:xfrm>
          <a:prstGeom prst="rect">
            <a:avLst/>
          </a:prstGeom>
          <a:noFill/>
          <a:ln/>
        </p:spPr>
        <p:txBody>
          <a:bodyPr wrap="square" lIns="0" tIns="0" rIns="0" bIns="0" rtlCol="0" anchor="t"/>
          <a:lstStyle/>
          <a:p>
            <a:pPr indent="0" marL="0">
              <a:buNone/>
            </a:pPr>
            <a:r>
              <a:rPr lang="en-US" sz="1700" b="1" dirty="0">
                <a:solidFill>
                  <a:srgbClr val="248A3D"/>
                </a:solidFill>
                <a:latin typeface="Helvetica Neue" pitchFamily="34" charset="0"/>
                <a:ea typeface="Helvetica Neue" pitchFamily="34" charset="-122"/>
                <a:cs typeface="Helvetica Neue" pitchFamily="34" charset="-120"/>
              </a:rPr>
              <a:t>What I would ship instead</a:t>
            </a:r>
            <a:endParaRPr lang="en-US" sz="1700" dirty="0"/>
          </a:p>
        </p:txBody>
      </p:sp>
      <p:sp>
        <p:nvSpPr>
          <p:cNvPr id="13" name="Text 10"/>
          <p:cNvSpPr txBox="1"/>
          <p:nvPr/>
        </p:nvSpPr>
        <p:spPr>
          <a:xfrm>
            <a:off x="6690208"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On-device first: Apple Foundation Models, nothing leaves the Mac</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Otherwise an approved internal gateway: auth, redaction/DLP, logging</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endpoint and model are configuration, not code</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off by default, consent per host, key in the Keychain, HTTPS only</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one build flag removes the feature and the network entitlement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11</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ENGINEERING</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Built to be read, tested and changed</a:t>
            </a:r>
            <a:endParaRPr lang="en-US" sz="3400" dirty="0"/>
          </a:p>
        </p:txBody>
      </p:sp>
      <p:sp>
        <p:nvSpPr>
          <p:cNvPr id="6" name="Shape 3"/>
          <p:cNvSpPr/>
          <p:nvPr/>
        </p:nvSpPr>
        <p:spPr>
          <a:xfrm>
            <a:off x="640080"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14400"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137</a:t>
            </a:r>
            <a:endParaRPr lang="en-US" sz="4400" dirty="0"/>
          </a:p>
        </p:txBody>
      </p:sp>
      <p:sp>
        <p:nvSpPr>
          <p:cNvPr id="8" name="Text 5"/>
          <p:cNvSpPr txBox="1"/>
          <p:nvPr/>
        </p:nvSpPr>
        <p:spPr>
          <a:xfrm>
            <a:off x="914400"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unit tests, plus 12 UI tests</a:t>
            </a:r>
            <a:endParaRPr lang="en-US" sz="1300" dirty="0"/>
          </a:p>
        </p:txBody>
      </p:sp>
      <p:sp>
        <p:nvSpPr>
          <p:cNvPr id="9" name="Shape 6"/>
          <p:cNvSpPr/>
          <p:nvPr/>
        </p:nvSpPr>
        <p:spPr>
          <a:xfrm>
            <a:off x="3447974"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3722294"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14</a:t>
            </a:r>
            <a:endParaRPr lang="en-US" sz="4400" dirty="0"/>
          </a:p>
        </p:txBody>
      </p:sp>
      <p:sp>
        <p:nvSpPr>
          <p:cNvPr id="11" name="Text 8"/>
          <p:cNvSpPr txBox="1"/>
          <p:nvPr/>
        </p:nvSpPr>
        <p:spPr>
          <a:xfrm>
            <a:off x="3722294"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accessibility rules, WCAG-mapped</a:t>
            </a:r>
            <a:endParaRPr lang="en-US" sz="1300" dirty="0"/>
          </a:p>
        </p:txBody>
      </p:sp>
      <p:sp>
        <p:nvSpPr>
          <p:cNvPr id="12" name="Shape 9"/>
          <p:cNvSpPr/>
          <p:nvPr/>
        </p:nvSpPr>
        <p:spPr>
          <a:xfrm>
            <a:off x="6255868"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3" name="Text 10"/>
          <p:cNvSpPr txBox="1"/>
          <p:nvPr/>
        </p:nvSpPr>
        <p:spPr>
          <a:xfrm>
            <a:off x="6530188"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12</a:t>
            </a:r>
            <a:endParaRPr lang="en-US" sz="4400" dirty="0"/>
          </a:p>
        </p:txBody>
      </p:sp>
      <p:sp>
        <p:nvSpPr>
          <p:cNvPr id="14" name="Text 11"/>
          <p:cNvSpPr txBox="1"/>
          <p:nvPr/>
        </p:nvSpPr>
        <p:spPr>
          <a:xfrm>
            <a:off x="6530188"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architecture decision records</a:t>
            </a:r>
            <a:endParaRPr lang="en-US" sz="1300" dirty="0"/>
          </a:p>
        </p:txBody>
      </p:sp>
      <p:sp>
        <p:nvSpPr>
          <p:cNvPr id="15" name="Shape 12"/>
          <p:cNvSpPr/>
          <p:nvPr/>
        </p:nvSpPr>
        <p:spPr>
          <a:xfrm>
            <a:off x="9063761"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6" name="Text 13"/>
          <p:cNvSpPr txBox="1"/>
          <p:nvPr/>
        </p:nvSpPr>
        <p:spPr>
          <a:xfrm>
            <a:off x="9338081"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0</a:t>
            </a:r>
            <a:endParaRPr lang="en-US" sz="4400" dirty="0"/>
          </a:p>
        </p:txBody>
      </p:sp>
      <p:sp>
        <p:nvSpPr>
          <p:cNvPr id="17" name="Text 14"/>
          <p:cNvSpPr txBox="1"/>
          <p:nvPr/>
        </p:nvSpPr>
        <p:spPr>
          <a:xfrm>
            <a:off x="9338081"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third-party dependencies, lint warnings</a:t>
            </a:r>
            <a:endParaRPr lang="en-US" sz="1300" dirty="0"/>
          </a:p>
        </p:txBody>
      </p:sp>
      <p:sp>
        <p:nvSpPr>
          <p:cNvPr id="18" name="Shape 15"/>
          <p:cNvSpPr/>
          <p:nvPr/>
        </p:nvSpPr>
        <p:spPr>
          <a:xfrm>
            <a:off x="640080"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1005840"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Code</a:t>
            </a:r>
            <a:endParaRPr lang="en-US" sz="1300" dirty="0"/>
          </a:p>
        </p:txBody>
      </p:sp>
      <p:sp>
        <p:nvSpPr>
          <p:cNvPr id="20" name="Text 17"/>
          <p:cNvSpPr txBox="1"/>
          <p:nvPr/>
        </p:nvSpPr>
        <p:spPr>
          <a:xfrm>
            <a:off x="1005840"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ReportCore package (no UI imports) + app layer</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Swift 6 language mode, strict concurrency</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Documented public API; comments say why, not what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Model replies are untrusted input: parsed, bounded, linted</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Conventional commits; both UI versions in history</a:t>
            </a:r>
            <a:endParaRPr lang="en-US" sz="1400" dirty="0"/>
          </a:p>
        </p:txBody>
      </p:sp>
      <p:sp>
        <p:nvSpPr>
          <p:cNvPr id="21" name="Shape 18"/>
          <p:cNvSpPr/>
          <p:nvPr/>
        </p:nvSpPr>
        <p:spPr>
          <a:xfrm>
            <a:off x="6324448"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6690208"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Configuration, testing, CI</a:t>
            </a:r>
            <a:endParaRPr lang="en-US" sz="1300" dirty="0"/>
          </a:p>
        </p:txBody>
      </p:sp>
      <p:sp>
        <p:nvSpPr>
          <p:cNvPr id="23" name="Text 20"/>
          <p:cNvSpPr txBox="1"/>
          <p:nvPr/>
        </p:nvSpPr>
        <p:spPr>
          <a:xfrm>
            <a:off x="6690208"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xcconfig versions and feature flags; XcodeGen project from YAML</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Swift Testing + XCUITest with the accessibility audit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Unit tests never touch the real clipboard, network or user data</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GitHub Actions: tests, SwiftLint, SwiftFormat, CLI smoke test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CLOUD AND DELIVERY</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The cloud carries the software, not your data</a:t>
            </a:r>
            <a:endParaRPr lang="en-US" sz="3400" dirty="0"/>
          </a:p>
        </p:txBody>
      </p:sp>
      <p:sp>
        <p:nvSpPr>
          <p:cNvPr id="6" name="Shape 3"/>
          <p:cNvSpPr/>
          <p:nvPr/>
        </p:nvSpPr>
        <p:spPr>
          <a:xfrm>
            <a:off x="640080"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868680"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git push</a:t>
            </a:r>
            <a:endParaRPr lang="en-US" sz="1600" dirty="0"/>
          </a:p>
        </p:txBody>
      </p:sp>
      <p:sp>
        <p:nvSpPr>
          <p:cNvPr id="8" name="Text 5"/>
          <p:cNvSpPr txBox="1"/>
          <p:nvPr/>
        </p:nvSpPr>
        <p:spPr>
          <a:xfrm>
            <a:off x="868680"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every commit</a:t>
            </a:r>
            <a:endParaRPr lang="en-US" sz="1250" dirty="0"/>
          </a:p>
        </p:txBody>
      </p:sp>
      <p:sp>
        <p:nvSpPr>
          <p:cNvPr id="9" name="Text 6"/>
          <p:cNvSpPr txBox="1"/>
          <p:nvPr/>
        </p:nvSpPr>
        <p:spPr>
          <a:xfrm>
            <a:off x="3063926"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0" name="Shape 7"/>
          <p:cNvSpPr/>
          <p:nvPr/>
        </p:nvSpPr>
        <p:spPr>
          <a:xfrm>
            <a:off x="3493694"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3722294"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Tests + lint</a:t>
            </a:r>
            <a:endParaRPr lang="en-US" sz="1600" dirty="0"/>
          </a:p>
        </p:txBody>
      </p:sp>
      <p:sp>
        <p:nvSpPr>
          <p:cNvPr id="12" name="Text 9"/>
          <p:cNvSpPr txBox="1"/>
          <p:nvPr/>
        </p:nvSpPr>
        <p:spPr>
          <a:xfrm>
            <a:off x="3722294"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GitHub Actions</a:t>
            </a:r>
            <a:endParaRPr lang="en-US" sz="1250" dirty="0"/>
          </a:p>
        </p:txBody>
      </p:sp>
      <p:sp>
        <p:nvSpPr>
          <p:cNvPr id="13" name="Text 10"/>
          <p:cNvSpPr txBox="1"/>
          <p:nvPr/>
        </p:nvSpPr>
        <p:spPr>
          <a:xfrm>
            <a:off x="5917540"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4" name="Shape 11"/>
          <p:cNvSpPr/>
          <p:nvPr/>
        </p:nvSpPr>
        <p:spPr>
          <a:xfrm>
            <a:off x="6347308" y="1600200"/>
            <a:ext cx="2350694" cy="1234440"/>
          </a:xfrm>
          <a:prstGeom prst="roundRect">
            <a:avLst>
              <a:gd name="adj" fmla="val 13333"/>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6575908" y="1810512"/>
            <a:ext cx="1893494" cy="411480"/>
          </a:xfrm>
          <a:prstGeom prst="rect">
            <a:avLst/>
          </a:prstGeom>
          <a:noFill/>
          <a:ln/>
        </p:spPr>
        <p:txBody>
          <a:bodyPr wrap="square" lIns="0" tIns="0" rIns="0" bIns="0" rtlCol="0" anchor="t"/>
          <a:lstStyle/>
          <a:p>
            <a:pPr indent="0" marL="0">
              <a:buNone/>
            </a:pPr>
            <a:r>
              <a:rPr lang="en-US" sz="1600" b="1" dirty="0">
                <a:solidFill>
                  <a:srgbClr val="FFFFFF"/>
                </a:solidFill>
                <a:latin typeface="Helvetica Neue" pitchFamily="34" charset="0"/>
                <a:ea typeface="Helvetica Neue" pitchFamily="34" charset="-122"/>
                <a:cs typeface="Helvetica Neue" pitchFamily="34" charset="-120"/>
              </a:rPr>
              <a:t>reportcard lint</a:t>
            </a:r>
            <a:endParaRPr lang="en-US" sz="1600" dirty="0"/>
          </a:p>
        </p:txBody>
      </p:sp>
      <p:sp>
        <p:nvSpPr>
          <p:cNvPr id="16" name="Text 13"/>
          <p:cNvSpPr txBox="1"/>
          <p:nvPr/>
        </p:nvSpPr>
        <p:spPr>
          <a:xfrm>
            <a:off x="6575908" y="2267712"/>
            <a:ext cx="1893494" cy="365760"/>
          </a:xfrm>
          <a:prstGeom prst="rect">
            <a:avLst/>
          </a:prstGeom>
          <a:noFill/>
          <a:ln/>
        </p:spPr>
        <p:txBody>
          <a:bodyPr wrap="square" lIns="0" tIns="0" rIns="0" bIns="0" rtlCol="0" anchor="t"/>
          <a:lstStyle/>
          <a:p>
            <a:pPr indent="0" marL="0">
              <a:buNone/>
            </a:pPr>
            <a:r>
              <a:rPr lang="en-US" sz="1250" dirty="0">
                <a:solidFill>
                  <a:srgbClr val="A1A1A6"/>
                </a:solidFill>
                <a:latin typeface="Helvetica Neue" pitchFamily="34" charset="0"/>
                <a:ea typeface="Helvetica Neue" pitchFamily="34" charset="-122"/>
                <a:cs typeface="Helvetica Neue" pitchFamily="34" charset="-120"/>
              </a:rPr>
              <a:t>accessibility gate</a:t>
            </a:r>
            <a:endParaRPr lang="en-US" sz="1250" dirty="0"/>
          </a:p>
        </p:txBody>
      </p:sp>
      <p:sp>
        <p:nvSpPr>
          <p:cNvPr id="17" name="Text 14"/>
          <p:cNvSpPr txBox="1"/>
          <p:nvPr/>
        </p:nvSpPr>
        <p:spPr>
          <a:xfrm>
            <a:off x="8771153"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8" name="Shape 15"/>
          <p:cNvSpPr/>
          <p:nvPr/>
        </p:nvSpPr>
        <p:spPr>
          <a:xfrm>
            <a:off x="9200921"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9429521"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Pages gallery</a:t>
            </a:r>
            <a:endParaRPr lang="en-US" sz="1600" dirty="0"/>
          </a:p>
        </p:txBody>
      </p:sp>
      <p:sp>
        <p:nvSpPr>
          <p:cNvPr id="20" name="Text 17"/>
          <p:cNvSpPr txBox="1"/>
          <p:nvPr/>
        </p:nvSpPr>
        <p:spPr>
          <a:xfrm>
            <a:off x="9429521"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same HTML renderer</a:t>
            </a:r>
            <a:endParaRPr lang="en-US" sz="1250" dirty="0"/>
          </a:p>
        </p:txBody>
      </p:sp>
      <p:sp>
        <p:nvSpPr>
          <p:cNvPr id="21" name="Shape 18"/>
          <p:cNvSpPr/>
          <p:nvPr/>
        </p:nvSpPr>
        <p:spPr>
          <a:xfrm>
            <a:off x="640080" y="3154680"/>
            <a:ext cx="5760720" cy="3108960"/>
          </a:xfrm>
          <a:prstGeom prst="roundRect">
            <a:avLst>
              <a:gd name="adj" fmla="val 5294"/>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22" name="Image 0" descr="/Users/tonygpt/Desktop/PROJECTS/project-reporting-builder/deck/assets/gallery-fade.png">    </p:cNvPr>
          <p:cNvPicPr>
            <a:picLocks noChangeAspect="1"/>
          </p:cNvPicPr>
          <p:nvPr/>
        </p:nvPicPr>
        <p:blipFill>
          <a:blip r:embed="rId1"/>
          <a:srcRect l="0" r="0" t="0" b="0"/>
          <a:stretch/>
        </p:blipFill>
        <p:spPr>
          <a:xfrm>
            <a:off x="749808" y="3264408"/>
            <a:ext cx="5541264" cy="2889504"/>
          </a:xfrm>
          <a:prstGeom prst="rect">
            <a:avLst/>
          </a:prstGeom>
        </p:spPr>
      </p:pic>
      <p:sp>
        <p:nvSpPr>
          <p:cNvPr id="23" name="Text 19"/>
          <p:cNvSpPr txBox="1"/>
          <p:nvPr/>
        </p:nvSpPr>
        <p:spPr>
          <a:xfrm>
            <a:off x="6812280" y="3246120"/>
            <a:ext cx="4510735" cy="30175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User data stays on the Mac by design</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Release workflow on a version tag: zipped app and checksum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Headless CLI: render from JSON, lint in any pipeline</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Enterprise path: notarise, then Apple Business Manager or MDM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share links via CloudKit or an internal Swift service; the renderers do not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TRADE-OFFS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What I would not claim yet</a:t>
            </a:r>
            <a:endParaRPr lang="en-US" sz="3400" dirty="0"/>
          </a:p>
        </p:txBody>
      </p:sp>
      <p:sp>
        <p:nvSpPr>
          <p:cNvPr id="6" name="Shape 3"/>
          <p:cNvSpPr/>
          <p:nvPr/>
        </p:nvSpPr>
        <p:spPr>
          <a:xfrm>
            <a:off x="640080"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Not verified, and documented as such</a:t>
            </a:r>
            <a:endParaRPr lang="en-US" sz="1700" dirty="0"/>
          </a:p>
        </p:txBody>
      </p:sp>
      <p:sp>
        <p:nvSpPr>
          <p:cNvPr id="8" name="Text 5"/>
          <p:cNvSpPr txBox="1"/>
          <p:nvPr/>
        </p:nvSpPr>
        <p:spPr>
          <a:xfrm>
            <a:off x="1005840"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On-device model: compiles with availability checks, not run (my Mac is on macOS 15)</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Paste targets: “verified” and “expected” are kept apart in the docs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VoiceOver features: data is tested, the experience needs a human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Tagged PDF: structure tree present, not validated against PDF/UA</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Ad-hoc signed; notarisation needs a Developer ID</a:t>
            </a:r>
            <a:endParaRPr lang="en-US" sz="1400" dirty="0"/>
          </a:p>
        </p:txBody>
      </p:sp>
      <p:sp>
        <p:nvSpPr>
          <p:cNvPr id="9" name="Shape 6"/>
          <p:cNvSpPr/>
          <p:nvPr/>
        </p:nvSpPr>
        <p:spPr>
          <a:xfrm>
            <a:off x="6324448"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6690208"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Deliberate limits and next steps</a:t>
            </a:r>
            <a:endParaRPr lang="en-US" sz="1700" dirty="0"/>
          </a:p>
        </p:txBody>
      </p:sp>
      <p:sp>
        <p:nvSpPr>
          <p:cNvPr id="11" name="Text 8"/>
          <p:cNvSpPr txBox="1"/>
          <p:nvPr/>
        </p:nvSpPr>
        <p:spPr>
          <a:xfrm>
            <a:off x="6690208"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Tiny text markup on purpose, so every renderer agrees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Rich text has no alt text: Mail gets the caption; HTML and PDF keep the description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Colour-vision matrices are an approximation, not a clinical tool</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iPad target on the same core, share links, localisation</a:t>
            </a:r>
            <a:endParaRPr lang="en-US" sz="1400" dirty="0"/>
          </a:p>
        </p:txBody>
      </p:sp>
      <p:sp>
        <p:nvSpPr>
          <p:cNvPr id="12" name="Text 9"/>
          <p:cNvSpPr txBox="1"/>
          <p:nvPr/>
        </p:nvSpPr>
        <p:spPr>
          <a:xfrm>
            <a:off x="640080" y="557784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Each of these is written down in the repository, next to the feature it limits: the paste matrix, the accessibility notes and the decision records.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14</a:t>
            </a:r>
            <a:endParaRPr lang="en-US" sz="1000" dirty="0"/>
          </a:p>
        </p:txBody>
      </p:sp>
      <p:sp>
        <p:nvSpPr>
          <p:cNvPr id="4" name="Text 1"/>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800" b="1" dirty="0">
                <a:solidFill>
                  <a:srgbClr val="FFFFFF"/>
                </a:solidFill>
                <a:latin typeface="Helvetica Neue" pitchFamily="34" charset="0"/>
                <a:ea typeface="Helvetica Neue" pitchFamily="34" charset="-122"/>
                <a:cs typeface="Helvetica Neue" pitchFamily="34" charset="-120"/>
              </a:rPr>
              <a:t>Three things to take away</a:t>
            </a:r>
            <a:endParaRPr lang="en-US" sz="3800" dirty="0"/>
          </a:p>
        </p:txBody>
      </p:sp>
      <p:sp>
        <p:nvSpPr>
          <p:cNvPr id="5" name="Text 2"/>
          <p:cNvSpPr txBox="1"/>
          <p:nvPr/>
        </p:nvSpPr>
        <p:spPr>
          <a:xfrm>
            <a:off x="640080" y="178308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a:t>
            </a:r>
            <a:endParaRPr lang="en-US" sz="4400" dirty="0"/>
          </a:p>
        </p:txBody>
      </p:sp>
      <p:sp>
        <p:nvSpPr>
          <p:cNvPr id="6" name="Text 3"/>
          <p:cNvSpPr txBox="1"/>
          <p:nvPr/>
        </p:nvSpPr>
        <p:spPr>
          <a:xfrm>
            <a:off x="1554480" y="182880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One model, many renderers</a:t>
            </a:r>
            <a:endParaRPr lang="en-US" sz="2400" dirty="0"/>
          </a:p>
        </p:txBody>
      </p:sp>
      <p:sp>
        <p:nvSpPr>
          <p:cNvPr id="7" name="Text 4"/>
          <p:cNvSpPr txBox="1"/>
          <p:nvPr/>
        </p:nvSpPr>
        <p:spPr>
          <a:xfrm>
            <a:off x="1554480" y="233172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What you see is what you paste, in every channel.</a:t>
            </a:r>
            <a:endParaRPr lang="en-US" sz="1600" dirty="0"/>
          </a:p>
        </p:txBody>
      </p:sp>
      <p:sp>
        <p:nvSpPr>
          <p:cNvPr id="8" name="Text 5"/>
          <p:cNvSpPr txBox="1"/>
          <p:nvPr/>
        </p:nvSpPr>
        <p:spPr>
          <a:xfrm>
            <a:off x="640080" y="301752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2</a:t>
            </a:r>
            <a:endParaRPr lang="en-US" sz="4400" dirty="0"/>
          </a:p>
        </p:txBody>
      </p:sp>
      <p:sp>
        <p:nvSpPr>
          <p:cNvPr id="9" name="Text 6"/>
          <p:cNvSpPr txBox="1"/>
          <p:nvPr/>
        </p:nvSpPr>
        <p:spPr>
          <a:xfrm>
            <a:off x="1554480" y="306324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Accessibility you can hear and see</a:t>
            </a:r>
            <a:endParaRPr lang="en-US" sz="2400" dirty="0"/>
          </a:p>
        </p:txBody>
      </p:sp>
      <p:sp>
        <p:nvSpPr>
          <p:cNvPr id="10" name="Text 7"/>
          <p:cNvSpPr txBox="1"/>
          <p:nvPr/>
        </p:nvSpPr>
        <p:spPr>
          <a:xfrm>
            <a:off x="1554480" y="356616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For the author, the reader, and the VoiceOver user.</a:t>
            </a:r>
            <a:endParaRPr lang="en-US" sz="1600" dirty="0"/>
          </a:p>
        </p:txBody>
      </p:sp>
      <p:sp>
        <p:nvSpPr>
          <p:cNvPr id="11" name="Text 8"/>
          <p:cNvSpPr txBox="1"/>
          <p:nvPr/>
        </p:nvSpPr>
        <p:spPr>
          <a:xfrm>
            <a:off x="640080" y="425196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3</a:t>
            </a:r>
            <a:endParaRPr lang="en-US" sz="4400" dirty="0"/>
          </a:p>
        </p:txBody>
      </p:sp>
      <p:sp>
        <p:nvSpPr>
          <p:cNvPr id="12" name="Text 9"/>
          <p:cNvSpPr txBox="1"/>
          <p:nvPr/>
        </p:nvSpPr>
        <p:spPr>
          <a:xfrm>
            <a:off x="1554480" y="429768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Privacy is a design decision</a:t>
            </a:r>
            <a:endParaRPr lang="en-US" sz="2400" dirty="0"/>
          </a:p>
        </p:txBody>
      </p:sp>
      <p:sp>
        <p:nvSpPr>
          <p:cNvPr id="13" name="Text 10"/>
          <p:cNvSpPr txBox="1"/>
          <p:nvPr/>
        </p:nvSpPr>
        <p:spPr>
          <a:xfrm>
            <a:off x="1554480" y="480060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Local by default, AI opt-in, and honest about what is a demo.</a:t>
            </a:r>
            <a:endParaRPr lang="en-US" sz="1600" dirty="0"/>
          </a:p>
        </p:txBody>
      </p:sp>
      <p:sp>
        <p:nvSpPr>
          <p:cNvPr id="14" name="Text 11"/>
          <p:cNvSpPr txBox="1"/>
          <p:nvPr/>
        </p:nvSpPr>
        <p:spPr>
          <a:xfrm>
            <a:off x="640080" y="5760720"/>
            <a:ext cx="7315200" cy="457200"/>
          </a:xfrm>
          <a:prstGeom prst="rect">
            <a:avLst/>
          </a:prstGeom>
          <a:noFill/>
          <a:ln/>
        </p:spPr>
        <p:txBody>
          <a:bodyPr wrap="square" lIns="0" tIns="0" rIns="0" bIns="0" rtlCol="0" anchor="t"/>
          <a:lstStyle/>
          <a:p>
            <a:pPr indent="0" marL="0">
              <a:buNone/>
            </a:pPr>
            <a:r>
              <a:rPr lang="en-US" sz="2000" b="1" dirty="0">
                <a:solidFill>
                  <a:srgbClr val="FFFFFF"/>
                </a:solidFill>
                <a:latin typeface="Helvetica Neue" pitchFamily="34" charset="0"/>
                <a:ea typeface="Helvetica Neue" pitchFamily="34" charset="-122"/>
                <a:cs typeface="Helvetica Neue" pitchFamily="34" charset="-120"/>
              </a:rPr>
              <a:t>Thank you. Questions?</a:t>
            </a:r>
            <a:endParaRPr lang="en-US" sz="2000" dirty="0"/>
          </a:p>
        </p:txBody>
      </p:sp>
      <p:sp>
        <p:nvSpPr>
          <p:cNvPr id="15" name="Text 12"/>
          <p:cNvSpPr txBox="1"/>
          <p:nvPr/>
        </p:nvSpPr>
        <p:spPr>
          <a:xfrm>
            <a:off x="640080" y="6217920"/>
            <a:ext cx="9144000" cy="320040"/>
          </a:xfrm>
          <a:prstGeom prst="rect">
            <a:avLst/>
          </a:prstGeom>
          <a:noFill/>
          <a:ln/>
        </p:spPr>
        <p:txBody>
          <a:bodyPr wrap="square" lIns="0" tIns="0" rIns="0" bIns="0" rtlCol="0" anchor="t"/>
          <a:lstStyle/>
          <a:p>
            <a:pPr indent="0" marL="0">
              <a:buNone/>
            </a:pPr>
            <a:r>
              <a:rPr lang="en-US" sz="1300" dirty="0">
                <a:solidFill>
                  <a:srgbClr val="A1A1A6"/>
                </a:solidFill>
                <a:latin typeface="Helvetica Neue" pitchFamily="34" charset="0"/>
                <a:ea typeface="Helvetica Neue" pitchFamily="34" charset="-122"/>
                <a:cs typeface="Helvetica Neue" pitchFamily="34" charset="-120"/>
              </a:rPr>
              <a:t>github.com/ANTI-Tony/apple_oa  ·  anti-tony.github.io/apple_oa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Reporting Builder</dc:title>
  <dc:subject>Project Reporting Builder: proof of concept</dc:subject>
  <dc:creator>Tony Wen</dc:creator>
  <cp:lastModifiedBy>Tony Wen</cp:lastModifiedBy>
  <cp:revision>1</cp:revision>
  <dcterms:created xsi:type="dcterms:W3CDTF">2026-09-20T08:53:27Z</dcterms:created>
  <dcterms:modified xsi:type="dcterms:W3CDTF">2026-09-20T08:53:27Z</dcterms:modified>
</cp:coreProperties>
</file>