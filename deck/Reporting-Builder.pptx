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I'm Tony. Thank you for your time. The brief asked for a tool that turns raw text, numbers and images into polished, accessible snippet cards you can share by email and chat. I built it as a native Mac app called Reporting Builder. I'll show it working first, then three design principles, how I handled accessibility and AI, the engineering, and what I would not claim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 program manager on a Thursday afternoon. The material for the weekly update is scattered: bullet points in a notes app, numbers in a spreadsheet, a chart as a screenshot. They assemble it for email, then again for Slack, then again for the wiki. And nothing ever asks: can a colleague with a screen reader read this? Does the status still make sense without red and green? Three problems: assembling, re-formatting, and accessibility arriving too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Reporting Builder, a native Mac app in Swift and SwiftUI. On the left, your cards. In the middle, the card itself, and that is the editor: you click the title and type, as in Pages or Keynote. On the right, a Format inspector for what you cannot see on the card: theme, layout, image descriptions, and the accessibility check. Why native rather than web? Copy and share are the product, and the Mac pasteboard carries rich text, HTML and plain text at once. Accessibility is a platform feature here, not an add-on.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I start a weekly status from a template and type straight onto the card. Now I copy a range from a spreadsheet and press Shift-Command-V. It recognises a table and offers metrics, with the change computed, and it knows that fewer open bugs is good news. I drop in a screenshot. The shield in the toolbar turns red, and the image asks for a description. Before I fix it, listen. [Play Hear This Card.] That's what a colleague with a screen reader gets: Image, no description. I describe it, and the check clears. Colour Vision shows the card as someone with red-green colour blindness sees it, and it still works, because every change has an arrow and words, not just colour. Finally Shift-Command-C. Paste into Mail: rich text, a real table, the image. Paste into Slack: the same copy, and Slack picks the flavour it understands. One copy, the right format in each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design principles. The first: one model, many renderers. A card is a plain value type with no UI dependencies, and every output is a pure function of it: the canvas you edit, the PNG and the PDF, inline-styled HTML for email, rich text for Mail, Markdown for Slack, plain text, even the spoken narration. That is why what you see is what you paste. It also makes a new destination cheap, and it lets the same code run without a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shape of it, because the shape is the argument. At the bottom is one Swift package, ReportCore, that imports nothing but Foundation: the model, the parsers, every renderer, the accessibility linter and the templates. Two things sit on top, and neither knows the other exists: the Mac app, and a command-line tool. Dependencies point one way, and that single rule buys three things. The package's ninety tests run in under a second, so the renderers and the linter stay cheap to change. The same code runs headless, which is how accessibility became a gate in the pipeline. And it already builds for iOS, so an iPad version is a target rather than a rewrite. Inside the app it is Swift 6 with strict concurrency: a card is a Sendable value type, the stores are main-actor observable objects, and the compiler checks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principle is the one I care most about. Passing a checklist is the floor. Most people who write status reports do not use a screen reader, so they cannot tell what their report is like for someone who does. So the app lets you experience it. Hear This Card reads the card in the order and words a screen reader uses: heading level one, list of three items, velocity forty-two, up five percent, positive. If an image has no description, you hear the gap. Colour Vision shows the card under the common colour-vision deficiencies. And the linter checks fourteen rules as you type, each mapped to a WCAG criterion, including ones about language: it flags “the items marked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Accessibility has two audiences. For people who receive a card: large print, which every export follows, and a tagged PDF with real text, headings and figure descriptions, so a screen reader treats it as a document rather than a picture. For people who use the app with VoiceOver: a metric's trend is an Audio Graph, so you hear the line as pitch; each block has move and delete actions, and a rotor jumps between blocks. The app honours the system's contrast, colour, transparency and motion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added one AI feature, because it answers the first sentence of the brief: quickly assemble and structure project progress. You paste rough notes, and the model returns a structured report: title, status, highlights, metrics, risks, next steps. What matters is what happens to the reply. It is treated as untrusted input: parsed defensively, every list bounded, the status mapped onto an enum, and then it goes through the same accessibility linter. The prompt forbids inventing numbers, nothing is saved until you press Create, and the sheet tells you to check every number. Refine does the same for one text block. I did not rebuild Writing Tools: with Apple Intelligence the system already provides them in every text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I want to be very clear about. In this demo the model is a public API, DeepSeek. That is for this exercise only. I would not ship it, and I would not use it with real data. Status reports are business data. Sent to a public third-party model they leave the organisation's control: the provider's retention and training terms apply, in the provider's jurisdiction, with no data-processing agreement, no security review and no audit trail. Pasted notes can carry a prompt injection, and a model can state a wrong number confidently. So why is it here? My Mac runs macOS 15, which cannot run Apple's on-device model, and a demo needs a model that answers. But the design assumes the right answer. The provider sits behind a protocol. The first implementation is Apple's Foundation Models, on device, where nothing leaves the Mac. The second is any compatible endpoint, which in a company means an approved internal gateway with authentication, redaction and logging. The feature is off by default, asks consent per host, and one build flag removes it with the network entitlement.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testing, and the split is deliberate. Ninety tests in the package cover everything that is a pure function: parsers, renderers, contrast maths, the fourteen linter rules, and the parser that turns a model's reply into a card. They finish in under a second, so I run them constantly. Forty-seven app tests cover the store and undo, persistence, every export including the tagged PDF, and the assistant against a stubbed HTTP client. Twelve UI tests drive the real app, including XCTest's accessibility audit. Nothing touches your clipboard, your network or your files, with one deliberate exception: the Copy for Email test uses the real pasteboard, because the pasteboard is the thing under test. Three things I do not test, and say so instead: how Mail and Slack really render a paste, the VoiceOver experience, and PDF/UA conformance.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engineering around it. Configuration is not buried in the Xcode project: versions, feature flags and signing live in xcconfig files and reach the running app through one typed accessor. The project file is generated from a YAML spec, so a reviewer can read the build the way they read the code, and one flag removes writing assistance together with its network entitlement. There are no third-party dependencies. And twelve short decision records explain the choices someone might question, including the ones I reversed.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mentions the cloud. A Mac app is distributed rather than hosted, and user data stays local on purpose, so what ships to the cloud is the software and its output. On every push, GitHub Actions runs the tests and lint. A push to main also renders a gallery of every template, with the same HTML renderer the app uses for email, and publishes it, but only if every card passes the linter in strict mode. Accessibility becomes a pipeline gate. A version tag is set up to build a release; I have not cut one yet. In an enterprise the same artifact would be notarised and distributed through Apple Business Manager or MDM.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straightforward about what I cannot claim. The on-device model path compiles behind availability checks, but I could not run it on macOS 15. The paste matrix separates what I verified by hand, which is Copy for Email into Mail, Notes, Messages and Slack, from what I expect from each app's documentation. The VoiceOver features are tested for their data; the experience needs someone who uses VoiceOver every day. The tagged PDF has a structure tree, but I have not run a PDF/UA validator. Next would be an iPad target on the same core, share links, and localisation.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take away. One model, many renderers: what you see is what you paste. Accessibility you can hear and see, not only pass, for the author, the reader and the VoiceOver user. And privacy as a design decision: local by default, AI opt-in, and honest about which parts are a demonstration. Thank you. I'd be glad to go deeper into any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1D1F"/>
        </a:solidFill>
      </p:bgPr>
    </p:bg>
    <p:spTree>
      <p:nvGrpSpPr>
        <p:cNvPr id="1" name=""/>
        <p:cNvGrpSpPr/>
        <p:nvPr/>
      </p:nvGrpSpPr>
      <p:grpSpPr>
        <a:xfrm>
          <a:off x="0" y="0"/>
          <a:ext cx="0" cy="0"/>
          <a:chOff x="0" y="0"/>
          <a:chExt cx="0" cy="0"/>
        </a:xfrm>
      </p:grpSpPr>
      <p:sp>
        <p:nvSpPr>
          <p:cNvPr id="2" name="Text 0"/>
          <p:cNvSpPr txBox="1"/>
          <p:nvPr/>
        </p:nvSpPr>
        <p:spPr>
          <a:xfrm>
            <a:off x="11094415" y="6400800"/>
            <a:ext cx="640080" cy="274320"/>
          </a:xfrm>
          <a:prstGeom prst="rect">
            <a:avLst/>
          </a:prstGeom>
          <a:noFill/>
          <a:ln/>
        </p:spPr>
        <p:txBody>
          <a:bodyPr wrap="square" lIns="0" tIns="0" rIns="0" bIns="0" rtlCol="0" anchor="ctr"/>
          <a:lstStyle/>
          <a:p>
            <a:pPr algn="r" indent="0" marL="0">
              <a:buNone/>
            </a:pPr>
            <a:r>
              <a:rPr lang="en-US" sz="1000" dirty="0">
                <a:solidFill>
                  <a:srgbClr val="A1A1A6"/>
                </a:solidFill>
                <a:latin typeface="Helvetica Neue" pitchFamily="34" charset="0"/>
                <a:ea typeface="Helvetica Neue" pitchFamily="34" charset="-122"/>
                <a:cs typeface="Helvetica Neue" pitchFamily="34" charset="-120"/>
              </a:rPr>
              <a:t>1</a:t>
            </a:r>
            <a:endParaRPr lang="en-US" sz="1000" dirty="0"/>
          </a:p>
        </p:txBody>
      </p:sp>
      <p:pic>
        <p:nvPicPr>
          <p:cNvPr id="4" name="app-icon.png" descr="The app icon: a blue document card on a white rounded plate.">    </p:cNvPr>
          <p:cNvPicPr>
            <a:picLocks noChangeAspect="1"/>
          </p:cNvPicPr>
          <p:nvPr/>
        </p:nvPicPr>
        <p:blipFill>
          <a:blip r:embed="rId1"/>
          <a:srcRect l="0" r="0" t="0" b="0"/>
          <a:stretch/>
        </p:blipFill>
        <p:spPr>
          <a:xfrm>
            <a:off x="640080" y="1371600"/>
            <a:ext cx="1371600" cy="1371600"/>
          </a:xfrm>
          <a:prstGeom prst="rect">
            <a:avLst/>
          </a:prstGeom>
        </p:spPr>
      </p:pic>
      <p:sp>
        <p:nvSpPr>
          <p:cNvPr id="5" name="Text 1"/>
          <p:cNvSpPr txBox="1"/>
          <p:nvPr/>
        </p:nvSpPr>
        <p:spPr>
          <a:xfrm>
            <a:off x="640080" y="3017520"/>
            <a:ext cx="8229600" cy="914400"/>
          </a:xfrm>
          <a:prstGeom prst="rect">
            <a:avLst/>
          </a:prstGeom>
          <a:noFill/>
          <a:ln/>
        </p:spPr>
        <p:txBody>
          <a:bodyPr wrap="square" lIns="0" tIns="0" rIns="0" bIns="0" rtlCol="0" anchor="t"/>
          <a:lstStyle/>
          <a:p>
            <a:pPr indent="0" marL="0">
              <a:buNone/>
            </a:pPr>
            <a:r>
              <a:rPr lang="en-US" sz="5000" b="1" dirty="0">
                <a:solidFill>
                  <a:srgbClr val="FFFFFF"/>
                </a:solidFill>
                <a:latin typeface="Helvetica Neue" pitchFamily="34" charset="0"/>
                <a:ea typeface="Helvetica Neue" pitchFamily="34" charset="-122"/>
                <a:cs typeface="Helvetica Neue" pitchFamily="34" charset="-120"/>
              </a:rPr>
              <a:t>Reporting Builder</a:t>
            </a:r>
            <a:endParaRPr lang="en-US" sz="5000" dirty="0"/>
          </a:p>
        </p:txBody>
      </p:sp>
      <p:sp>
        <p:nvSpPr>
          <p:cNvPr id="6" name="Text 2"/>
          <p:cNvSpPr txBox="1"/>
          <p:nvPr/>
        </p:nvSpPr>
        <p:spPr>
          <a:xfrm>
            <a:off x="640080" y="3977640"/>
            <a:ext cx="8686800" cy="822960"/>
          </a:xfrm>
          <a:prstGeom prst="rect">
            <a:avLst/>
          </a:prstGeom>
          <a:noFill/>
          <a:ln/>
        </p:spPr>
        <p:txBody>
          <a:bodyPr wrap="square" lIns="0" tIns="0" rIns="0" bIns="0" rtlCol="0" anchor="t"/>
          <a:lstStyle/>
          <a:p>
            <a:pPr indent="0" marL="0">
              <a:buNone/>
            </a:pPr>
            <a:r>
              <a:rPr lang="en-US" sz="2200" dirty="0">
                <a:solidFill>
                  <a:srgbClr val="A1A1A6"/>
                </a:solidFill>
                <a:latin typeface="Helvetica Neue" pitchFamily="34" charset="0"/>
                <a:ea typeface="Helvetica Neue" pitchFamily="34" charset="-122"/>
                <a:cs typeface="Helvetica Neue" pitchFamily="34" charset="-120"/>
              </a:rPr>
              <a:t>From raw notes to an accessible status card, in the tools your team already uses.</a:t>
            </a:r>
            <a:endParaRPr lang="en-US" sz="2200" dirty="0"/>
          </a:p>
        </p:txBody>
      </p:sp>
      <p:sp>
        <p:nvSpPr>
          <p:cNvPr id="7" name="Text 3"/>
          <p:cNvSpPr txBox="1"/>
          <p:nvPr/>
        </p:nvSpPr>
        <p:spPr>
          <a:xfrm>
            <a:off x="640080" y="5760720"/>
            <a:ext cx="8229600" cy="365760"/>
          </a:xfrm>
          <a:prstGeom prst="rect">
            <a:avLst/>
          </a:prstGeom>
          <a:noFill/>
          <a:ln/>
        </p:spPr>
        <p:txBody>
          <a:bodyPr wrap="square" lIns="0" tIns="0" rIns="0" bIns="0" rtlCol="0" anchor="t"/>
          <a:lstStyle/>
          <a:p>
            <a:pPr indent="0" marL="0">
              <a:buNone/>
            </a:pPr>
            <a:r>
              <a:rPr lang="en-US" sz="1400" dirty="0">
                <a:solidFill>
                  <a:srgbClr val="A1A1A6"/>
                </a:solidFill>
                <a:latin typeface="Helvetica Neue" pitchFamily="34" charset="0"/>
                <a:ea typeface="Helvetica Neue" pitchFamily="34" charset="-122"/>
                <a:cs typeface="Helvetica Neue" pitchFamily="34" charset="-120"/>
              </a:rPr>
              <a:t>Tony Wen  ·  Project Reporting Builder  ·  Proof of concept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11094415" y="6400800"/>
            <a:ext cx="640080" cy="274320"/>
          </a:xfrm>
          <a:prstGeom prst="rect">
            <a:avLst/>
          </a:prstGeom>
          <a:noFill/>
          <a:ln/>
        </p:spPr>
        <p:txBody>
          <a:bodyPr wrap="square" lIns="0" tIns="0" rIns="0" bIns="0" rtlCol="0" anchor="ctr"/>
          <a:lstStyle/>
          <a:p>
            <a:pPr algn="r" indent="0" marL="0">
              <a:buNone/>
            </a:pPr>
            <a:r>
              <a:rPr lang="en-US" sz="1000" dirty="0">
                <a:solidFill>
                  <a:srgbClr val="6E6E73"/>
                </a:solidFill>
                <a:latin typeface="Helvetica Neue" pitchFamily="34" charset="0"/>
                <a:ea typeface="Helvetica Neue" pitchFamily="34" charset="-122"/>
                <a:cs typeface="Helvetica Neue" pitchFamily="34" charset="-120"/>
              </a:rPr>
              <a:t>2</a:t>
            </a:r>
            <a:endParaRPr lang="en-US" sz="1000" dirty="0"/>
          </a:p>
        </p:txBody>
      </p:sp>
      <p:sp>
        <p:nvSpPr>
          <p:cNvPr id="4" name="Text 1"/>
          <p:cNvSpPr txBox="1"/>
          <p:nvPr/>
        </p:nvSpPr>
        <p:spPr>
          <a:xfrm>
            <a:off x="640080" y="274320"/>
            <a:ext cx="10911535" cy="274320"/>
          </a:xfrm>
          <a:prstGeom prst="rect">
            <a:avLst/>
          </a:prstGeom>
          <a:noFill/>
          <a:ln/>
        </p:spPr>
        <p:txBody>
          <a:bodyPr wrap="square" lIns="0" tIns="0" rIns="0" bIns="0" rtlCol="0" anchor="ctr"/>
          <a:lstStyle/>
          <a:p>
            <a:pPr indent="0" marL="0">
              <a:buNone/>
            </a:pPr>
            <a:r>
              <a:rPr lang="en-US" sz="1200" b="1" spc="150" kern="0" dirty="0">
                <a:solidFill>
                  <a:srgbClr val="6E6E73"/>
                </a:solidFill>
                <a:latin typeface="Helvetica Neue" pitchFamily="34" charset="0"/>
                <a:ea typeface="Helvetica Neue" pitchFamily="34" charset="-122"/>
                <a:cs typeface="Helvetica Neue" pitchFamily="34" charset="-120"/>
              </a:rPr>
              <a:t>THE PROBLEM</a:t>
            </a:r>
            <a:endParaRPr lang="en-US" sz="1200" dirty="0"/>
          </a:p>
        </p:txBody>
      </p:sp>
      <p:sp>
        <p:nvSpPr>
          <p:cNvPr id="5" name="Text 2"/>
          <p:cNvSpPr txBox="1"/>
          <p:nvPr/>
        </p:nvSpPr>
        <p:spPr>
          <a:xfrm>
            <a:off x="640080" y="502920"/>
            <a:ext cx="10911535" cy="822960"/>
          </a:xfrm>
          <a:prstGeom prst="rect">
            <a:avLst/>
          </a:prstGeom>
          <a:noFill/>
          <a:ln/>
        </p:spPr>
        <p:txBody>
          <a:bodyPr wrap="square" lIns="0" tIns="0" rIns="0" bIns="0" rtlCol="0" anchor="t"/>
          <a:lstStyle/>
          <a:p>
            <a:pPr indent="0" marL="0">
              <a:buNone/>
            </a:pPr>
            <a:r>
              <a:rPr lang="en-US" sz="3400" b="1" dirty="0">
                <a:solidFill>
                  <a:srgbClr val="1D1D1F"/>
                </a:solidFill>
                <a:latin typeface="Helvetica Neue" pitchFamily="34" charset="0"/>
                <a:ea typeface="Helvetica Neue" pitchFamily="34" charset="-122"/>
                <a:cs typeface="Helvetica Neue" pitchFamily="34" charset="-120"/>
              </a:rPr>
              <a:t>Every week, the same update, three times</a:t>
            </a:r>
            <a:endParaRPr lang="en-US" sz="3400" dirty="0"/>
          </a:p>
        </p:txBody>
      </p:sp>
      <p:sp>
        <p:nvSpPr>
          <p:cNvPr id="6" name="Shape 3"/>
          <p:cNvSpPr/>
          <p:nvPr/>
        </p:nvSpPr>
        <p:spPr>
          <a:xfrm>
            <a:off x="640080" y="1737360"/>
            <a:ext cx="3393338" cy="3291840"/>
          </a:xfrm>
          <a:prstGeom prst="roundRect">
            <a:avLst>
              <a:gd name="adj" fmla="val 5000"/>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7" name="Text 4"/>
          <p:cNvSpPr txBox="1"/>
          <p:nvPr/>
        </p:nvSpPr>
        <p:spPr>
          <a:xfrm>
            <a:off x="1005840" y="2011680"/>
            <a:ext cx="914400" cy="731520"/>
          </a:xfrm>
          <a:prstGeom prst="rect">
            <a:avLst/>
          </a:prstGeom>
          <a:noFill/>
          <a:ln/>
        </p:spPr>
        <p:txBody>
          <a:bodyPr wrap="square" lIns="0" tIns="0" rIns="0" bIns="0" rtlCol="0" anchor="t"/>
          <a:lstStyle/>
          <a:p>
            <a:pPr indent="0" marL="0">
              <a:buNone/>
            </a:pPr>
            <a:r>
              <a:rPr lang="en-US" sz="4000" b="1" dirty="0">
                <a:solidFill>
                  <a:srgbClr val="0066CC"/>
                </a:solidFill>
                <a:latin typeface="Helvetica Neue" pitchFamily="34" charset="0"/>
                <a:ea typeface="Helvetica Neue" pitchFamily="34" charset="-122"/>
                <a:cs typeface="Helvetica Neue" pitchFamily="34" charset="-120"/>
              </a:rPr>
              <a:t>1</a:t>
            </a:r>
            <a:endParaRPr lang="en-US" sz="4000" dirty="0"/>
          </a:p>
        </p:txBody>
      </p:sp>
      <p:sp>
        <p:nvSpPr>
          <p:cNvPr id="8" name="Text 5"/>
          <p:cNvSpPr txBox="1"/>
          <p:nvPr/>
        </p:nvSpPr>
        <p:spPr>
          <a:xfrm>
            <a:off x="1005840" y="2834640"/>
            <a:ext cx="2661818" cy="457200"/>
          </a:xfrm>
          <a:prstGeom prst="rect">
            <a:avLst/>
          </a:prstGeom>
          <a:noFill/>
          <a:ln/>
        </p:spPr>
        <p:txBody>
          <a:bodyPr wrap="square" lIns="0" tIns="0" rIns="0" bIns="0" rtlCol="0" anchor="t"/>
          <a:lstStyle/>
          <a:p>
            <a:pPr indent="0" marL="0">
              <a:buNone/>
            </a:pPr>
            <a:r>
              <a:rPr lang="en-US" sz="2000" b="1" dirty="0">
                <a:solidFill>
                  <a:srgbClr val="1D1D1F"/>
                </a:solidFill>
                <a:latin typeface="Helvetica Neue" pitchFamily="34" charset="0"/>
                <a:ea typeface="Helvetica Neue" pitchFamily="34" charset="-122"/>
                <a:cs typeface="Helvetica Neue" pitchFamily="34" charset="-120"/>
              </a:rPr>
              <a:t>Scattered inputs</a:t>
            </a:r>
            <a:endParaRPr lang="en-US" sz="2000" dirty="0"/>
          </a:p>
        </p:txBody>
      </p:sp>
      <p:sp>
        <p:nvSpPr>
          <p:cNvPr id="9" name="Text 6"/>
          <p:cNvSpPr txBox="1"/>
          <p:nvPr/>
        </p:nvSpPr>
        <p:spPr>
          <a:xfrm>
            <a:off x="1005840" y="3383280"/>
            <a:ext cx="2661818" cy="1463040"/>
          </a:xfrm>
          <a:prstGeom prst="rect">
            <a:avLst/>
          </a:prstGeom>
          <a:noFill/>
          <a:ln/>
        </p:spPr>
        <p:txBody>
          <a:bodyPr wrap="square" lIns="0" tIns="0" rIns="0" bIns="0" rtlCol="0" anchor="t"/>
          <a:lstStyle/>
          <a:p>
            <a:pPr indent="0" marL="0">
              <a:buNone/>
            </a:pPr>
            <a:r>
              <a:rPr lang="en-US" sz="1500" dirty="0">
                <a:solidFill>
                  <a:srgbClr val="6E6E73"/>
                </a:solidFill>
                <a:latin typeface="Helvetica Neue" pitchFamily="34" charset="0"/>
                <a:ea typeface="Helvetica Neue" pitchFamily="34" charset="-122"/>
                <a:cs typeface="Helvetica Neue" pitchFamily="34" charset="-120"/>
              </a:rPr>
              <a:t>Points in a notes app, numbers in a spreadsheet, a chart as a screenshot. Nothing is in one place or one format.</a:t>
            </a:r>
            <a:endParaRPr lang="en-US" sz="1500" dirty="0"/>
          </a:p>
        </p:txBody>
      </p:sp>
      <p:sp>
        <p:nvSpPr>
          <p:cNvPr id="10" name="Shape 7"/>
          <p:cNvSpPr/>
          <p:nvPr/>
        </p:nvSpPr>
        <p:spPr>
          <a:xfrm>
            <a:off x="4399178" y="1737360"/>
            <a:ext cx="3393338" cy="3291840"/>
          </a:xfrm>
          <a:prstGeom prst="roundRect">
            <a:avLst>
              <a:gd name="adj" fmla="val 5000"/>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11" name="Text 8"/>
          <p:cNvSpPr txBox="1"/>
          <p:nvPr/>
        </p:nvSpPr>
        <p:spPr>
          <a:xfrm>
            <a:off x="4764938" y="2011680"/>
            <a:ext cx="914400" cy="731520"/>
          </a:xfrm>
          <a:prstGeom prst="rect">
            <a:avLst/>
          </a:prstGeom>
          <a:noFill/>
          <a:ln/>
        </p:spPr>
        <p:txBody>
          <a:bodyPr wrap="square" lIns="0" tIns="0" rIns="0" bIns="0" rtlCol="0" anchor="t"/>
          <a:lstStyle/>
          <a:p>
            <a:pPr indent="0" marL="0">
              <a:buNone/>
            </a:pPr>
            <a:r>
              <a:rPr lang="en-US" sz="4000" b="1" dirty="0">
                <a:solidFill>
                  <a:srgbClr val="0066CC"/>
                </a:solidFill>
                <a:latin typeface="Helvetica Neue" pitchFamily="34" charset="0"/>
                <a:ea typeface="Helvetica Neue" pitchFamily="34" charset="-122"/>
                <a:cs typeface="Helvetica Neue" pitchFamily="34" charset="-120"/>
              </a:rPr>
              <a:t>2</a:t>
            </a:r>
            <a:endParaRPr lang="en-US" sz="4000" dirty="0"/>
          </a:p>
        </p:txBody>
      </p:sp>
      <p:sp>
        <p:nvSpPr>
          <p:cNvPr id="12" name="Text 9"/>
          <p:cNvSpPr txBox="1"/>
          <p:nvPr/>
        </p:nvSpPr>
        <p:spPr>
          <a:xfrm>
            <a:off x="4764938" y="2834640"/>
            <a:ext cx="2661818" cy="457200"/>
          </a:xfrm>
          <a:prstGeom prst="rect">
            <a:avLst/>
          </a:prstGeom>
          <a:noFill/>
          <a:ln/>
        </p:spPr>
        <p:txBody>
          <a:bodyPr wrap="square" lIns="0" tIns="0" rIns="0" bIns="0" rtlCol="0" anchor="t"/>
          <a:lstStyle/>
          <a:p>
            <a:pPr indent="0" marL="0">
              <a:buNone/>
            </a:pPr>
            <a:r>
              <a:rPr lang="en-US" sz="2000" b="1" dirty="0">
                <a:solidFill>
                  <a:srgbClr val="1D1D1F"/>
                </a:solidFill>
                <a:latin typeface="Helvetica Neue" pitchFamily="34" charset="0"/>
                <a:ea typeface="Helvetica Neue" pitchFamily="34" charset="-122"/>
                <a:cs typeface="Helvetica Neue" pitchFamily="34" charset="-120"/>
              </a:rPr>
              <a:t>Redone per channel</a:t>
            </a:r>
            <a:endParaRPr lang="en-US" sz="2000" dirty="0"/>
          </a:p>
        </p:txBody>
      </p:sp>
      <p:sp>
        <p:nvSpPr>
          <p:cNvPr id="13" name="Text 10"/>
          <p:cNvSpPr txBox="1"/>
          <p:nvPr/>
        </p:nvSpPr>
        <p:spPr>
          <a:xfrm>
            <a:off x="4764938" y="3383280"/>
            <a:ext cx="2661818" cy="1463040"/>
          </a:xfrm>
          <a:prstGeom prst="rect">
            <a:avLst/>
          </a:prstGeom>
          <a:noFill/>
          <a:ln/>
        </p:spPr>
        <p:txBody>
          <a:bodyPr wrap="square" lIns="0" tIns="0" rIns="0" bIns="0" rtlCol="0" anchor="t"/>
          <a:lstStyle/>
          <a:p>
            <a:pPr indent="0" marL="0">
              <a:buNone/>
            </a:pPr>
            <a:r>
              <a:rPr lang="en-US" sz="1500" dirty="0">
                <a:solidFill>
                  <a:srgbClr val="6E6E73"/>
                </a:solidFill>
                <a:latin typeface="Helvetica Neue" pitchFamily="34" charset="0"/>
                <a:ea typeface="Helvetica Neue" pitchFamily="34" charset="-122"/>
                <a:cs typeface="Helvetica Neue" pitchFamily="34" charset="-120"/>
              </a:rPr>
              <a:t>Mail wants rich text, Slack wants its own markup, the wiki wants Markdown. Each copy is made by hand.</a:t>
            </a:r>
            <a:endParaRPr lang="en-US" sz="1500" dirty="0"/>
          </a:p>
        </p:txBody>
      </p:sp>
      <p:sp>
        <p:nvSpPr>
          <p:cNvPr id="14" name="Shape 11"/>
          <p:cNvSpPr/>
          <p:nvPr/>
        </p:nvSpPr>
        <p:spPr>
          <a:xfrm>
            <a:off x="8158277" y="1737360"/>
            <a:ext cx="3393338" cy="3291840"/>
          </a:xfrm>
          <a:prstGeom prst="roundRect">
            <a:avLst>
              <a:gd name="adj" fmla="val 5000"/>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15" name="Text 12"/>
          <p:cNvSpPr txBox="1"/>
          <p:nvPr/>
        </p:nvSpPr>
        <p:spPr>
          <a:xfrm>
            <a:off x="8524037" y="2011680"/>
            <a:ext cx="914400" cy="731520"/>
          </a:xfrm>
          <a:prstGeom prst="rect">
            <a:avLst/>
          </a:prstGeom>
          <a:noFill/>
          <a:ln/>
        </p:spPr>
        <p:txBody>
          <a:bodyPr wrap="square" lIns="0" tIns="0" rIns="0" bIns="0" rtlCol="0" anchor="t"/>
          <a:lstStyle/>
          <a:p>
            <a:pPr indent="0" marL="0">
              <a:buNone/>
            </a:pPr>
            <a:r>
              <a:rPr lang="en-US" sz="4000" b="1" dirty="0">
                <a:solidFill>
                  <a:srgbClr val="0066CC"/>
                </a:solidFill>
                <a:latin typeface="Helvetica Neue" pitchFamily="34" charset="0"/>
                <a:ea typeface="Helvetica Neue" pitchFamily="34" charset="-122"/>
                <a:cs typeface="Helvetica Neue" pitchFamily="34" charset="-120"/>
              </a:rPr>
              <a:t>3</a:t>
            </a:r>
            <a:endParaRPr lang="en-US" sz="4000" dirty="0"/>
          </a:p>
        </p:txBody>
      </p:sp>
      <p:sp>
        <p:nvSpPr>
          <p:cNvPr id="16" name="Text 13"/>
          <p:cNvSpPr txBox="1"/>
          <p:nvPr/>
        </p:nvSpPr>
        <p:spPr>
          <a:xfrm>
            <a:off x="8524037" y="2834640"/>
            <a:ext cx="2661818" cy="457200"/>
          </a:xfrm>
          <a:prstGeom prst="rect">
            <a:avLst/>
          </a:prstGeom>
          <a:noFill/>
          <a:ln/>
        </p:spPr>
        <p:txBody>
          <a:bodyPr wrap="square" lIns="0" tIns="0" rIns="0" bIns="0" rtlCol="0" anchor="t"/>
          <a:lstStyle/>
          <a:p>
            <a:pPr indent="0" marL="0">
              <a:buNone/>
            </a:pPr>
            <a:r>
              <a:rPr lang="en-US" sz="2000" b="1" dirty="0">
                <a:solidFill>
                  <a:srgbClr val="1D1D1F"/>
                </a:solidFill>
                <a:latin typeface="Helvetica Neue" pitchFamily="34" charset="0"/>
                <a:ea typeface="Helvetica Neue" pitchFamily="34" charset="-122"/>
                <a:cs typeface="Helvetica Neue" pitchFamily="34" charset="-120"/>
              </a:rPr>
              <a:t>Accessibility last</a:t>
            </a:r>
            <a:endParaRPr lang="en-US" sz="2000" dirty="0"/>
          </a:p>
        </p:txBody>
      </p:sp>
      <p:sp>
        <p:nvSpPr>
          <p:cNvPr id="17" name="Text 14"/>
          <p:cNvSpPr txBox="1"/>
          <p:nvPr/>
        </p:nvSpPr>
        <p:spPr>
          <a:xfrm>
            <a:off x="8524037" y="3383280"/>
            <a:ext cx="2661818" cy="1463040"/>
          </a:xfrm>
          <a:prstGeom prst="rect">
            <a:avLst/>
          </a:prstGeom>
          <a:noFill/>
          <a:ln/>
        </p:spPr>
        <p:txBody>
          <a:bodyPr wrap="square" lIns="0" tIns="0" rIns="0" bIns="0" rtlCol="0" anchor="t"/>
          <a:lstStyle/>
          <a:p>
            <a:pPr indent="0" marL="0">
              <a:buNone/>
            </a:pPr>
            <a:r>
              <a:rPr lang="en-US" sz="1500" dirty="0">
                <a:solidFill>
                  <a:srgbClr val="6E6E73"/>
                </a:solidFill>
                <a:latin typeface="Helvetica Neue" pitchFamily="34" charset="0"/>
                <a:ea typeface="Helvetica Neue" pitchFamily="34" charset="-122"/>
                <a:cs typeface="Helvetica Neue" pitchFamily="34" charset="-120"/>
              </a:rPr>
              <a:t>Images without descriptions, status shown by colour alone, text trapped inside screenshots. Nobody checks.</a:t>
            </a:r>
            <a:endParaRPr lang="en-US" sz="1500" dirty="0"/>
          </a:p>
        </p:txBody>
      </p:sp>
      <p:sp>
        <p:nvSpPr>
          <p:cNvPr id="18" name="Text 15"/>
          <p:cNvSpPr txBox="1"/>
          <p:nvPr/>
        </p:nvSpPr>
        <p:spPr>
          <a:xfrm>
            <a:off x="640080" y="5440680"/>
            <a:ext cx="10911535" cy="640080"/>
          </a:xfrm>
          <a:prstGeom prst="rect">
            <a:avLst/>
          </a:prstGeom>
          <a:noFill/>
          <a:ln/>
        </p:spPr>
        <p:txBody>
          <a:bodyPr wrap="square" lIns="0" tIns="0" rIns="0" bIns="0" rtlCol="0" anchor="t"/>
          <a:lstStyle/>
          <a:p>
            <a:pPr indent="0" marL="0">
              <a:buNone/>
            </a:pPr>
            <a:r>
              <a:rPr lang="en-US" sz="1600" i="1" dirty="0">
                <a:solidFill>
                  <a:srgbClr val="1D1D1F"/>
                </a:solidFill>
                <a:latin typeface="Helvetica Neue" pitchFamily="34" charset="0"/>
                <a:ea typeface="Helvetica Neue" pitchFamily="34" charset="-122"/>
                <a:cs typeface="Helvetica Neue" pitchFamily="34" charset="-120"/>
              </a:rPr>
              <a:t>The brief: ingest text, metrics and images; produce modular, polished, accessible cards; copy or export them instantly.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11094415" y="6400800"/>
            <a:ext cx="640080" cy="274320"/>
          </a:xfrm>
          <a:prstGeom prst="rect">
            <a:avLst/>
          </a:prstGeom>
          <a:noFill/>
          <a:ln/>
        </p:spPr>
        <p:txBody>
          <a:bodyPr wrap="square" lIns="0" tIns="0" rIns="0" bIns="0" rtlCol="0" anchor="ctr"/>
          <a:lstStyle/>
          <a:p>
            <a:pPr algn="r" indent="0" marL="0">
              <a:buNone/>
            </a:pPr>
            <a:r>
              <a:rPr lang="en-US" sz="1000" dirty="0">
                <a:solidFill>
                  <a:srgbClr val="6E6E73"/>
                </a:solidFill>
                <a:latin typeface="Helvetica Neue" pitchFamily="34" charset="0"/>
                <a:ea typeface="Helvetica Neue" pitchFamily="34" charset="-122"/>
                <a:cs typeface="Helvetica Neue" pitchFamily="34" charset="-120"/>
              </a:rPr>
              <a:t>3</a:t>
            </a:r>
            <a:endParaRPr lang="en-US" sz="1000" dirty="0"/>
          </a:p>
        </p:txBody>
      </p:sp>
      <p:sp>
        <p:nvSpPr>
          <p:cNvPr id="4" name="Text 1"/>
          <p:cNvSpPr txBox="1"/>
          <p:nvPr/>
        </p:nvSpPr>
        <p:spPr>
          <a:xfrm>
            <a:off x="640080" y="274320"/>
            <a:ext cx="10911535" cy="274320"/>
          </a:xfrm>
          <a:prstGeom prst="rect">
            <a:avLst/>
          </a:prstGeom>
          <a:noFill/>
          <a:ln/>
        </p:spPr>
        <p:txBody>
          <a:bodyPr wrap="square" lIns="0" tIns="0" rIns="0" bIns="0" rtlCol="0" anchor="ctr"/>
          <a:lstStyle/>
          <a:p>
            <a:pPr indent="0" marL="0">
              <a:buNone/>
            </a:pPr>
            <a:r>
              <a:rPr lang="en-US" sz="1200" b="1" spc="150" kern="0" dirty="0">
                <a:solidFill>
                  <a:srgbClr val="6E6E73"/>
                </a:solidFill>
                <a:latin typeface="Helvetica Neue" pitchFamily="34" charset="0"/>
                <a:ea typeface="Helvetica Neue" pitchFamily="34" charset="-122"/>
                <a:cs typeface="Helvetica Neue" pitchFamily="34" charset="-120"/>
              </a:rPr>
              <a:t>WHAT I BUILT</a:t>
            </a:r>
            <a:endParaRPr lang="en-US" sz="1200" dirty="0"/>
          </a:p>
        </p:txBody>
      </p:sp>
      <p:sp>
        <p:nvSpPr>
          <p:cNvPr id="5" name="Text 2"/>
          <p:cNvSpPr txBox="1"/>
          <p:nvPr/>
        </p:nvSpPr>
        <p:spPr>
          <a:xfrm>
            <a:off x="640080" y="502920"/>
            <a:ext cx="10911535" cy="822960"/>
          </a:xfrm>
          <a:prstGeom prst="rect">
            <a:avLst/>
          </a:prstGeom>
          <a:noFill/>
          <a:ln/>
        </p:spPr>
        <p:txBody>
          <a:bodyPr wrap="square" lIns="0" tIns="0" rIns="0" bIns="0" rtlCol="0" anchor="t"/>
          <a:lstStyle/>
          <a:p>
            <a:pPr indent="0" marL="0">
              <a:buNone/>
            </a:pPr>
            <a:r>
              <a:rPr lang="en-US" sz="3400" b="1" dirty="0">
                <a:solidFill>
                  <a:srgbClr val="1D1D1F"/>
                </a:solidFill>
                <a:latin typeface="Helvetica Neue" pitchFamily="34" charset="0"/>
                <a:ea typeface="Helvetica Neue" pitchFamily="34" charset="-122"/>
                <a:cs typeface="Helvetica Neue" pitchFamily="34" charset="-120"/>
              </a:rPr>
              <a:t>A Mac app where the card is the document</a:t>
            </a:r>
            <a:endParaRPr lang="en-US" sz="3400" dirty="0"/>
          </a:p>
        </p:txBody>
      </p:sp>
      <p:sp>
        <p:nvSpPr>
          <p:cNvPr id="6" name="Shape 3"/>
          <p:cNvSpPr/>
          <p:nvPr/>
        </p:nvSpPr>
        <p:spPr>
          <a:xfrm>
            <a:off x="640080" y="1463040"/>
            <a:ext cx="7589520" cy="4754880"/>
          </a:xfrm>
          <a:prstGeom prst="roundRect">
            <a:avLst>
              <a:gd name="adj" fmla="val 3462"/>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pic>
        <p:nvPicPr>
          <p:cNvPr id="7" name="hero.png" descr="The app window: a list of cards on the left, a weekly status card being edited in the middle, and the Format inspector on the right showing themes, text size, status and width.">    </p:cNvPr>
          <p:cNvPicPr>
            <a:picLocks noChangeAspect="1"/>
          </p:cNvPicPr>
          <p:nvPr/>
        </p:nvPicPr>
        <p:blipFill>
          <a:blip r:embed="rId1"/>
          <a:srcRect l="0" r="0" t="0" b="0"/>
          <a:stretch/>
        </p:blipFill>
        <p:spPr>
          <a:xfrm>
            <a:off x="777240" y="1600200"/>
            <a:ext cx="7315200" cy="4480560"/>
          </a:xfrm>
          <a:prstGeom prst="rect">
            <a:avLst/>
          </a:prstGeom>
        </p:spPr>
      </p:pic>
      <p:sp>
        <p:nvSpPr>
          <p:cNvPr id="8" name="Text 4"/>
          <p:cNvSpPr txBox="1"/>
          <p:nvPr/>
        </p:nvSpPr>
        <p:spPr>
          <a:xfrm>
            <a:off x="8595360" y="1554480"/>
            <a:ext cx="2956255" cy="320040"/>
          </a:xfrm>
          <a:prstGeom prst="rect">
            <a:avLst/>
          </a:prstGeom>
          <a:noFill/>
          <a:ln/>
        </p:spPr>
        <p:txBody>
          <a:bodyPr wrap="square" lIns="0" tIns="0" rIns="0" bIns="0" rtlCol="0" anchor="t"/>
          <a:lstStyle/>
          <a:p>
            <a:pPr indent="0" marL="0">
              <a:buNone/>
            </a:pPr>
            <a:r>
              <a:rPr lang="en-US" sz="1300" b="1" dirty="0">
                <a:solidFill>
                  <a:srgbClr val="6E6E73"/>
                </a:solidFill>
                <a:latin typeface="Helvetica Neue" pitchFamily="34" charset="0"/>
                <a:ea typeface="Helvetica Neue" pitchFamily="34" charset="-122"/>
                <a:cs typeface="Helvetica Neue" pitchFamily="34" charset="-120"/>
              </a:rPr>
              <a:t>In</a:t>
            </a:r>
            <a:endParaRPr lang="en-US" sz="1300" dirty="0"/>
          </a:p>
        </p:txBody>
      </p:sp>
      <p:sp>
        <p:nvSpPr>
          <p:cNvPr id="9" name="Text 5"/>
          <p:cNvSpPr txBox="1"/>
          <p:nvPr/>
        </p:nvSpPr>
        <p:spPr>
          <a:xfrm>
            <a:off x="8595360" y="1874520"/>
            <a:ext cx="2956255" cy="914400"/>
          </a:xfrm>
          <a:prstGeom prst="rect">
            <a:avLst/>
          </a:prstGeom>
          <a:noFill/>
          <a:ln/>
        </p:spPr>
        <p:txBody>
          <a:bodyPr wrap="square" lIns="0" tIns="0" rIns="0" bIns="0" rtlCol="0" anchor="t"/>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Type on the card, paste a spreadsheet range, drop files. Smart Paste picks the block type.</a:t>
            </a:r>
            <a:endParaRPr lang="en-US" sz="1500" dirty="0"/>
          </a:p>
        </p:txBody>
      </p:sp>
      <p:sp>
        <p:nvSpPr>
          <p:cNvPr id="10" name="Text 6"/>
          <p:cNvSpPr txBox="1"/>
          <p:nvPr/>
        </p:nvSpPr>
        <p:spPr>
          <a:xfrm>
            <a:off x="8595360" y="2971800"/>
            <a:ext cx="2956255" cy="320040"/>
          </a:xfrm>
          <a:prstGeom prst="rect">
            <a:avLst/>
          </a:prstGeom>
          <a:noFill/>
          <a:ln/>
        </p:spPr>
        <p:txBody>
          <a:bodyPr wrap="square" lIns="0" tIns="0" rIns="0" bIns="0" rtlCol="0" anchor="t"/>
          <a:lstStyle/>
          <a:p>
            <a:pPr indent="0" marL="0">
              <a:buNone/>
            </a:pPr>
            <a:r>
              <a:rPr lang="en-US" sz="1300" b="1" dirty="0">
                <a:solidFill>
                  <a:srgbClr val="6E6E73"/>
                </a:solidFill>
                <a:latin typeface="Helvetica Neue" pitchFamily="34" charset="0"/>
                <a:ea typeface="Helvetica Neue" pitchFamily="34" charset="-122"/>
                <a:cs typeface="Helvetica Neue" pitchFamily="34" charset="-120"/>
              </a:rPr>
              <a:t>Card</a:t>
            </a:r>
            <a:endParaRPr lang="en-US" sz="1300" dirty="0"/>
          </a:p>
        </p:txBody>
      </p:sp>
      <p:sp>
        <p:nvSpPr>
          <p:cNvPr id="11" name="Text 7"/>
          <p:cNvSpPr txBox="1"/>
          <p:nvPr/>
        </p:nvSpPr>
        <p:spPr>
          <a:xfrm>
            <a:off x="8595360" y="3291840"/>
            <a:ext cx="2956255" cy="914400"/>
          </a:xfrm>
          <a:prstGeom prst="rect">
            <a:avLst/>
          </a:prstGeom>
          <a:noFill/>
          <a:ln/>
        </p:spPr>
        <p:txBody>
          <a:bodyPr wrap="square" lIns="0" tIns="0" rIns="0" bIns="0" rtlCol="0" anchor="t"/>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Text, metrics and image blocks. Four themes, large print, fourteen accessibility checks as you type.</a:t>
            </a:r>
            <a:endParaRPr lang="en-US" sz="1500" dirty="0"/>
          </a:p>
        </p:txBody>
      </p:sp>
      <p:sp>
        <p:nvSpPr>
          <p:cNvPr id="12" name="Text 8"/>
          <p:cNvSpPr txBox="1"/>
          <p:nvPr/>
        </p:nvSpPr>
        <p:spPr>
          <a:xfrm>
            <a:off x="8595360" y="4389120"/>
            <a:ext cx="2956255" cy="320040"/>
          </a:xfrm>
          <a:prstGeom prst="rect">
            <a:avLst/>
          </a:prstGeom>
          <a:noFill/>
          <a:ln/>
        </p:spPr>
        <p:txBody>
          <a:bodyPr wrap="square" lIns="0" tIns="0" rIns="0" bIns="0" rtlCol="0" anchor="t"/>
          <a:lstStyle/>
          <a:p>
            <a:pPr indent="0" marL="0">
              <a:buNone/>
            </a:pPr>
            <a:r>
              <a:rPr lang="en-US" sz="1300" b="1" dirty="0">
                <a:solidFill>
                  <a:srgbClr val="6E6E73"/>
                </a:solidFill>
                <a:latin typeface="Helvetica Neue" pitchFamily="34" charset="0"/>
                <a:ea typeface="Helvetica Neue" pitchFamily="34" charset="-122"/>
                <a:cs typeface="Helvetica Neue" pitchFamily="34" charset="-120"/>
              </a:rPr>
              <a:t>Out</a:t>
            </a:r>
            <a:endParaRPr lang="en-US" sz="1300" dirty="0"/>
          </a:p>
        </p:txBody>
      </p:sp>
      <p:sp>
        <p:nvSpPr>
          <p:cNvPr id="13" name="Text 9"/>
          <p:cNvSpPr txBox="1"/>
          <p:nvPr/>
        </p:nvSpPr>
        <p:spPr>
          <a:xfrm>
            <a:off x="8595360" y="4709160"/>
            <a:ext cx="2956255" cy="1097280"/>
          </a:xfrm>
          <a:prstGeom prst="rect">
            <a:avLst/>
          </a:prstGeom>
          <a:noFill/>
          <a:ln/>
        </p:spPr>
        <p:txBody>
          <a:bodyPr wrap="square" lIns="0" tIns="0" rIns="0" bIns="0" rtlCol="0" anchor="t"/>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One shortcut copies for Mail, Notes and Slack. PNG, tagged PDF, HTML, Markdown, print, share, drag out.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D1D1F"/>
        </a:solidFill>
      </p:bgPr>
    </p:bg>
    <p:spTree>
      <p:nvGrpSpPr>
        <p:cNvPr id="1" name=""/>
        <p:cNvGrpSpPr/>
        <p:nvPr/>
      </p:nvGrpSpPr>
      <p:grpSpPr>
        <a:xfrm>
          <a:off x="0" y="0"/>
          <a:ext cx="0" cy="0"/>
          <a:chOff x="0" y="0"/>
          <a:chExt cx="0" cy="0"/>
        </a:xfrm>
      </p:grpSpPr>
      <p:sp>
        <p:nvSpPr>
          <p:cNvPr id="2" name="Text 0"/>
          <p:cNvSpPr txBox="1"/>
          <p:nvPr/>
        </p:nvSpPr>
        <p:spPr>
          <a:xfrm>
            <a:off x="11094415" y="6400800"/>
            <a:ext cx="640080" cy="274320"/>
          </a:xfrm>
          <a:prstGeom prst="rect">
            <a:avLst/>
          </a:prstGeom>
          <a:noFill/>
          <a:ln/>
        </p:spPr>
        <p:txBody>
          <a:bodyPr wrap="square" lIns="0" tIns="0" rIns="0" bIns="0" rtlCol="0" anchor="ctr"/>
          <a:lstStyle/>
          <a:p>
            <a:pPr algn="r" indent="0" marL="0">
              <a:buNone/>
            </a:pPr>
            <a:r>
              <a:rPr lang="en-US" sz="1000" dirty="0">
                <a:solidFill>
                  <a:srgbClr val="A1A1A6"/>
                </a:solidFill>
                <a:latin typeface="Helvetica Neue" pitchFamily="34" charset="0"/>
                <a:ea typeface="Helvetica Neue" pitchFamily="34" charset="-122"/>
                <a:cs typeface="Helvetica Neue" pitchFamily="34" charset="-120"/>
              </a:rPr>
              <a:t>4</a:t>
            </a:r>
            <a:endParaRPr lang="en-US" sz="1000" dirty="0"/>
          </a:p>
        </p:txBody>
      </p:sp>
      <p:sp>
        <p:nvSpPr>
          <p:cNvPr id="4" name="Text 1"/>
          <p:cNvSpPr txBox="1"/>
          <p:nvPr/>
        </p:nvSpPr>
        <p:spPr>
          <a:xfrm>
            <a:off x="640080" y="274320"/>
            <a:ext cx="10911535" cy="274320"/>
          </a:xfrm>
          <a:prstGeom prst="rect">
            <a:avLst/>
          </a:prstGeom>
          <a:noFill/>
          <a:ln/>
        </p:spPr>
        <p:txBody>
          <a:bodyPr wrap="square" lIns="0" tIns="0" rIns="0" bIns="0" rtlCol="0" anchor="ctr"/>
          <a:lstStyle/>
          <a:p>
            <a:pPr indent="0" marL="0">
              <a:buNone/>
            </a:pPr>
            <a:r>
              <a:rPr lang="en-US" sz="1200" b="1" spc="150" kern="0" dirty="0">
                <a:solidFill>
                  <a:srgbClr val="A1A1A6"/>
                </a:solidFill>
                <a:latin typeface="Helvetica Neue" pitchFamily="34" charset="0"/>
                <a:ea typeface="Helvetica Neue" pitchFamily="34" charset="-122"/>
                <a:cs typeface="Helvetica Neue" pitchFamily="34" charset="-120"/>
              </a:rPr>
              <a:t>LIVE DEMO  ·  3 MINUTES</a:t>
            </a:r>
            <a:endParaRPr lang="en-US" sz="1200" dirty="0"/>
          </a:p>
        </p:txBody>
      </p:sp>
      <p:sp>
        <p:nvSpPr>
          <p:cNvPr id="5" name="Text 2"/>
          <p:cNvSpPr txBox="1"/>
          <p:nvPr/>
        </p:nvSpPr>
        <p:spPr>
          <a:xfrm>
            <a:off x="640080" y="502920"/>
            <a:ext cx="10911535" cy="822960"/>
          </a:xfrm>
          <a:prstGeom prst="rect">
            <a:avLst/>
          </a:prstGeom>
          <a:noFill/>
          <a:ln/>
        </p:spPr>
        <p:txBody>
          <a:bodyPr wrap="square" lIns="0" tIns="0" rIns="0" bIns="0" rtlCol="0" anchor="t"/>
          <a:lstStyle/>
          <a:p>
            <a:pPr indent="0" marL="0">
              <a:buNone/>
            </a:pPr>
            <a:r>
              <a:rPr lang="en-US" sz="3400" b="1" dirty="0">
                <a:solidFill>
                  <a:srgbClr val="FFFFFF"/>
                </a:solidFill>
                <a:latin typeface="Helvetica Neue" pitchFamily="34" charset="0"/>
                <a:ea typeface="Helvetica Neue" pitchFamily="34" charset="-122"/>
                <a:cs typeface="Helvetica Neue" pitchFamily="34" charset="-120"/>
              </a:rPr>
              <a:t>From scattered inputs to a shared card</a:t>
            </a:r>
            <a:endParaRPr lang="en-US" sz="3400" dirty="0"/>
          </a:p>
        </p:txBody>
      </p:sp>
      <p:sp>
        <p:nvSpPr>
          <p:cNvPr id="6" name="Shape 3"/>
          <p:cNvSpPr/>
          <p:nvPr/>
        </p:nvSpPr>
        <p:spPr>
          <a:xfrm>
            <a:off x="640080" y="1600200"/>
            <a:ext cx="457200" cy="457200"/>
          </a:xfrm>
          <a:prstGeom prst="ellipse">
            <a:avLst/>
          </a:prstGeom>
          <a:solidFill>
            <a:srgbClr val="2C2C2E"/>
          </a:solidFill>
          <a:ln w="12700">
            <a:solidFill>
              <a:srgbClr val="2C2C2E"/>
            </a:solidFill>
            <a:prstDash val="solid"/>
          </a:ln>
        </p:spPr>
      </p:sp>
      <p:sp>
        <p:nvSpPr>
          <p:cNvPr id="7" name="Text 4"/>
          <p:cNvSpPr txBox="1"/>
          <p:nvPr/>
        </p:nvSpPr>
        <p:spPr>
          <a:xfrm>
            <a:off x="640080" y="1673352"/>
            <a:ext cx="457200" cy="310896"/>
          </a:xfrm>
          <a:prstGeom prst="rect">
            <a:avLst/>
          </a:prstGeom>
          <a:noFill/>
          <a:ln/>
        </p:spPr>
        <p:txBody>
          <a:bodyPr wrap="square" lIns="0" tIns="0" rIns="0" bIns="0" rtlCol="0" anchor="t"/>
          <a:lstStyle/>
          <a:p>
            <a:pPr algn="ctr" indent="0" marL="0">
              <a:buNone/>
            </a:pPr>
            <a:r>
              <a:rPr lang="en-US" sz="1500" b="1" dirty="0">
                <a:solidFill>
                  <a:srgbClr val="FFFFFF"/>
                </a:solidFill>
                <a:latin typeface="Helvetica Neue" pitchFamily="34" charset="0"/>
                <a:ea typeface="Helvetica Neue" pitchFamily="34" charset="-122"/>
                <a:cs typeface="Helvetica Neue" pitchFamily="34" charset="-120"/>
              </a:rPr>
              <a:t>1</a:t>
            </a:r>
            <a:endParaRPr lang="en-US" sz="1500" dirty="0"/>
          </a:p>
        </p:txBody>
      </p:sp>
      <p:sp>
        <p:nvSpPr>
          <p:cNvPr id="8" name="Text 5"/>
          <p:cNvSpPr txBox="1"/>
          <p:nvPr/>
        </p:nvSpPr>
        <p:spPr>
          <a:xfrm>
            <a:off x="1325880" y="1664208"/>
            <a:ext cx="5120640" cy="411480"/>
          </a:xfrm>
          <a:prstGeom prst="rect">
            <a:avLst/>
          </a:prstGeom>
          <a:noFill/>
          <a:ln/>
        </p:spPr>
        <p:txBody>
          <a:bodyPr wrap="square" lIns="0" tIns="0" rIns="0" bIns="0" rtlCol="0" anchor="t"/>
          <a:lstStyle/>
          <a:p>
            <a:pPr indent="0" marL="0">
              <a:buNone/>
            </a:pPr>
            <a:r>
              <a:rPr lang="en-US" sz="1600" dirty="0">
                <a:solidFill>
                  <a:srgbClr val="FFFFFF"/>
                </a:solidFill>
                <a:latin typeface="Helvetica Neue" pitchFamily="34" charset="0"/>
                <a:ea typeface="Helvetica Neue" pitchFamily="34" charset="-122"/>
                <a:cs typeface="Helvetica Neue" pitchFamily="34" charset="-120"/>
              </a:rPr>
              <a:t>New card from a template; type on the card</a:t>
            </a:r>
            <a:endParaRPr lang="en-US" sz="1600" dirty="0"/>
          </a:p>
        </p:txBody>
      </p:sp>
      <p:sp>
        <p:nvSpPr>
          <p:cNvPr id="9" name="Shape 6"/>
          <p:cNvSpPr/>
          <p:nvPr/>
        </p:nvSpPr>
        <p:spPr>
          <a:xfrm>
            <a:off x="640080" y="2313432"/>
            <a:ext cx="457200" cy="457200"/>
          </a:xfrm>
          <a:prstGeom prst="ellipse">
            <a:avLst/>
          </a:prstGeom>
          <a:solidFill>
            <a:srgbClr val="2C2C2E"/>
          </a:solidFill>
          <a:ln w="12700">
            <a:solidFill>
              <a:srgbClr val="2C2C2E"/>
            </a:solidFill>
            <a:prstDash val="solid"/>
          </a:ln>
        </p:spPr>
      </p:sp>
      <p:sp>
        <p:nvSpPr>
          <p:cNvPr id="10" name="Text 7"/>
          <p:cNvSpPr txBox="1"/>
          <p:nvPr/>
        </p:nvSpPr>
        <p:spPr>
          <a:xfrm>
            <a:off x="640080" y="2386584"/>
            <a:ext cx="457200" cy="310896"/>
          </a:xfrm>
          <a:prstGeom prst="rect">
            <a:avLst/>
          </a:prstGeom>
          <a:noFill/>
          <a:ln/>
        </p:spPr>
        <p:txBody>
          <a:bodyPr wrap="square" lIns="0" tIns="0" rIns="0" bIns="0" rtlCol="0" anchor="t"/>
          <a:lstStyle/>
          <a:p>
            <a:pPr algn="ctr" indent="0" marL="0">
              <a:buNone/>
            </a:pPr>
            <a:r>
              <a:rPr lang="en-US" sz="1500" b="1" dirty="0">
                <a:solidFill>
                  <a:srgbClr val="FFFFFF"/>
                </a:solidFill>
                <a:latin typeface="Helvetica Neue" pitchFamily="34" charset="0"/>
                <a:ea typeface="Helvetica Neue" pitchFamily="34" charset="-122"/>
                <a:cs typeface="Helvetica Neue" pitchFamily="34" charset="-120"/>
              </a:rPr>
              <a:t>2</a:t>
            </a:r>
            <a:endParaRPr lang="en-US" sz="1500" dirty="0"/>
          </a:p>
        </p:txBody>
      </p:sp>
      <p:sp>
        <p:nvSpPr>
          <p:cNvPr id="11" name="Text 8"/>
          <p:cNvSpPr txBox="1"/>
          <p:nvPr/>
        </p:nvSpPr>
        <p:spPr>
          <a:xfrm>
            <a:off x="1325880" y="2377440"/>
            <a:ext cx="5120640" cy="411480"/>
          </a:xfrm>
          <a:prstGeom prst="rect">
            <a:avLst/>
          </a:prstGeom>
          <a:noFill/>
          <a:ln/>
        </p:spPr>
        <p:txBody>
          <a:bodyPr wrap="square" lIns="0" tIns="0" rIns="0" bIns="0" rtlCol="0" anchor="t"/>
          <a:lstStyle/>
          <a:p>
            <a:pPr indent="0" marL="0">
              <a:buNone/>
            </a:pPr>
            <a:r>
              <a:rPr lang="en-US" sz="1600" dirty="0">
                <a:solidFill>
                  <a:srgbClr val="FFFFFF"/>
                </a:solidFill>
                <a:latin typeface="Helvetica Neue" pitchFamily="34" charset="0"/>
                <a:ea typeface="Helvetica Neue" pitchFamily="34" charset="-122"/>
                <a:cs typeface="Helvetica Neue" pitchFamily="34" charset="-120"/>
              </a:rPr>
              <a:t>Paste a spreadsheet range: metrics with change arrows</a:t>
            </a:r>
            <a:endParaRPr lang="en-US" sz="1600" dirty="0"/>
          </a:p>
        </p:txBody>
      </p:sp>
      <p:sp>
        <p:nvSpPr>
          <p:cNvPr id="12" name="Shape 9"/>
          <p:cNvSpPr/>
          <p:nvPr/>
        </p:nvSpPr>
        <p:spPr>
          <a:xfrm>
            <a:off x="640080" y="3026664"/>
            <a:ext cx="457200" cy="457200"/>
          </a:xfrm>
          <a:prstGeom prst="ellipse">
            <a:avLst/>
          </a:prstGeom>
          <a:solidFill>
            <a:srgbClr val="2C2C2E"/>
          </a:solidFill>
          <a:ln w="12700">
            <a:solidFill>
              <a:srgbClr val="2C2C2E"/>
            </a:solidFill>
            <a:prstDash val="solid"/>
          </a:ln>
        </p:spPr>
      </p:sp>
      <p:sp>
        <p:nvSpPr>
          <p:cNvPr id="13" name="Text 10"/>
          <p:cNvSpPr txBox="1"/>
          <p:nvPr/>
        </p:nvSpPr>
        <p:spPr>
          <a:xfrm>
            <a:off x="640080" y="3099816"/>
            <a:ext cx="457200" cy="310896"/>
          </a:xfrm>
          <a:prstGeom prst="rect">
            <a:avLst/>
          </a:prstGeom>
          <a:noFill/>
          <a:ln/>
        </p:spPr>
        <p:txBody>
          <a:bodyPr wrap="square" lIns="0" tIns="0" rIns="0" bIns="0" rtlCol="0" anchor="t"/>
          <a:lstStyle/>
          <a:p>
            <a:pPr algn="ctr" indent="0" marL="0">
              <a:buNone/>
            </a:pPr>
            <a:r>
              <a:rPr lang="en-US" sz="1500" b="1" dirty="0">
                <a:solidFill>
                  <a:srgbClr val="FFFFFF"/>
                </a:solidFill>
                <a:latin typeface="Helvetica Neue" pitchFamily="34" charset="0"/>
                <a:ea typeface="Helvetica Neue" pitchFamily="34" charset="-122"/>
                <a:cs typeface="Helvetica Neue" pitchFamily="34" charset="-120"/>
              </a:rPr>
              <a:t>3</a:t>
            </a:r>
            <a:endParaRPr lang="en-US" sz="1500" dirty="0"/>
          </a:p>
        </p:txBody>
      </p:sp>
      <p:sp>
        <p:nvSpPr>
          <p:cNvPr id="14" name="Text 11"/>
          <p:cNvSpPr txBox="1"/>
          <p:nvPr/>
        </p:nvSpPr>
        <p:spPr>
          <a:xfrm>
            <a:off x="1325880" y="3090672"/>
            <a:ext cx="5120640" cy="411480"/>
          </a:xfrm>
          <a:prstGeom prst="rect">
            <a:avLst/>
          </a:prstGeom>
          <a:noFill/>
          <a:ln/>
        </p:spPr>
        <p:txBody>
          <a:bodyPr wrap="square" lIns="0" tIns="0" rIns="0" bIns="0" rtlCol="0" anchor="t"/>
          <a:lstStyle/>
          <a:p>
            <a:pPr indent="0" marL="0">
              <a:buNone/>
            </a:pPr>
            <a:r>
              <a:rPr lang="en-US" sz="1600" dirty="0">
                <a:solidFill>
                  <a:srgbClr val="FFFFFF"/>
                </a:solidFill>
                <a:latin typeface="Helvetica Neue" pitchFamily="34" charset="0"/>
                <a:ea typeface="Helvetica Neue" pitchFamily="34" charset="-122"/>
                <a:cs typeface="Helvetica Neue" pitchFamily="34" charset="-120"/>
              </a:rPr>
              <a:t>Drop a screenshot: the shield turns red, “Add Description”</a:t>
            </a:r>
            <a:endParaRPr lang="en-US" sz="1600" dirty="0"/>
          </a:p>
        </p:txBody>
      </p:sp>
      <p:sp>
        <p:nvSpPr>
          <p:cNvPr id="15" name="Shape 12"/>
          <p:cNvSpPr/>
          <p:nvPr/>
        </p:nvSpPr>
        <p:spPr>
          <a:xfrm>
            <a:off x="640080" y="3739896"/>
            <a:ext cx="457200" cy="457200"/>
          </a:xfrm>
          <a:prstGeom prst="ellipse">
            <a:avLst/>
          </a:prstGeom>
          <a:solidFill>
            <a:srgbClr val="2C2C2E"/>
          </a:solidFill>
          <a:ln w="12700">
            <a:solidFill>
              <a:srgbClr val="2C2C2E"/>
            </a:solidFill>
            <a:prstDash val="solid"/>
          </a:ln>
        </p:spPr>
      </p:sp>
      <p:sp>
        <p:nvSpPr>
          <p:cNvPr id="16" name="Text 13"/>
          <p:cNvSpPr txBox="1"/>
          <p:nvPr/>
        </p:nvSpPr>
        <p:spPr>
          <a:xfrm>
            <a:off x="640080" y="3813048"/>
            <a:ext cx="457200" cy="310896"/>
          </a:xfrm>
          <a:prstGeom prst="rect">
            <a:avLst/>
          </a:prstGeom>
          <a:noFill/>
          <a:ln/>
        </p:spPr>
        <p:txBody>
          <a:bodyPr wrap="square" lIns="0" tIns="0" rIns="0" bIns="0" rtlCol="0" anchor="t"/>
          <a:lstStyle/>
          <a:p>
            <a:pPr algn="ctr" indent="0" marL="0">
              <a:buNone/>
            </a:pPr>
            <a:r>
              <a:rPr lang="en-US" sz="1500" b="1" dirty="0">
                <a:solidFill>
                  <a:srgbClr val="FFFFFF"/>
                </a:solidFill>
                <a:latin typeface="Helvetica Neue" pitchFamily="34" charset="0"/>
                <a:ea typeface="Helvetica Neue" pitchFamily="34" charset="-122"/>
                <a:cs typeface="Helvetica Neue" pitchFamily="34" charset="-120"/>
              </a:rPr>
              <a:t>4</a:t>
            </a:r>
            <a:endParaRPr lang="en-US" sz="1500" dirty="0"/>
          </a:p>
        </p:txBody>
      </p:sp>
      <p:sp>
        <p:nvSpPr>
          <p:cNvPr id="17" name="Text 14"/>
          <p:cNvSpPr txBox="1"/>
          <p:nvPr/>
        </p:nvSpPr>
        <p:spPr>
          <a:xfrm>
            <a:off x="1325880" y="3803904"/>
            <a:ext cx="5120640" cy="411480"/>
          </a:xfrm>
          <a:prstGeom prst="rect">
            <a:avLst/>
          </a:prstGeom>
          <a:noFill/>
          <a:ln/>
        </p:spPr>
        <p:txBody>
          <a:bodyPr wrap="square" lIns="0" tIns="0" rIns="0" bIns="0" rtlCol="0" anchor="t"/>
          <a:lstStyle/>
          <a:p>
            <a:pPr indent="0" marL="0">
              <a:buNone/>
            </a:pPr>
            <a:r>
              <a:rPr lang="en-US" sz="1600" dirty="0">
                <a:solidFill>
                  <a:srgbClr val="FFFFFF"/>
                </a:solidFill>
                <a:latin typeface="Helvetica Neue" pitchFamily="34" charset="0"/>
                <a:ea typeface="Helvetica Neue" pitchFamily="34" charset="-122"/>
                <a:cs typeface="Helvetica Neue" pitchFamily="34" charset="-120"/>
              </a:rPr>
              <a:t>Hear This Card: “Image. No description.” Describe it; it clears</a:t>
            </a:r>
            <a:endParaRPr lang="en-US" sz="1600" dirty="0"/>
          </a:p>
        </p:txBody>
      </p:sp>
      <p:sp>
        <p:nvSpPr>
          <p:cNvPr id="18" name="Shape 15"/>
          <p:cNvSpPr/>
          <p:nvPr/>
        </p:nvSpPr>
        <p:spPr>
          <a:xfrm>
            <a:off x="640080" y="4453128"/>
            <a:ext cx="457200" cy="457200"/>
          </a:xfrm>
          <a:prstGeom prst="ellipse">
            <a:avLst/>
          </a:prstGeom>
          <a:solidFill>
            <a:srgbClr val="2C2C2E"/>
          </a:solidFill>
          <a:ln w="12700">
            <a:solidFill>
              <a:srgbClr val="2C2C2E"/>
            </a:solidFill>
            <a:prstDash val="solid"/>
          </a:ln>
        </p:spPr>
      </p:sp>
      <p:sp>
        <p:nvSpPr>
          <p:cNvPr id="19" name="Text 16"/>
          <p:cNvSpPr txBox="1"/>
          <p:nvPr/>
        </p:nvSpPr>
        <p:spPr>
          <a:xfrm>
            <a:off x="640080" y="4526280"/>
            <a:ext cx="457200" cy="310896"/>
          </a:xfrm>
          <a:prstGeom prst="rect">
            <a:avLst/>
          </a:prstGeom>
          <a:noFill/>
          <a:ln/>
        </p:spPr>
        <p:txBody>
          <a:bodyPr wrap="square" lIns="0" tIns="0" rIns="0" bIns="0" rtlCol="0" anchor="t"/>
          <a:lstStyle/>
          <a:p>
            <a:pPr algn="ctr" indent="0" marL="0">
              <a:buNone/>
            </a:pPr>
            <a:r>
              <a:rPr lang="en-US" sz="1500" b="1" dirty="0">
                <a:solidFill>
                  <a:srgbClr val="FFFFFF"/>
                </a:solidFill>
                <a:latin typeface="Helvetica Neue" pitchFamily="34" charset="0"/>
                <a:ea typeface="Helvetica Neue" pitchFamily="34" charset="-122"/>
                <a:cs typeface="Helvetica Neue" pitchFamily="34" charset="-120"/>
              </a:rPr>
              <a:t>5</a:t>
            </a:r>
            <a:endParaRPr lang="en-US" sz="1500" dirty="0"/>
          </a:p>
        </p:txBody>
      </p:sp>
      <p:sp>
        <p:nvSpPr>
          <p:cNvPr id="20" name="Text 17"/>
          <p:cNvSpPr txBox="1"/>
          <p:nvPr/>
        </p:nvSpPr>
        <p:spPr>
          <a:xfrm>
            <a:off x="1325880" y="4517136"/>
            <a:ext cx="5120640" cy="411480"/>
          </a:xfrm>
          <a:prstGeom prst="rect">
            <a:avLst/>
          </a:prstGeom>
          <a:noFill/>
          <a:ln/>
        </p:spPr>
        <p:txBody>
          <a:bodyPr wrap="square" lIns="0" tIns="0" rIns="0" bIns="0" rtlCol="0" anchor="t"/>
          <a:lstStyle/>
          <a:p>
            <a:pPr indent="0" marL="0">
              <a:buNone/>
            </a:pPr>
            <a:r>
              <a:rPr lang="en-US" sz="1600" dirty="0">
                <a:solidFill>
                  <a:srgbClr val="FFFFFF"/>
                </a:solidFill>
                <a:latin typeface="Helvetica Neue" pitchFamily="34" charset="0"/>
                <a:ea typeface="Helvetica Neue" pitchFamily="34" charset="-122"/>
                <a:cs typeface="Helvetica Neue" pitchFamily="34" charset="-120"/>
              </a:rPr>
              <a:t>Colour Vision: still readable without red and green</a:t>
            </a:r>
            <a:endParaRPr lang="en-US" sz="1600" dirty="0"/>
          </a:p>
        </p:txBody>
      </p:sp>
      <p:sp>
        <p:nvSpPr>
          <p:cNvPr id="21" name="Shape 18"/>
          <p:cNvSpPr/>
          <p:nvPr/>
        </p:nvSpPr>
        <p:spPr>
          <a:xfrm>
            <a:off x="640080" y="5166360"/>
            <a:ext cx="457200" cy="457200"/>
          </a:xfrm>
          <a:prstGeom prst="ellipse">
            <a:avLst/>
          </a:prstGeom>
          <a:solidFill>
            <a:srgbClr val="2C2C2E"/>
          </a:solidFill>
          <a:ln w="12700">
            <a:solidFill>
              <a:srgbClr val="2C2C2E"/>
            </a:solidFill>
            <a:prstDash val="solid"/>
          </a:ln>
        </p:spPr>
      </p:sp>
      <p:sp>
        <p:nvSpPr>
          <p:cNvPr id="22" name="Text 19"/>
          <p:cNvSpPr txBox="1"/>
          <p:nvPr/>
        </p:nvSpPr>
        <p:spPr>
          <a:xfrm>
            <a:off x="640080" y="5239512"/>
            <a:ext cx="457200" cy="310896"/>
          </a:xfrm>
          <a:prstGeom prst="rect">
            <a:avLst/>
          </a:prstGeom>
          <a:noFill/>
          <a:ln/>
        </p:spPr>
        <p:txBody>
          <a:bodyPr wrap="square" lIns="0" tIns="0" rIns="0" bIns="0" rtlCol="0" anchor="t"/>
          <a:lstStyle/>
          <a:p>
            <a:pPr algn="ctr" indent="0" marL="0">
              <a:buNone/>
            </a:pPr>
            <a:r>
              <a:rPr lang="en-US" sz="1500" b="1" dirty="0">
                <a:solidFill>
                  <a:srgbClr val="FFFFFF"/>
                </a:solidFill>
                <a:latin typeface="Helvetica Neue" pitchFamily="34" charset="0"/>
                <a:ea typeface="Helvetica Neue" pitchFamily="34" charset="-122"/>
                <a:cs typeface="Helvetica Neue" pitchFamily="34" charset="-120"/>
              </a:rPr>
              <a:t>6</a:t>
            </a:r>
            <a:endParaRPr lang="en-US" sz="1500" dirty="0"/>
          </a:p>
        </p:txBody>
      </p:sp>
      <p:sp>
        <p:nvSpPr>
          <p:cNvPr id="23" name="Text 20"/>
          <p:cNvSpPr txBox="1"/>
          <p:nvPr/>
        </p:nvSpPr>
        <p:spPr>
          <a:xfrm>
            <a:off x="1325880" y="5230368"/>
            <a:ext cx="5120640" cy="411480"/>
          </a:xfrm>
          <a:prstGeom prst="rect">
            <a:avLst/>
          </a:prstGeom>
          <a:noFill/>
          <a:ln/>
        </p:spPr>
        <p:txBody>
          <a:bodyPr wrap="square" lIns="0" tIns="0" rIns="0" bIns="0" rtlCol="0" anchor="t"/>
          <a:lstStyle/>
          <a:p>
            <a:pPr indent="0" marL="0">
              <a:buNone/>
            </a:pPr>
            <a:r>
              <a:rPr lang="en-US" sz="1600" dirty="0">
                <a:solidFill>
                  <a:srgbClr val="FFFFFF"/>
                </a:solidFill>
                <a:latin typeface="Helvetica Neue" pitchFamily="34" charset="0"/>
                <a:ea typeface="Helvetica Neue" pitchFamily="34" charset="-122"/>
                <a:cs typeface="Helvetica Neue" pitchFamily="34" charset="-120"/>
              </a:rPr>
              <a:t>⇧⌘C, paste into Mail, then into Slack</a:t>
            </a:r>
            <a:endParaRPr lang="en-US" sz="1600" dirty="0"/>
          </a:p>
        </p:txBody>
      </p:sp>
      <p:pic>
        <p:nvPicPr>
          <p:cNvPr id="24" name="missing.png" descr="The same card after a chart is dropped in: the toolbar shield is red, the image carries an Add Description button, and the Accessibility tab reports one error.">    </p:cNvPr>
          <p:cNvPicPr>
            <a:picLocks noChangeAspect="1"/>
          </p:cNvPicPr>
          <p:nvPr/>
        </p:nvPicPr>
        <p:blipFill>
          <a:blip r:embed="rId1"/>
          <a:srcRect l="0" r="0" t="0" b="0"/>
          <a:stretch/>
        </p:blipFill>
        <p:spPr>
          <a:xfrm>
            <a:off x="6675120" y="1554480"/>
            <a:ext cx="4876495" cy="44805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11094415" y="6400800"/>
            <a:ext cx="640080" cy="274320"/>
          </a:xfrm>
          <a:prstGeom prst="rect">
            <a:avLst/>
          </a:prstGeom>
          <a:noFill/>
          <a:ln/>
        </p:spPr>
        <p:txBody>
          <a:bodyPr wrap="square" lIns="0" tIns="0" rIns="0" bIns="0" rtlCol="0" anchor="ctr"/>
          <a:lstStyle/>
          <a:p>
            <a:pPr algn="r" indent="0" marL="0">
              <a:buNone/>
            </a:pPr>
            <a:r>
              <a:rPr lang="en-US" sz="1000" dirty="0">
                <a:solidFill>
                  <a:srgbClr val="6E6E73"/>
                </a:solidFill>
                <a:latin typeface="Helvetica Neue" pitchFamily="34" charset="0"/>
                <a:ea typeface="Helvetica Neue" pitchFamily="34" charset="-122"/>
                <a:cs typeface="Helvetica Neue" pitchFamily="34" charset="-120"/>
              </a:rPr>
              <a:t>5</a:t>
            </a:r>
            <a:endParaRPr lang="en-US" sz="1000" dirty="0"/>
          </a:p>
        </p:txBody>
      </p:sp>
      <p:sp>
        <p:nvSpPr>
          <p:cNvPr id="4" name="Text 1"/>
          <p:cNvSpPr txBox="1"/>
          <p:nvPr/>
        </p:nvSpPr>
        <p:spPr>
          <a:xfrm>
            <a:off x="640080" y="274320"/>
            <a:ext cx="10911535" cy="274320"/>
          </a:xfrm>
          <a:prstGeom prst="rect">
            <a:avLst/>
          </a:prstGeom>
          <a:noFill/>
          <a:ln/>
        </p:spPr>
        <p:txBody>
          <a:bodyPr wrap="square" lIns="0" tIns="0" rIns="0" bIns="0" rtlCol="0" anchor="ctr"/>
          <a:lstStyle/>
          <a:p>
            <a:pPr indent="0" marL="0">
              <a:buNone/>
            </a:pPr>
            <a:r>
              <a:rPr lang="en-US" sz="1200" b="1" spc="150" kern="0" dirty="0">
                <a:solidFill>
                  <a:srgbClr val="6E6E73"/>
                </a:solidFill>
                <a:latin typeface="Helvetica Neue" pitchFamily="34" charset="0"/>
                <a:ea typeface="Helvetica Neue" pitchFamily="34" charset="-122"/>
                <a:cs typeface="Helvetica Neue" pitchFamily="34" charset="-120"/>
              </a:rPr>
              <a:t>PRINCIPLE 1</a:t>
            </a:r>
            <a:endParaRPr lang="en-US" sz="1200" dirty="0"/>
          </a:p>
        </p:txBody>
      </p:sp>
      <p:sp>
        <p:nvSpPr>
          <p:cNvPr id="5" name="Text 2"/>
          <p:cNvSpPr txBox="1"/>
          <p:nvPr/>
        </p:nvSpPr>
        <p:spPr>
          <a:xfrm>
            <a:off x="640080" y="502920"/>
            <a:ext cx="10911535" cy="822960"/>
          </a:xfrm>
          <a:prstGeom prst="rect">
            <a:avLst/>
          </a:prstGeom>
          <a:noFill/>
          <a:ln/>
        </p:spPr>
        <p:txBody>
          <a:bodyPr wrap="square" lIns="0" tIns="0" rIns="0" bIns="0" rtlCol="0" anchor="t"/>
          <a:lstStyle/>
          <a:p>
            <a:pPr indent="0" marL="0">
              <a:buNone/>
            </a:pPr>
            <a:r>
              <a:rPr lang="en-US" sz="3400" b="1" dirty="0">
                <a:solidFill>
                  <a:srgbClr val="1D1D1F"/>
                </a:solidFill>
                <a:latin typeface="Helvetica Neue" pitchFamily="34" charset="0"/>
                <a:ea typeface="Helvetica Neue" pitchFamily="34" charset="-122"/>
                <a:cs typeface="Helvetica Neue" pitchFamily="34" charset="-120"/>
              </a:rPr>
              <a:t>One model, many renderers</a:t>
            </a:r>
            <a:endParaRPr lang="en-US" sz="3400" dirty="0"/>
          </a:p>
        </p:txBody>
      </p:sp>
      <p:sp>
        <p:nvSpPr>
          <p:cNvPr id="6" name="Shape 3"/>
          <p:cNvSpPr/>
          <p:nvPr/>
        </p:nvSpPr>
        <p:spPr>
          <a:xfrm>
            <a:off x="4572000" y="2962656"/>
            <a:ext cx="3017520" cy="1371600"/>
          </a:xfrm>
          <a:prstGeom prst="roundRect">
            <a:avLst>
              <a:gd name="adj" fmla="val 12000"/>
            </a:avLst>
          </a:prstGeom>
          <a:solidFill>
            <a:srgbClr val="1D1D1F"/>
          </a:solidFill>
          <a:ln w="12700">
            <a:solidFill>
              <a:srgbClr val="1D1D1F"/>
            </a:solidFill>
            <a:prstDash val="solid"/>
          </a:ln>
          <a:effectLst>
            <a:outerShdw sx="100000" sy="100000" kx="0" ky="0" algn="bl" rotWithShape="0" blurRad="152400" dist="38100" dir="5400000">
              <a:srgbClr val="000000">
                <a:alpha val="10000"/>
              </a:srgbClr>
            </a:outerShdw>
          </a:effectLst>
        </p:spPr>
      </p:sp>
      <p:sp>
        <p:nvSpPr>
          <p:cNvPr id="7" name="Text 4"/>
          <p:cNvSpPr txBox="1"/>
          <p:nvPr/>
        </p:nvSpPr>
        <p:spPr>
          <a:xfrm>
            <a:off x="4572000" y="3255264"/>
            <a:ext cx="3017520" cy="411480"/>
          </a:xfrm>
          <a:prstGeom prst="rect">
            <a:avLst/>
          </a:prstGeom>
          <a:noFill/>
          <a:ln/>
        </p:spPr>
        <p:txBody>
          <a:bodyPr wrap="square" lIns="0" tIns="0" rIns="0" bIns="0" rtlCol="0" anchor="t"/>
          <a:lstStyle/>
          <a:p>
            <a:pPr algn="ctr" indent="0" marL="0">
              <a:buNone/>
            </a:pPr>
            <a:r>
              <a:rPr lang="en-US" sz="2200" b="1" dirty="0">
                <a:solidFill>
                  <a:srgbClr val="FFFFFF"/>
                </a:solidFill>
                <a:latin typeface="Helvetica Neue" pitchFamily="34" charset="0"/>
                <a:ea typeface="Helvetica Neue" pitchFamily="34" charset="-122"/>
                <a:cs typeface="Helvetica Neue" pitchFamily="34" charset="-120"/>
              </a:rPr>
              <a:t>SnippetCard</a:t>
            </a:r>
            <a:endParaRPr lang="en-US" sz="2200" dirty="0"/>
          </a:p>
        </p:txBody>
      </p:sp>
      <p:sp>
        <p:nvSpPr>
          <p:cNvPr id="8" name="Text 5"/>
          <p:cNvSpPr txBox="1"/>
          <p:nvPr/>
        </p:nvSpPr>
        <p:spPr>
          <a:xfrm>
            <a:off x="4572000" y="3739896"/>
            <a:ext cx="3017520" cy="320040"/>
          </a:xfrm>
          <a:prstGeom prst="rect">
            <a:avLst/>
          </a:prstGeom>
          <a:noFill/>
          <a:ln/>
        </p:spPr>
        <p:txBody>
          <a:bodyPr wrap="square" lIns="0" tIns="0" rIns="0" bIns="0" rtlCol="0" anchor="t"/>
          <a:lstStyle/>
          <a:p>
            <a:pPr algn="ctr" indent="0" marL="0">
              <a:buNone/>
            </a:pPr>
            <a:r>
              <a:rPr lang="en-US" sz="1200" dirty="0">
                <a:solidFill>
                  <a:srgbClr val="A1A1A6"/>
                </a:solidFill>
                <a:latin typeface="Helvetica Neue" pitchFamily="34" charset="0"/>
                <a:ea typeface="Helvetica Neue" pitchFamily="34" charset="-122"/>
                <a:cs typeface="Helvetica Neue" pitchFamily="34" charset="-120"/>
              </a:rPr>
              <a:t>value type · Codable · Sendable</a:t>
            </a:r>
            <a:endParaRPr lang="en-US" sz="1200" dirty="0"/>
          </a:p>
        </p:txBody>
      </p:sp>
      <p:sp>
        <p:nvSpPr>
          <p:cNvPr id="9" name="Shape 6"/>
          <p:cNvSpPr/>
          <p:nvPr/>
        </p:nvSpPr>
        <p:spPr>
          <a:xfrm>
            <a:off x="640080" y="1600200"/>
            <a:ext cx="3291840" cy="1143000"/>
          </a:xfrm>
          <a:prstGeom prst="roundRect">
            <a:avLst>
              <a:gd name="adj" fmla="val 14400"/>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10" name="Text 7"/>
          <p:cNvSpPr txBox="1"/>
          <p:nvPr/>
        </p:nvSpPr>
        <p:spPr>
          <a:xfrm>
            <a:off x="914400" y="1828800"/>
            <a:ext cx="2743200" cy="365760"/>
          </a:xfrm>
          <a:prstGeom prst="rect">
            <a:avLst/>
          </a:prstGeom>
          <a:noFill/>
          <a:ln/>
        </p:spPr>
        <p:txBody>
          <a:bodyPr wrap="square" lIns="0" tIns="0" rIns="0" bIns="0" rtlCol="0" anchor="t"/>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Canvas, PNG, tagged PDF</a:t>
            </a:r>
            <a:endParaRPr lang="en-US" sz="1600" dirty="0"/>
          </a:p>
        </p:txBody>
      </p:sp>
      <p:sp>
        <p:nvSpPr>
          <p:cNvPr id="11" name="Text 8"/>
          <p:cNvSpPr txBox="1"/>
          <p:nvPr/>
        </p:nvSpPr>
        <p:spPr>
          <a:xfrm>
            <a:off x="914400" y="2240280"/>
            <a:ext cx="2743200" cy="320040"/>
          </a:xfrm>
          <a:prstGeom prst="rect">
            <a:avLst/>
          </a:prstGeom>
          <a:noFill/>
          <a:ln/>
        </p:spPr>
        <p:txBody>
          <a:bodyPr wrap="square" lIns="0" tIns="0" rIns="0" bIns="0" rtlCol="0" anchor="t"/>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SwiftUI</a:t>
            </a:r>
            <a:endParaRPr lang="en-US" sz="1300" dirty="0"/>
          </a:p>
        </p:txBody>
      </p:sp>
      <p:sp>
        <p:nvSpPr>
          <p:cNvPr id="12" name="Shape 9"/>
          <p:cNvSpPr/>
          <p:nvPr/>
        </p:nvSpPr>
        <p:spPr>
          <a:xfrm>
            <a:off x="3931920" y="2171700"/>
            <a:ext cx="640080" cy="1476756"/>
          </a:xfrm>
          <a:prstGeom prst="line">
            <a:avLst/>
          </a:prstGeom>
          <a:noFill/>
          <a:ln w="19050">
            <a:solidFill>
              <a:srgbClr val="D2D2D7"/>
            </a:solidFill>
            <a:prstDash val="solid"/>
          </a:ln>
        </p:spPr>
      </p:sp>
      <p:sp>
        <p:nvSpPr>
          <p:cNvPr id="13" name="Shape 10"/>
          <p:cNvSpPr/>
          <p:nvPr/>
        </p:nvSpPr>
        <p:spPr>
          <a:xfrm>
            <a:off x="640080" y="3081528"/>
            <a:ext cx="3291840" cy="1143000"/>
          </a:xfrm>
          <a:prstGeom prst="roundRect">
            <a:avLst>
              <a:gd name="adj" fmla="val 14400"/>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14" name="Text 11"/>
          <p:cNvSpPr txBox="1"/>
          <p:nvPr/>
        </p:nvSpPr>
        <p:spPr>
          <a:xfrm>
            <a:off x="914400" y="3310128"/>
            <a:ext cx="2743200" cy="365760"/>
          </a:xfrm>
          <a:prstGeom prst="rect">
            <a:avLst/>
          </a:prstGeom>
          <a:noFill/>
          <a:ln/>
        </p:spPr>
        <p:txBody>
          <a:bodyPr wrap="square" lIns="0" tIns="0" rIns="0" bIns="0" rtlCol="0" anchor="t"/>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Email HTML, web page</a:t>
            </a:r>
            <a:endParaRPr lang="en-US" sz="1600" dirty="0"/>
          </a:p>
        </p:txBody>
      </p:sp>
      <p:sp>
        <p:nvSpPr>
          <p:cNvPr id="15" name="Text 12"/>
          <p:cNvSpPr txBox="1"/>
          <p:nvPr/>
        </p:nvSpPr>
        <p:spPr>
          <a:xfrm>
            <a:off x="914400" y="3721608"/>
            <a:ext cx="2743200" cy="320040"/>
          </a:xfrm>
          <a:prstGeom prst="rect">
            <a:avLst/>
          </a:prstGeom>
          <a:noFill/>
          <a:ln/>
        </p:spPr>
        <p:txBody>
          <a:bodyPr wrap="square" lIns="0" tIns="0" rIns="0" bIns="0" rtlCol="0" anchor="t"/>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inline styles, semantic</a:t>
            </a:r>
            <a:endParaRPr lang="en-US" sz="1300" dirty="0"/>
          </a:p>
        </p:txBody>
      </p:sp>
      <p:sp>
        <p:nvSpPr>
          <p:cNvPr id="16" name="Shape 13"/>
          <p:cNvSpPr/>
          <p:nvPr/>
        </p:nvSpPr>
        <p:spPr>
          <a:xfrm flipV="1">
            <a:off x="3931920" y="3648456"/>
            <a:ext cx="640080" cy="4572"/>
          </a:xfrm>
          <a:prstGeom prst="line">
            <a:avLst/>
          </a:prstGeom>
          <a:noFill/>
          <a:ln w="19050">
            <a:solidFill>
              <a:srgbClr val="D2D2D7"/>
            </a:solidFill>
            <a:prstDash val="solid"/>
          </a:ln>
        </p:spPr>
      </p:sp>
      <p:sp>
        <p:nvSpPr>
          <p:cNvPr id="17" name="Shape 14"/>
          <p:cNvSpPr/>
          <p:nvPr/>
        </p:nvSpPr>
        <p:spPr>
          <a:xfrm>
            <a:off x="640080" y="4562856"/>
            <a:ext cx="3291840" cy="1143000"/>
          </a:xfrm>
          <a:prstGeom prst="roundRect">
            <a:avLst>
              <a:gd name="adj" fmla="val 14400"/>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18" name="Text 15"/>
          <p:cNvSpPr txBox="1"/>
          <p:nvPr/>
        </p:nvSpPr>
        <p:spPr>
          <a:xfrm>
            <a:off x="914400" y="4791456"/>
            <a:ext cx="2743200" cy="365760"/>
          </a:xfrm>
          <a:prstGeom prst="rect">
            <a:avLst/>
          </a:prstGeom>
          <a:noFill/>
          <a:ln/>
        </p:spPr>
        <p:txBody>
          <a:bodyPr wrap="square" lIns="0" tIns="0" rIns="0" bIns="0" rtlCol="0" anchor="t"/>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Rich text</a:t>
            </a:r>
            <a:endParaRPr lang="en-US" sz="1600" dirty="0"/>
          </a:p>
        </p:txBody>
      </p:sp>
      <p:sp>
        <p:nvSpPr>
          <p:cNvPr id="19" name="Text 16"/>
          <p:cNvSpPr txBox="1"/>
          <p:nvPr/>
        </p:nvSpPr>
        <p:spPr>
          <a:xfrm>
            <a:off x="914400" y="5202936"/>
            <a:ext cx="2743200" cy="320040"/>
          </a:xfrm>
          <a:prstGeom prst="rect">
            <a:avLst/>
          </a:prstGeom>
          <a:noFill/>
          <a:ln/>
        </p:spPr>
        <p:txBody>
          <a:bodyPr wrap="square" lIns="0" tIns="0" rIns="0" bIns="0" rtlCol="0" anchor="t"/>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Mail, Notes</a:t>
            </a:r>
            <a:endParaRPr lang="en-US" sz="1300" dirty="0"/>
          </a:p>
        </p:txBody>
      </p:sp>
      <p:sp>
        <p:nvSpPr>
          <p:cNvPr id="20" name="Shape 17"/>
          <p:cNvSpPr/>
          <p:nvPr/>
        </p:nvSpPr>
        <p:spPr>
          <a:xfrm flipV="1">
            <a:off x="3931920" y="3648456"/>
            <a:ext cx="640080" cy="1485900"/>
          </a:xfrm>
          <a:prstGeom prst="line">
            <a:avLst/>
          </a:prstGeom>
          <a:noFill/>
          <a:ln w="19050">
            <a:solidFill>
              <a:srgbClr val="D2D2D7"/>
            </a:solidFill>
            <a:prstDash val="solid"/>
          </a:ln>
        </p:spPr>
      </p:sp>
      <p:sp>
        <p:nvSpPr>
          <p:cNvPr id="21" name="Shape 18"/>
          <p:cNvSpPr/>
          <p:nvPr/>
        </p:nvSpPr>
        <p:spPr>
          <a:xfrm>
            <a:off x="8259775" y="1600200"/>
            <a:ext cx="3291840" cy="1143000"/>
          </a:xfrm>
          <a:prstGeom prst="roundRect">
            <a:avLst>
              <a:gd name="adj" fmla="val 14400"/>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22" name="Text 19"/>
          <p:cNvSpPr txBox="1"/>
          <p:nvPr/>
        </p:nvSpPr>
        <p:spPr>
          <a:xfrm>
            <a:off x="8534095" y="1828800"/>
            <a:ext cx="2743200" cy="365760"/>
          </a:xfrm>
          <a:prstGeom prst="rect">
            <a:avLst/>
          </a:prstGeom>
          <a:noFill/>
          <a:ln/>
        </p:spPr>
        <p:txBody>
          <a:bodyPr wrap="square" lIns="0" tIns="0" rIns="0" bIns="0" rtlCol="0" anchor="t"/>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Markdown, Slack</a:t>
            </a:r>
            <a:endParaRPr lang="en-US" sz="1600" dirty="0"/>
          </a:p>
        </p:txBody>
      </p:sp>
      <p:sp>
        <p:nvSpPr>
          <p:cNvPr id="23" name="Text 20"/>
          <p:cNvSpPr txBox="1"/>
          <p:nvPr/>
        </p:nvSpPr>
        <p:spPr>
          <a:xfrm>
            <a:off x="8534095" y="2240280"/>
            <a:ext cx="2743200" cy="320040"/>
          </a:xfrm>
          <a:prstGeom prst="rect">
            <a:avLst/>
          </a:prstGeom>
          <a:noFill/>
          <a:ln/>
        </p:spPr>
        <p:txBody>
          <a:bodyPr wrap="square" lIns="0" tIns="0" rIns="0" bIns="0" rtlCol="0" anchor="t"/>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chat and wiki</a:t>
            </a:r>
            <a:endParaRPr lang="en-US" sz="1300" dirty="0"/>
          </a:p>
        </p:txBody>
      </p:sp>
      <p:sp>
        <p:nvSpPr>
          <p:cNvPr id="24" name="Shape 21"/>
          <p:cNvSpPr/>
          <p:nvPr/>
        </p:nvSpPr>
        <p:spPr>
          <a:xfrm flipV="1">
            <a:off x="7589520" y="2171700"/>
            <a:ext cx="670255" cy="1476756"/>
          </a:xfrm>
          <a:prstGeom prst="line">
            <a:avLst/>
          </a:prstGeom>
          <a:noFill/>
          <a:ln w="19050">
            <a:solidFill>
              <a:srgbClr val="D2D2D7"/>
            </a:solidFill>
            <a:prstDash val="solid"/>
          </a:ln>
        </p:spPr>
      </p:sp>
      <p:sp>
        <p:nvSpPr>
          <p:cNvPr id="25" name="Shape 22"/>
          <p:cNvSpPr/>
          <p:nvPr/>
        </p:nvSpPr>
        <p:spPr>
          <a:xfrm>
            <a:off x="8259775" y="3081528"/>
            <a:ext cx="3291840" cy="1143000"/>
          </a:xfrm>
          <a:prstGeom prst="roundRect">
            <a:avLst>
              <a:gd name="adj" fmla="val 14400"/>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26" name="Text 23"/>
          <p:cNvSpPr txBox="1"/>
          <p:nvPr/>
        </p:nvSpPr>
        <p:spPr>
          <a:xfrm>
            <a:off x="8534095" y="3310128"/>
            <a:ext cx="2743200" cy="365760"/>
          </a:xfrm>
          <a:prstGeom prst="rect">
            <a:avLst/>
          </a:prstGeom>
          <a:noFill/>
          <a:ln/>
        </p:spPr>
        <p:txBody>
          <a:bodyPr wrap="square" lIns="0" tIns="0" rIns="0" bIns="0" rtlCol="0" anchor="t"/>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Plain text</a:t>
            </a:r>
            <a:endParaRPr lang="en-US" sz="1600" dirty="0"/>
          </a:p>
        </p:txBody>
      </p:sp>
      <p:sp>
        <p:nvSpPr>
          <p:cNvPr id="27" name="Text 24"/>
          <p:cNvSpPr txBox="1"/>
          <p:nvPr/>
        </p:nvSpPr>
        <p:spPr>
          <a:xfrm>
            <a:off x="8534095" y="3721608"/>
            <a:ext cx="2743200" cy="320040"/>
          </a:xfrm>
          <a:prstGeom prst="rect">
            <a:avLst/>
          </a:prstGeom>
          <a:noFill/>
          <a:ln/>
        </p:spPr>
        <p:txBody>
          <a:bodyPr wrap="square" lIns="0" tIns="0" rIns="0" bIns="0" rtlCol="0" anchor="t"/>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Messages, fallback</a:t>
            </a:r>
            <a:endParaRPr lang="en-US" sz="1300" dirty="0"/>
          </a:p>
        </p:txBody>
      </p:sp>
      <p:sp>
        <p:nvSpPr>
          <p:cNvPr id="28" name="Shape 25"/>
          <p:cNvSpPr/>
          <p:nvPr/>
        </p:nvSpPr>
        <p:spPr>
          <a:xfrm>
            <a:off x="7589520" y="3648456"/>
            <a:ext cx="670255" cy="4572"/>
          </a:xfrm>
          <a:prstGeom prst="line">
            <a:avLst/>
          </a:prstGeom>
          <a:noFill/>
          <a:ln w="19050">
            <a:solidFill>
              <a:srgbClr val="D2D2D7"/>
            </a:solidFill>
            <a:prstDash val="solid"/>
          </a:ln>
        </p:spPr>
      </p:sp>
      <p:sp>
        <p:nvSpPr>
          <p:cNvPr id="29" name="Shape 26"/>
          <p:cNvSpPr/>
          <p:nvPr/>
        </p:nvSpPr>
        <p:spPr>
          <a:xfrm>
            <a:off x="8259775" y="4562856"/>
            <a:ext cx="3291840" cy="1143000"/>
          </a:xfrm>
          <a:prstGeom prst="roundRect">
            <a:avLst>
              <a:gd name="adj" fmla="val 14400"/>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30" name="Text 27"/>
          <p:cNvSpPr txBox="1"/>
          <p:nvPr/>
        </p:nvSpPr>
        <p:spPr>
          <a:xfrm>
            <a:off x="8534095" y="4791456"/>
            <a:ext cx="2743200" cy="365760"/>
          </a:xfrm>
          <a:prstGeom prst="rect">
            <a:avLst/>
          </a:prstGeom>
          <a:noFill/>
          <a:ln/>
        </p:spPr>
        <p:txBody>
          <a:bodyPr wrap="square" lIns="0" tIns="0" rIns="0" bIns="0" rtlCol="0" anchor="t"/>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Spoken narration</a:t>
            </a:r>
            <a:endParaRPr lang="en-US" sz="1600" dirty="0"/>
          </a:p>
        </p:txBody>
      </p:sp>
      <p:sp>
        <p:nvSpPr>
          <p:cNvPr id="31" name="Text 28"/>
          <p:cNvSpPr txBox="1"/>
          <p:nvPr/>
        </p:nvSpPr>
        <p:spPr>
          <a:xfrm>
            <a:off x="8534095" y="5202936"/>
            <a:ext cx="2743200" cy="320040"/>
          </a:xfrm>
          <a:prstGeom prst="rect">
            <a:avLst/>
          </a:prstGeom>
          <a:noFill/>
          <a:ln/>
        </p:spPr>
        <p:txBody>
          <a:bodyPr wrap="square" lIns="0" tIns="0" rIns="0" bIns="0" rtlCol="0" anchor="t"/>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Hear This Card</a:t>
            </a:r>
            <a:endParaRPr lang="en-US" sz="1300" dirty="0"/>
          </a:p>
        </p:txBody>
      </p:sp>
      <p:sp>
        <p:nvSpPr>
          <p:cNvPr id="32" name="Shape 29"/>
          <p:cNvSpPr/>
          <p:nvPr/>
        </p:nvSpPr>
        <p:spPr>
          <a:xfrm>
            <a:off x="7589520" y="3648456"/>
            <a:ext cx="670255" cy="1485900"/>
          </a:xfrm>
          <a:prstGeom prst="line">
            <a:avLst/>
          </a:prstGeom>
          <a:noFill/>
          <a:ln w="19050">
            <a:solidFill>
              <a:srgbClr val="D2D2D7"/>
            </a:solidFill>
            <a:prstDash val="solid"/>
          </a:ln>
        </p:spPr>
      </p:sp>
      <p:sp>
        <p:nvSpPr>
          <p:cNvPr id="33" name="Text 30"/>
          <p:cNvSpPr txBox="1"/>
          <p:nvPr/>
        </p:nvSpPr>
        <p:spPr>
          <a:xfrm>
            <a:off x="640080" y="6080760"/>
            <a:ext cx="10911535" cy="365760"/>
          </a:xfrm>
          <a:prstGeom prst="rect">
            <a:avLst/>
          </a:prstGeom>
          <a:noFill/>
          <a:ln/>
        </p:spPr>
        <p:txBody>
          <a:bodyPr wrap="square" lIns="0" tIns="0" rIns="0" bIns="0" rtlCol="0" anchor="t"/>
          <a:lstStyle/>
          <a:p>
            <a:pPr algn="ctr" indent="0" marL="0">
              <a:buNone/>
            </a:pPr>
            <a:r>
              <a:rPr lang="en-US" sz="1400" dirty="0">
                <a:solidFill>
                  <a:srgbClr val="6E6E73"/>
                </a:solidFill>
                <a:latin typeface="Helvetica Neue" pitchFamily="34" charset="0"/>
                <a:ea typeface="Helvetica Neue" pitchFamily="34" charset="-122"/>
                <a:cs typeface="Helvetica Neue" pitchFamily="34" charset="-120"/>
              </a:rPr>
              <a:t>Also on the same model: accessibility linter · templates · JSON import/export · reportcard CLI</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11094415" y="6400800"/>
            <a:ext cx="640080" cy="274320"/>
          </a:xfrm>
          <a:prstGeom prst="rect">
            <a:avLst/>
          </a:prstGeom>
          <a:noFill/>
          <a:ln/>
        </p:spPr>
        <p:txBody>
          <a:bodyPr wrap="square" lIns="0" tIns="0" rIns="0" bIns="0" rtlCol="0" anchor="ctr"/>
          <a:lstStyle/>
          <a:p>
            <a:pPr algn="r" indent="0" marL="0">
              <a:buNone/>
            </a:pPr>
            <a:r>
              <a:rPr lang="en-US" sz="1000" dirty="0">
                <a:solidFill>
                  <a:srgbClr val="6E6E73"/>
                </a:solidFill>
                <a:latin typeface="Helvetica Neue" pitchFamily="34" charset="0"/>
                <a:ea typeface="Helvetica Neue" pitchFamily="34" charset="-122"/>
                <a:cs typeface="Helvetica Neue" pitchFamily="34" charset="-120"/>
              </a:rPr>
              <a:t>6</a:t>
            </a:r>
            <a:endParaRPr lang="en-US" sz="1000" dirty="0"/>
          </a:p>
        </p:txBody>
      </p:sp>
      <p:sp>
        <p:nvSpPr>
          <p:cNvPr id="4" name="Text 1"/>
          <p:cNvSpPr txBox="1"/>
          <p:nvPr/>
        </p:nvSpPr>
        <p:spPr>
          <a:xfrm>
            <a:off x="640080" y="274320"/>
            <a:ext cx="10911535" cy="274320"/>
          </a:xfrm>
          <a:prstGeom prst="rect">
            <a:avLst/>
          </a:prstGeom>
          <a:noFill/>
          <a:ln/>
        </p:spPr>
        <p:txBody>
          <a:bodyPr wrap="square" lIns="0" tIns="0" rIns="0" bIns="0" rtlCol="0" anchor="ctr"/>
          <a:lstStyle/>
          <a:p>
            <a:pPr indent="0" marL="0">
              <a:buNone/>
            </a:pPr>
            <a:r>
              <a:rPr lang="en-US" sz="1200" b="1" spc="150" kern="0" dirty="0">
                <a:solidFill>
                  <a:srgbClr val="6E6E73"/>
                </a:solidFill>
                <a:latin typeface="Helvetica Neue" pitchFamily="34" charset="0"/>
                <a:ea typeface="Helvetica Neue" pitchFamily="34" charset="-122"/>
                <a:cs typeface="Helvetica Neue" pitchFamily="34" charset="-120"/>
              </a:rPr>
              <a:t>ARCHITECTURE</a:t>
            </a:r>
            <a:endParaRPr lang="en-US" sz="1200" dirty="0"/>
          </a:p>
        </p:txBody>
      </p:sp>
      <p:sp>
        <p:nvSpPr>
          <p:cNvPr id="5" name="Text 2"/>
          <p:cNvSpPr txBox="1"/>
          <p:nvPr/>
        </p:nvSpPr>
        <p:spPr>
          <a:xfrm>
            <a:off x="640080" y="502920"/>
            <a:ext cx="10911535" cy="822960"/>
          </a:xfrm>
          <a:prstGeom prst="rect">
            <a:avLst/>
          </a:prstGeom>
          <a:noFill/>
          <a:ln/>
        </p:spPr>
        <p:txBody>
          <a:bodyPr wrap="square" lIns="0" tIns="0" rIns="0" bIns="0" rtlCol="0" anchor="t"/>
          <a:lstStyle/>
          <a:p>
            <a:pPr indent="0" marL="0">
              <a:buNone/>
            </a:pPr>
            <a:r>
              <a:rPr lang="en-US" sz="3400" b="1" dirty="0">
                <a:solidFill>
                  <a:srgbClr val="1D1D1F"/>
                </a:solidFill>
                <a:latin typeface="Helvetica Neue" pitchFamily="34" charset="0"/>
                <a:ea typeface="Helvetica Neue" pitchFamily="34" charset="-122"/>
                <a:cs typeface="Helvetica Neue" pitchFamily="34" charset="-120"/>
              </a:rPr>
              <a:t>One package below, two consumers above</a:t>
            </a:r>
            <a:endParaRPr lang="en-US" sz="3400" dirty="0"/>
          </a:p>
        </p:txBody>
      </p:sp>
      <p:sp>
        <p:nvSpPr>
          <p:cNvPr id="6" name="Shape 3"/>
          <p:cNvSpPr/>
          <p:nvPr/>
        </p:nvSpPr>
        <p:spPr>
          <a:xfrm>
            <a:off x="640080" y="1417320"/>
            <a:ext cx="6675120" cy="1188720"/>
          </a:xfrm>
          <a:prstGeom prst="roundRect">
            <a:avLst>
              <a:gd name="adj" fmla="val 13846"/>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7" name="Text 4"/>
          <p:cNvSpPr txBox="1"/>
          <p:nvPr/>
        </p:nvSpPr>
        <p:spPr>
          <a:xfrm>
            <a:off x="960120" y="1627632"/>
            <a:ext cx="6035040" cy="365760"/>
          </a:xfrm>
          <a:prstGeom prst="rect">
            <a:avLst/>
          </a:prstGeom>
          <a:noFill/>
          <a:ln/>
        </p:spPr>
        <p:txBody>
          <a:bodyPr wrap="square" lIns="0" tIns="0" rIns="0" bIns="0" rtlCol="0" anchor="t"/>
          <a:lstStyle/>
          <a:p>
            <a:pPr indent="0" marL="0">
              <a:buNone/>
            </a:pPr>
            <a:r>
              <a:rPr lang="en-US" sz="1800" b="1" dirty="0">
                <a:solidFill>
                  <a:srgbClr val="1D1D1F"/>
                </a:solidFill>
                <a:latin typeface="Helvetica Neue" pitchFamily="34" charset="0"/>
                <a:ea typeface="Helvetica Neue" pitchFamily="34" charset="-122"/>
                <a:cs typeface="Helvetica Neue" pitchFamily="34" charset="-120"/>
              </a:rPr>
              <a:t>Reporting Builder.app</a:t>
            </a:r>
            <a:endParaRPr lang="en-US" sz="1800" dirty="0"/>
          </a:p>
        </p:txBody>
      </p:sp>
      <p:sp>
        <p:nvSpPr>
          <p:cNvPr id="8" name="Text 5"/>
          <p:cNvSpPr txBox="1"/>
          <p:nvPr/>
        </p:nvSpPr>
        <p:spPr>
          <a:xfrm>
            <a:off x="960120" y="2048256"/>
            <a:ext cx="6035040" cy="457200"/>
          </a:xfrm>
          <a:prstGeom prst="rect">
            <a:avLst/>
          </a:prstGeom>
          <a:noFill/>
          <a:ln/>
        </p:spPr>
        <p:txBody>
          <a:bodyPr wrap="square" lIns="0" tIns="0" rIns="0" bIns="0" rtlCol="0" anchor="t"/>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SwiftUI + AppKit · Store · Workspace · Canvas · Inspector · Export · Assistant</a:t>
            </a:r>
            <a:endParaRPr lang="en-US" sz="1300" dirty="0"/>
          </a:p>
        </p:txBody>
      </p:sp>
      <p:sp>
        <p:nvSpPr>
          <p:cNvPr id="9" name="Shape 6"/>
          <p:cNvSpPr/>
          <p:nvPr/>
        </p:nvSpPr>
        <p:spPr>
          <a:xfrm>
            <a:off x="7680960" y="1417320"/>
            <a:ext cx="3870655" cy="1188720"/>
          </a:xfrm>
          <a:prstGeom prst="roundRect">
            <a:avLst>
              <a:gd name="adj" fmla="val 13846"/>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10" name="Text 7"/>
          <p:cNvSpPr txBox="1"/>
          <p:nvPr/>
        </p:nvSpPr>
        <p:spPr>
          <a:xfrm>
            <a:off x="8001000" y="1627632"/>
            <a:ext cx="3230575" cy="365760"/>
          </a:xfrm>
          <a:prstGeom prst="rect">
            <a:avLst/>
          </a:prstGeom>
          <a:noFill/>
          <a:ln/>
        </p:spPr>
        <p:txBody>
          <a:bodyPr wrap="square" lIns="0" tIns="0" rIns="0" bIns="0" rtlCol="0" anchor="t"/>
          <a:lstStyle/>
          <a:p>
            <a:pPr indent="0" marL="0">
              <a:buNone/>
            </a:pPr>
            <a:r>
              <a:rPr lang="en-US" sz="1800" b="1" dirty="0">
                <a:solidFill>
                  <a:srgbClr val="1D1D1F"/>
                </a:solidFill>
                <a:latin typeface="Helvetica Neue" pitchFamily="34" charset="0"/>
                <a:ea typeface="Helvetica Neue" pitchFamily="34" charset="-122"/>
                <a:cs typeface="Helvetica Neue" pitchFamily="34" charset="-120"/>
              </a:rPr>
              <a:t>reportcard</a:t>
            </a:r>
            <a:endParaRPr lang="en-US" sz="1800" dirty="0"/>
          </a:p>
        </p:txBody>
      </p:sp>
      <p:sp>
        <p:nvSpPr>
          <p:cNvPr id="11" name="Text 8"/>
          <p:cNvSpPr txBox="1"/>
          <p:nvPr/>
        </p:nvSpPr>
        <p:spPr>
          <a:xfrm>
            <a:off x="8001000" y="2048256"/>
            <a:ext cx="3230575" cy="457200"/>
          </a:xfrm>
          <a:prstGeom prst="rect">
            <a:avLst/>
          </a:prstGeom>
          <a:noFill/>
          <a:ln/>
        </p:spPr>
        <p:txBody>
          <a:bodyPr wrap="square" lIns="0" tIns="0" rIns="0" bIns="0" rtlCol="0" anchor="t"/>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a command-line tool · render · lint · site</a:t>
            </a:r>
            <a:endParaRPr lang="en-US" sz="1300" dirty="0"/>
          </a:p>
        </p:txBody>
      </p:sp>
      <p:sp>
        <p:nvSpPr>
          <p:cNvPr id="12" name="Text 9"/>
          <p:cNvSpPr txBox="1"/>
          <p:nvPr/>
        </p:nvSpPr>
        <p:spPr>
          <a:xfrm>
            <a:off x="640080" y="2743200"/>
            <a:ext cx="6675120" cy="320040"/>
          </a:xfrm>
          <a:prstGeom prst="rect">
            <a:avLst/>
          </a:prstGeom>
          <a:noFill/>
          <a:ln/>
        </p:spPr>
        <p:txBody>
          <a:bodyPr wrap="square" lIns="0" tIns="0" rIns="0" bIns="0" rtlCol="0" anchor="t"/>
          <a:lstStyle/>
          <a:p>
            <a:pPr algn="ctr" indent="0" marL="0">
              <a:buNone/>
            </a:pPr>
            <a:r>
              <a:rPr lang="en-US" sz="1300" dirty="0">
                <a:solidFill>
                  <a:srgbClr val="6E6E73"/>
                </a:solidFill>
                <a:latin typeface="Helvetica Neue" pitchFamily="34" charset="0"/>
                <a:ea typeface="Helvetica Neue" pitchFamily="34" charset="-122"/>
                <a:cs typeface="Helvetica Neue" pitchFamily="34" charset="-120"/>
              </a:rPr>
              <a:t>↓  imports</a:t>
            </a:r>
            <a:endParaRPr lang="en-US" sz="1300" dirty="0"/>
          </a:p>
        </p:txBody>
      </p:sp>
      <p:sp>
        <p:nvSpPr>
          <p:cNvPr id="13" name="Text 10"/>
          <p:cNvSpPr txBox="1"/>
          <p:nvPr/>
        </p:nvSpPr>
        <p:spPr>
          <a:xfrm>
            <a:off x="7680960" y="2743200"/>
            <a:ext cx="3870655" cy="320040"/>
          </a:xfrm>
          <a:prstGeom prst="rect">
            <a:avLst/>
          </a:prstGeom>
          <a:noFill/>
          <a:ln/>
        </p:spPr>
        <p:txBody>
          <a:bodyPr wrap="square" lIns="0" tIns="0" rIns="0" bIns="0" rtlCol="0" anchor="t"/>
          <a:lstStyle/>
          <a:p>
            <a:pPr algn="ctr" indent="0" marL="0">
              <a:buNone/>
            </a:pPr>
            <a:r>
              <a:rPr lang="en-US" sz="1300" dirty="0">
                <a:solidFill>
                  <a:srgbClr val="6E6E73"/>
                </a:solidFill>
                <a:latin typeface="Helvetica Neue" pitchFamily="34" charset="0"/>
                <a:ea typeface="Helvetica Neue" pitchFamily="34" charset="-122"/>
                <a:cs typeface="Helvetica Neue" pitchFamily="34" charset="-120"/>
              </a:rPr>
              <a:t>↓  imports</a:t>
            </a:r>
            <a:endParaRPr lang="en-US" sz="1300" dirty="0"/>
          </a:p>
        </p:txBody>
      </p:sp>
      <p:sp>
        <p:nvSpPr>
          <p:cNvPr id="14" name="Shape 11"/>
          <p:cNvSpPr/>
          <p:nvPr/>
        </p:nvSpPr>
        <p:spPr>
          <a:xfrm>
            <a:off x="640080" y="3200400"/>
            <a:ext cx="10911535" cy="1371600"/>
          </a:xfrm>
          <a:prstGeom prst="roundRect">
            <a:avLst>
              <a:gd name="adj" fmla="val 12000"/>
            </a:avLst>
          </a:prstGeom>
          <a:solidFill>
            <a:srgbClr val="1D1D1F"/>
          </a:solidFill>
          <a:ln w="12700">
            <a:solidFill>
              <a:srgbClr val="1D1D1F"/>
            </a:solidFill>
            <a:prstDash val="solid"/>
          </a:ln>
          <a:effectLst>
            <a:outerShdw sx="100000" sy="100000" kx="0" ky="0" algn="bl" rotWithShape="0" blurRad="152400" dist="38100" dir="5400000">
              <a:srgbClr val="000000">
                <a:alpha val="10000"/>
              </a:srgbClr>
            </a:outerShdw>
          </a:effectLst>
        </p:spPr>
      </p:sp>
      <p:sp>
        <p:nvSpPr>
          <p:cNvPr id="15" name="Text 12"/>
          <p:cNvSpPr txBox="1"/>
          <p:nvPr/>
        </p:nvSpPr>
        <p:spPr>
          <a:xfrm>
            <a:off x="1051560" y="3401568"/>
            <a:ext cx="10088575" cy="411480"/>
          </a:xfrm>
          <a:prstGeom prst="rect">
            <a:avLst/>
          </a:prstGeom>
          <a:noFill/>
          <a:ln/>
        </p:spPr>
        <p:txBody>
          <a:bodyPr wrap="square" lIns="0" tIns="0" rIns="0" bIns="0" rtlCol="0" anchor="t"/>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ReportCore</a:t>
            </a:r>
            <a:endParaRPr lang="en-US" sz="2200" dirty="0"/>
          </a:p>
        </p:txBody>
      </p:sp>
      <p:sp>
        <p:nvSpPr>
          <p:cNvPr id="16" name="Text 13"/>
          <p:cNvSpPr txBox="1"/>
          <p:nvPr/>
        </p:nvSpPr>
        <p:spPr>
          <a:xfrm>
            <a:off x="1051560" y="3822192"/>
            <a:ext cx="10088575" cy="320040"/>
          </a:xfrm>
          <a:prstGeom prst="rect">
            <a:avLst/>
          </a:prstGeom>
          <a:noFill/>
          <a:ln/>
        </p:spPr>
        <p:txBody>
          <a:bodyPr wrap="square" lIns="0" tIns="0" rIns="0" bIns="0" rtlCol="0" anchor="t"/>
          <a:lstStyle/>
          <a:p>
            <a:pPr indent="0" marL="0">
              <a:buNone/>
            </a:pPr>
            <a:r>
              <a:rPr lang="en-US" sz="1300" dirty="0">
                <a:solidFill>
                  <a:srgbClr val="A1A1A6"/>
                </a:solidFill>
                <a:latin typeface="Helvetica Neue" pitchFamily="34" charset="0"/>
                <a:ea typeface="Helvetica Neue" pitchFamily="34" charset="-122"/>
                <a:cs typeface="Helvetica Neue" pitchFamily="34" charset="-120"/>
              </a:rPr>
              <a:t>a Swift package that imports only Foundation</a:t>
            </a:r>
            <a:endParaRPr lang="en-US" sz="1300" dirty="0"/>
          </a:p>
        </p:txBody>
      </p:sp>
      <p:sp>
        <p:nvSpPr>
          <p:cNvPr id="17" name="Text 14"/>
          <p:cNvSpPr txBox="1"/>
          <p:nvPr/>
        </p:nvSpPr>
        <p:spPr>
          <a:xfrm>
            <a:off x="1051560" y="4133088"/>
            <a:ext cx="10088575" cy="365760"/>
          </a:xfrm>
          <a:prstGeom prst="rect">
            <a:avLst/>
          </a:prstGeom>
          <a:noFill/>
          <a:ln/>
        </p:spPr>
        <p:txBody>
          <a:bodyPr wrap="square" lIns="0" tIns="0" rIns="0" bIns="0" rtlCol="0" anchor="t"/>
          <a:lstStyle/>
          <a:p>
            <a:pPr indent="0" marL="0">
              <a:buNone/>
            </a:pPr>
            <a:r>
              <a:rPr lang="en-US" sz="1500" dirty="0">
                <a:solidFill>
                  <a:srgbClr val="FFFFFF"/>
                </a:solidFill>
                <a:latin typeface="Helvetica Neue" pitchFamily="34" charset="0"/>
                <a:ea typeface="Helvetica Neue" pitchFamily="34" charset="-122"/>
                <a:cs typeface="Helvetica Neue" pitchFamily="34" charset="-120"/>
              </a:rPr>
              <a:t>Model · Ingestion · Rendering · Accessibility linter · Templates · Assistant prompts</a:t>
            </a:r>
            <a:endParaRPr lang="en-US" sz="1500" dirty="0"/>
          </a:p>
        </p:txBody>
      </p:sp>
      <p:sp>
        <p:nvSpPr>
          <p:cNvPr id="18" name="Text 15"/>
          <p:cNvSpPr txBox="1"/>
          <p:nvPr/>
        </p:nvSpPr>
        <p:spPr>
          <a:xfrm>
            <a:off x="640080" y="4892040"/>
            <a:ext cx="3393338" cy="320040"/>
          </a:xfrm>
          <a:prstGeom prst="rect">
            <a:avLst/>
          </a:prstGeom>
          <a:noFill/>
          <a:ln/>
        </p:spPr>
        <p:txBody>
          <a:bodyPr wrap="square" lIns="0" tIns="0" rIns="0" bIns="0" rtlCol="0" anchor="t"/>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Dependencies point one way</a:t>
            </a:r>
            <a:endParaRPr lang="en-US" sz="1600" dirty="0"/>
          </a:p>
        </p:txBody>
      </p:sp>
      <p:sp>
        <p:nvSpPr>
          <p:cNvPr id="19" name="Text 16"/>
          <p:cNvSpPr txBox="1"/>
          <p:nvPr/>
        </p:nvSpPr>
        <p:spPr>
          <a:xfrm>
            <a:off x="640080" y="5266944"/>
            <a:ext cx="3393338" cy="914400"/>
          </a:xfrm>
          <a:prstGeom prst="rect">
            <a:avLst/>
          </a:prstGeom>
          <a:noFill/>
          <a:ln/>
        </p:spPr>
        <p:txBody>
          <a:bodyPr wrap="square" lIns="0" tIns="0" rIns="0" bIns="0" rtlCol="0" anchor="t"/>
          <a:lstStyle/>
          <a:p>
            <a:pPr indent="0" marL="0">
              <a:buNone/>
            </a:pPr>
            <a:r>
              <a:rPr lang="en-US" sz="1350" dirty="0">
                <a:solidFill>
                  <a:srgbClr val="6E6E73"/>
                </a:solidFill>
                <a:latin typeface="Helvetica Neue" pitchFamily="34" charset="0"/>
                <a:ea typeface="Helvetica Neue" pitchFamily="34" charset="-122"/>
                <a:cs typeface="Helvetica Neue" pitchFamily="34" charset="-120"/>
              </a:rPr>
              <a:t>ReportCore has never heard of SwiftUI, AppKit or the network, and nothing below it imports anything above.</a:t>
            </a:r>
            <a:endParaRPr lang="en-US" sz="1350" dirty="0"/>
          </a:p>
        </p:txBody>
      </p:sp>
      <p:sp>
        <p:nvSpPr>
          <p:cNvPr id="20" name="Text 17"/>
          <p:cNvSpPr txBox="1"/>
          <p:nvPr/>
        </p:nvSpPr>
        <p:spPr>
          <a:xfrm>
            <a:off x="4399178" y="4892040"/>
            <a:ext cx="3393338" cy="320040"/>
          </a:xfrm>
          <a:prstGeom prst="rect">
            <a:avLst/>
          </a:prstGeom>
          <a:noFill/>
          <a:ln/>
        </p:spPr>
        <p:txBody>
          <a:bodyPr wrap="square" lIns="0" tIns="0" rIns="0" bIns="0" rtlCol="0" anchor="t"/>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Testable without a window</a:t>
            </a:r>
            <a:endParaRPr lang="en-US" sz="1600" dirty="0"/>
          </a:p>
        </p:txBody>
      </p:sp>
      <p:sp>
        <p:nvSpPr>
          <p:cNvPr id="21" name="Text 18"/>
          <p:cNvSpPr txBox="1"/>
          <p:nvPr/>
        </p:nvSpPr>
        <p:spPr>
          <a:xfrm>
            <a:off x="4399178" y="5266944"/>
            <a:ext cx="3393338" cy="914400"/>
          </a:xfrm>
          <a:prstGeom prst="rect">
            <a:avLst/>
          </a:prstGeom>
          <a:noFill/>
          <a:ln/>
        </p:spPr>
        <p:txBody>
          <a:bodyPr wrap="square" lIns="0" tIns="0" rIns="0" bIns="0" rtlCol="0" anchor="t"/>
          <a:lstStyle/>
          <a:p>
            <a:pPr indent="0" marL="0">
              <a:buNone/>
            </a:pPr>
            <a:r>
              <a:rPr lang="en-US" sz="1350" dirty="0">
                <a:solidFill>
                  <a:srgbClr val="6E6E73"/>
                </a:solidFill>
                <a:latin typeface="Helvetica Neue" pitchFamily="34" charset="0"/>
                <a:ea typeface="Helvetica Neue" pitchFamily="34" charset="-122"/>
                <a:cs typeface="Helvetica Neue" pitchFamily="34" charset="-120"/>
              </a:rPr>
              <a:t>Its ninety tests run in under a second, so the renderers and the linter stay cheap to change.</a:t>
            </a:r>
            <a:endParaRPr lang="en-US" sz="1350" dirty="0"/>
          </a:p>
        </p:txBody>
      </p:sp>
      <p:sp>
        <p:nvSpPr>
          <p:cNvPr id="22" name="Text 19"/>
          <p:cNvSpPr txBox="1"/>
          <p:nvPr/>
        </p:nvSpPr>
        <p:spPr>
          <a:xfrm>
            <a:off x="8158277" y="4892040"/>
            <a:ext cx="3393338" cy="320040"/>
          </a:xfrm>
          <a:prstGeom prst="rect">
            <a:avLst/>
          </a:prstGeom>
          <a:noFill/>
          <a:ln/>
        </p:spPr>
        <p:txBody>
          <a:bodyPr wrap="square" lIns="0" tIns="0" rIns="0" bIns="0" rtlCol="0" anchor="t"/>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One target away from iPad</a:t>
            </a:r>
            <a:endParaRPr lang="en-US" sz="1600" dirty="0"/>
          </a:p>
        </p:txBody>
      </p:sp>
      <p:sp>
        <p:nvSpPr>
          <p:cNvPr id="23" name="Text 20"/>
          <p:cNvSpPr txBox="1"/>
          <p:nvPr/>
        </p:nvSpPr>
        <p:spPr>
          <a:xfrm>
            <a:off x="8158277" y="5266944"/>
            <a:ext cx="3393338" cy="914400"/>
          </a:xfrm>
          <a:prstGeom prst="rect">
            <a:avLst/>
          </a:prstGeom>
          <a:noFill/>
          <a:ln/>
        </p:spPr>
        <p:txBody>
          <a:bodyPr wrap="square" lIns="0" tIns="0" rIns="0" bIns="0" rtlCol="0" anchor="t"/>
          <a:lstStyle/>
          <a:p>
            <a:pPr indent="0" marL="0">
              <a:buNone/>
            </a:pPr>
            <a:r>
              <a:rPr lang="en-US" sz="1350" dirty="0">
                <a:solidFill>
                  <a:srgbClr val="6E6E73"/>
                </a:solidFill>
                <a:latin typeface="Helvetica Neue" pitchFamily="34" charset="0"/>
                <a:ea typeface="Helvetica Neue" pitchFamily="34" charset="-122"/>
                <a:cs typeface="Helvetica Neue" pitchFamily="34" charset="-120"/>
              </a:rPr>
              <a:t>The package builds for iOS too. Only the views are specific to the Mac.</a:t>
            </a:r>
            <a:endParaRPr lang="en-US" sz="1350" dirty="0"/>
          </a:p>
        </p:txBody>
      </p:sp>
      <p:sp>
        <p:nvSpPr>
          <p:cNvPr id="24" name="Text 21"/>
          <p:cNvSpPr txBox="1"/>
          <p:nvPr/>
        </p:nvSpPr>
        <p:spPr>
          <a:xfrm>
            <a:off x="640080" y="6217920"/>
            <a:ext cx="10911535" cy="365760"/>
          </a:xfrm>
          <a:prstGeom prst="rect">
            <a:avLst/>
          </a:prstGeom>
          <a:noFill/>
          <a:ln/>
        </p:spPr>
        <p:txBody>
          <a:bodyPr wrap="square" lIns="0" tIns="0" rIns="0" bIns="0" rtlCol="0" anchor="t"/>
          <a:lstStyle/>
          <a:p>
            <a:pPr indent="0" marL="0">
              <a:buNone/>
            </a:pPr>
            <a:r>
              <a:rPr lang="en-US" sz="1300" i="1" dirty="0">
                <a:solidFill>
                  <a:srgbClr val="6E6E73"/>
                </a:solidFill>
                <a:latin typeface="Helvetica Neue" pitchFamily="34" charset="0"/>
                <a:ea typeface="Helvetica Neue" pitchFamily="34" charset="-122"/>
                <a:cs typeface="Helvetica Neue" pitchFamily="34" charset="-120"/>
              </a:rPr>
              <a:t>Swift 6 language mode throughout: a card is a Sendable value type, and the stores are main-actor observable objects.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11094415" y="6400800"/>
            <a:ext cx="640080" cy="274320"/>
          </a:xfrm>
          <a:prstGeom prst="rect">
            <a:avLst/>
          </a:prstGeom>
          <a:noFill/>
          <a:ln/>
        </p:spPr>
        <p:txBody>
          <a:bodyPr wrap="square" lIns="0" tIns="0" rIns="0" bIns="0" rtlCol="0" anchor="ctr"/>
          <a:lstStyle/>
          <a:p>
            <a:pPr algn="r" indent="0" marL="0">
              <a:buNone/>
            </a:pPr>
            <a:r>
              <a:rPr lang="en-US" sz="1000" dirty="0">
                <a:solidFill>
                  <a:srgbClr val="6E6E73"/>
                </a:solidFill>
                <a:latin typeface="Helvetica Neue" pitchFamily="34" charset="0"/>
                <a:ea typeface="Helvetica Neue" pitchFamily="34" charset="-122"/>
                <a:cs typeface="Helvetica Neue" pitchFamily="34" charset="-120"/>
              </a:rPr>
              <a:t>7</a:t>
            </a:r>
            <a:endParaRPr lang="en-US" sz="1000" dirty="0"/>
          </a:p>
        </p:txBody>
      </p:sp>
      <p:sp>
        <p:nvSpPr>
          <p:cNvPr id="4" name="Text 1"/>
          <p:cNvSpPr txBox="1"/>
          <p:nvPr/>
        </p:nvSpPr>
        <p:spPr>
          <a:xfrm>
            <a:off x="640080" y="274320"/>
            <a:ext cx="10911535" cy="274320"/>
          </a:xfrm>
          <a:prstGeom prst="rect">
            <a:avLst/>
          </a:prstGeom>
          <a:noFill/>
          <a:ln/>
        </p:spPr>
        <p:txBody>
          <a:bodyPr wrap="square" lIns="0" tIns="0" rIns="0" bIns="0" rtlCol="0" anchor="ctr"/>
          <a:lstStyle/>
          <a:p>
            <a:pPr indent="0" marL="0">
              <a:buNone/>
            </a:pPr>
            <a:r>
              <a:rPr lang="en-US" sz="1200" b="1" spc="150" kern="0" dirty="0">
                <a:solidFill>
                  <a:srgbClr val="6E6E73"/>
                </a:solidFill>
                <a:latin typeface="Helvetica Neue" pitchFamily="34" charset="0"/>
                <a:ea typeface="Helvetica Neue" pitchFamily="34" charset="-122"/>
                <a:cs typeface="Helvetica Neue" pitchFamily="34" charset="-120"/>
              </a:rPr>
              <a:t>PRINCIPLE 3</a:t>
            </a:r>
            <a:endParaRPr lang="en-US" sz="1200" dirty="0"/>
          </a:p>
        </p:txBody>
      </p:sp>
      <p:sp>
        <p:nvSpPr>
          <p:cNvPr id="5" name="Text 2"/>
          <p:cNvSpPr txBox="1"/>
          <p:nvPr/>
        </p:nvSpPr>
        <p:spPr>
          <a:xfrm>
            <a:off x="640080" y="502920"/>
            <a:ext cx="10911535" cy="822960"/>
          </a:xfrm>
          <a:prstGeom prst="rect">
            <a:avLst/>
          </a:prstGeom>
          <a:noFill/>
          <a:ln/>
        </p:spPr>
        <p:txBody>
          <a:bodyPr wrap="square" lIns="0" tIns="0" rIns="0" bIns="0" rtlCol="0" anchor="t"/>
          <a:lstStyle/>
          <a:p>
            <a:pPr indent="0" marL="0">
              <a:buNone/>
            </a:pPr>
            <a:r>
              <a:rPr lang="en-US" sz="3400" b="1" dirty="0">
                <a:solidFill>
                  <a:srgbClr val="1D1D1F"/>
                </a:solidFill>
                <a:latin typeface="Helvetica Neue" pitchFamily="34" charset="0"/>
                <a:ea typeface="Helvetica Neue" pitchFamily="34" charset="-122"/>
                <a:cs typeface="Helvetica Neue" pitchFamily="34" charset="-120"/>
              </a:rPr>
              <a:t>Accessibility you can experience, not just pass</a:t>
            </a:r>
            <a:endParaRPr lang="en-US" sz="3400" dirty="0"/>
          </a:p>
        </p:txBody>
      </p:sp>
      <p:sp>
        <p:nvSpPr>
          <p:cNvPr id="6" name="Shape 3"/>
          <p:cNvSpPr/>
          <p:nvPr/>
        </p:nvSpPr>
        <p:spPr>
          <a:xfrm>
            <a:off x="640080" y="1508760"/>
            <a:ext cx="3393338" cy="4754880"/>
          </a:xfrm>
          <a:prstGeom prst="roundRect">
            <a:avLst>
              <a:gd name="adj" fmla="val 4850"/>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pic>
        <p:nvPicPr>
          <p:cNvPr id="7" name="listen-crop.png" descr="The spoken transcript: each line as a screen reader would say it, the line being read marked with a speaker glyph, and “Image. No description.” in red.">    </p:cNvPr>
          <p:cNvPicPr>
            <a:picLocks noChangeAspect="1"/>
          </p:cNvPicPr>
          <p:nvPr/>
        </p:nvPicPr>
        <p:blipFill>
          <a:blip r:embed="rId1"/>
          <a:srcRect l="0" r="0" t="0" b="0"/>
          <a:stretch/>
        </p:blipFill>
        <p:spPr>
          <a:xfrm>
            <a:off x="777240" y="1645920"/>
            <a:ext cx="3119018" cy="2743200"/>
          </a:xfrm>
          <a:prstGeom prst="rect">
            <a:avLst/>
          </a:prstGeom>
        </p:spPr>
      </p:pic>
      <p:sp>
        <p:nvSpPr>
          <p:cNvPr id="8" name="Text 4"/>
          <p:cNvSpPr txBox="1"/>
          <p:nvPr/>
        </p:nvSpPr>
        <p:spPr>
          <a:xfrm>
            <a:off x="960120" y="4572000"/>
            <a:ext cx="2753258" cy="365760"/>
          </a:xfrm>
          <a:prstGeom prst="rect">
            <a:avLst/>
          </a:prstGeom>
          <a:noFill/>
          <a:ln/>
        </p:spPr>
        <p:txBody>
          <a:bodyPr wrap="square" lIns="0" tIns="0" rIns="0" bIns="0" rtlCol="0" anchor="t"/>
          <a:lstStyle/>
          <a:p>
            <a:pPr indent="0" marL="0">
              <a:buNone/>
            </a:pPr>
            <a:r>
              <a:rPr lang="en-US" sz="1800" b="1" dirty="0">
                <a:solidFill>
                  <a:srgbClr val="1D1D1F"/>
                </a:solidFill>
                <a:latin typeface="Helvetica Neue" pitchFamily="34" charset="0"/>
                <a:ea typeface="Helvetica Neue" pitchFamily="34" charset="-122"/>
                <a:cs typeface="Helvetica Neue" pitchFamily="34" charset="-120"/>
              </a:rPr>
              <a:t>Hear This Card</a:t>
            </a:r>
            <a:endParaRPr lang="en-US" sz="1800" dirty="0"/>
          </a:p>
        </p:txBody>
      </p:sp>
      <p:sp>
        <p:nvSpPr>
          <p:cNvPr id="9" name="Text 5"/>
          <p:cNvSpPr txBox="1"/>
          <p:nvPr/>
        </p:nvSpPr>
        <p:spPr>
          <a:xfrm>
            <a:off x="960120" y="4983480"/>
            <a:ext cx="2753258" cy="1188720"/>
          </a:xfrm>
          <a:prstGeom prst="rect">
            <a:avLst/>
          </a:prstGeom>
          <a:noFill/>
          <a:ln/>
        </p:spPr>
        <p:txBody>
          <a:bodyPr wrap="square" lIns="0" tIns="0" rIns="0" bIns="0" rtlCol="0" anchor="t"/>
          <a:lstStyle/>
          <a:p>
            <a:pPr indent="0" marL="0">
              <a:buNone/>
            </a:pPr>
            <a:r>
              <a:rPr lang="en-US" sz="1350" dirty="0">
                <a:solidFill>
                  <a:srgbClr val="6E6E73"/>
                </a:solidFill>
                <a:latin typeface="Helvetica Neue" pitchFamily="34" charset="0"/>
                <a:ea typeface="Helvetica Neue" pitchFamily="34" charset="-122"/>
                <a:cs typeface="Helvetica Neue" pitchFamily="34" charset="-120"/>
              </a:rPr>
              <a:t>Spoken the way a screen reader presents it, block by block. A missing description is a silence you can hear.</a:t>
            </a:r>
            <a:endParaRPr lang="en-US" sz="1350" dirty="0"/>
          </a:p>
        </p:txBody>
      </p:sp>
      <p:sp>
        <p:nvSpPr>
          <p:cNvPr id="10" name="Shape 6"/>
          <p:cNvSpPr/>
          <p:nvPr/>
        </p:nvSpPr>
        <p:spPr>
          <a:xfrm>
            <a:off x="4399178" y="1508760"/>
            <a:ext cx="3393338" cy="4754880"/>
          </a:xfrm>
          <a:prstGeom prst="roundRect">
            <a:avLst>
              <a:gd name="adj" fmla="val 4850"/>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pic>
        <p:nvPicPr>
          <p:cNvPr id="11" name="cvd-crop.png" descr="The card simulated as seen with deuteranopia: the green and red of the status and the change arrows are gone, but the arrows, the words and the numbers still carry the meaning.">    </p:cNvPr>
          <p:cNvPicPr>
            <a:picLocks noChangeAspect="1"/>
          </p:cNvPicPr>
          <p:nvPr/>
        </p:nvPicPr>
        <p:blipFill>
          <a:blip r:embed="rId2"/>
          <a:srcRect l="0" r="0" t="0" b="0"/>
          <a:stretch/>
        </p:blipFill>
        <p:spPr>
          <a:xfrm>
            <a:off x="4536338" y="1645920"/>
            <a:ext cx="3119018" cy="2743200"/>
          </a:xfrm>
          <a:prstGeom prst="rect">
            <a:avLst/>
          </a:prstGeom>
        </p:spPr>
      </p:pic>
      <p:sp>
        <p:nvSpPr>
          <p:cNvPr id="12" name="Text 7"/>
          <p:cNvSpPr txBox="1"/>
          <p:nvPr/>
        </p:nvSpPr>
        <p:spPr>
          <a:xfrm>
            <a:off x="4719218" y="4572000"/>
            <a:ext cx="2753258" cy="365760"/>
          </a:xfrm>
          <a:prstGeom prst="rect">
            <a:avLst/>
          </a:prstGeom>
          <a:noFill/>
          <a:ln/>
        </p:spPr>
        <p:txBody>
          <a:bodyPr wrap="square" lIns="0" tIns="0" rIns="0" bIns="0" rtlCol="0" anchor="t"/>
          <a:lstStyle/>
          <a:p>
            <a:pPr indent="0" marL="0">
              <a:buNone/>
            </a:pPr>
            <a:r>
              <a:rPr lang="en-US" sz="1800" b="1" dirty="0">
                <a:solidFill>
                  <a:srgbClr val="1D1D1F"/>
                </a:solidFill>
                <a:latin typeface="Helvetica Neue" pitchFamily="34" charset="0"/>
                <a:ea typeface="Helvetica Neue" pitchFamily="34" charset="-122"/>
                <a:cs typeface="Helvetica Neue" pitchFamily="34" charset="-120"/>
              </a:rPr>
              <a:t>Colour Vision</a:t>
            </a:r>
            <a:endParaRPr lang="en-US" sz="1800" dirty="0"/>
          </a:p>
        </p:txBody>
      </p:sp>
      <p:sp>
        <p:nvSpPr>
          <p:cNvPr id="13" name="Text 8"/>
          <p:cNvSpPr txBox="1"/>
          <p:nvPr/>
        </p:nvSpPr>
        <p:spPr>
          <a:xfrm>
            <a:off x="4719218" y="4983480"/>
            <a:ext cx="2753258" cy="1188720"/>
          </a:xfrm>
          <a:prstGeom prst="rect">
            <a:avLst/>
          </a:prstGeom>
          <a:noFill/>
          <a:ln/>
        </p:spPr>
        <p:txBody>
          <a:bodyPr wrap="square" lIns="0" tIns="0" rIns="0" bIns="0" rtlCol="0" anchor="t"/>
          <a:lstStyle/>
          <a:p>
            <a:pPr indent="0" marL="0">
              <a:buNone/>
            </a:pPr>
            <a:r>
              <a:rPr lang="en-US" sz="1350" dirty="0">
                <a:solidFill>
                  <a:srgbClr val="6E6E73"/>
                </a:solidFill>
                <a:latin typeface="Helvetica Neue" pitchFamily="34" charset="0"/>
                <a:ea typeface="Helvetica Neue" pitchFamily="34" charset="-122"/>
                <a:cs typeface="Helvetica Neue" pitchFamily="34" charset="-120"/>
              </a:rPr>
              <a:t>Protanopia, deuteranopia, tritanopia, no colour. Status and changes still read, because they are shapes and words.</a:t>
            </a:r>
            <a:endParaRPr lang="en-US" sz="1350" dirty="0"/>
          </a:p>
        </p:txBody>
      </p:sp>
      <p:sp>
        <p:nvSpPr>
          <p:cNvPr id="14" name="Shape 9"/>
          <p:cNvSpPr/>
          <p:nvPr/>
        </p:nvSpPr>
        <p:spPr>
          <a:xfrm>
            <a:off x="8158277" y="1508760"/>
            <a:ext cx="3393338" cy="4754880"/>
          </a:xfrm>
          <a:prstGeom prst="roundRect">
            <a:avLst>
              <a:gd name="adj" fmla="val 4850"/>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pic>
        <p:nvPicPr>
          <p:cNvPr id="15" name="checks-crop.png" descr="The Accessibility tab reporting Needs Attention with one error, and the issue beneath it: describe this image for people who cannot see it, or mark it decorative, citing WCAG 1.1.1.">    </p:cNvPr>
          <p:cNvPicPr>
            <a:picLocks noChangeAspect="1"/>
          </p:cNvPicPr>
          <p:nvPr/>
        </p:nvPicPr>
        <p:blipFill>
          <a:blip r:embed="rId3"/>
          <a:srcRect l="0" r="0" t="0" b="0"/>
          <a:stretch/>
        </p:blipFill>
        <p:spPr>
          <a:xfrm>
            <a:off x="8295437" y="1645920"/>
            <a:ext cx="3119018" cy="2743200"/>
          </a:xfrm>
          <a:prstGeom prst="rect">
            <a:avLst/>
          </a:prstGeom>
        </p:spPr>
      </p:pic>
      <p:sp>
        <p:nvSpPr>
          <p:cNvPr id="16" name="Text 10"/>
          <p:cNvSpPr txBox="1"/>
          <p:nvPr/>
        </p:nvSpPr>
        <p:spPr>
          <a:xfrm>
            <a:off x="8478317" y="4572000"/>
            <a:ext cx="2753258" cy="365760"/>
          </a:xfrm>
          <a:prstGeom prst="rect">
            <a:avLst/>
          </a:prstGeom>
          <a:noFill/>
          <a:ln/>
        </p:spPr>
        <p:txBody>
          <a:bodyPr wrap="square" lIns="0" tIns="0" rIns="0" bIns="0" rtlCol="0" anchor="t"/>
          <a:lstStyle/>
          <a:p>
            <a:pPr indent="0" marL="0">
              <a:buNone/>
            </a:pPr>
            <a:r>
              <a:rPr lang="en-US" sz="1800" b="1" dirty="0">
                <a:solidFill>
                  <a:srgbClr val="1D1D1F"/>
                </a:solidFill>
                <a:latin typeface="Helvetica Neue" pitchFamily="34" charset="0"/>
                <a:ea typeface="Helvetica Neue" pitchFamily="34" charset="-122"/>
                <a:cs typeface="Helvetica Neue" pitchFamily="34" charset="-120"/>
              </a:rPr>
              <a:t>Fourteen checks, live</a:t>
            </a:r>
            <a:endParaRPr lang="en-US" sz="1800" dirty="0"/>
          </a:p>
        </p:txBody>
      </p:sp>
      <p:sp>
        <p:nvSpPr>
          <p:cNvPr id="17" name="Text 11"/>
          <p:cNvSpPr txBox="1"/>
          <p:nvPr/>
        </p:nvSpPr>
        <p:spPr>
          <a:xfrm>
            <a:off x="8478317" y="4983480"/>
            <a:ext cx="2753258" cy="1188720"/>
          </a:xfrm>
          <a:prstGeom prst="rect">
            <a:avLst/>
          </a:prstGeom>
          <a:noFill/>
          <a:ln/>
        </p:spPr>
        <p:txBody>
          <a:bodyPr wrap="square" lIns="0" tIns="0" rIns="0" bIns="0" rtlCol="0" anchor="t"/>
          <a:lstStyle/>
          <a:p>
            <a:pPr indent="0" marL="0">
              <a:buNone/>
            </a:pPr>
            <a:r>
              <a:rPr lang="en-US" sz="1350" dirty="0">
                <a:solidFill>
                  <a:srgbClr val="6E6E73"/>
                </a:solidFill>
                <a:latin typeface="Helvetica Neue" pitchFamily="34" charset="0"/>
                <a:ea typeface="Helvetica Neue" pitchFamily="34" charset="-122"/>
                <a:cs typeface="Helvetica Neue" pitchFamily="34" charset="-120"/>
              </a:rPr>
              <a:t>Contrast, alt text, labels, headings, and language: “the red items”, long capitals, images that are mostly text (on-device OCR).</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11094415" y="6400800"/>
            <a:ext cx="640080" cy="274320"/>
          </a:xfrm>
          <a:prstGeom prst="rect">
            <a:avLst/>
          </a:prstGeom>
          <a:noFill/>
          <a:ln/>
        </p:spPr>
        <p:txBody>
          <a:bodyPr wrap="square" lIns="0" tIns="0" rIns="0" bIns="0" rtlCol="0" anchor="ctr"/>
          <a:lstStyle/>
          <a:p>
            <a:pPr algn="r" indent="0" marL="0">
              <a:buNone/>
            </a:pPr>
            <a:r>
              <a:rPr lang="en-US" sz="1000" dirty="0">
                <a:solidFill>
                  <a:srgbClr val="6E6E73"/>
                </a:solidFill>
                <a:latin typeface="Helvetica Neue" pitchFamily="34" charset="0"/>
                <a:ea typeface="Helvetica Neue" pitchFamily="34" charset="-122"/>
                <a:cs typeface="Helvetica Neue" pitchFamily="34" charset="-120"/>
              </a:rPr>
              <a:t>8</a:t>
            </a:r>
            <a:endParaRPr lang="en-US" sz="1000" dirty="0"/>
          </a:p>
        </p:txBody>
      </p:sp>
      <p:sp>
        <p:nvSpPr>
          <p:cNvPr id="4" name="Text 1"/>
          <p:cNvSpPr txBox="1"/>
          <p:nvPr/>
        </p:nvSpPr>
        <p:spPr>
          <a:xfrm>
            <a:off x="640080" y="274320"/>
            <a:ext cx="10911535" cy="274320"/>
          </a:xfrm>
          <a:prstGeom prst="rect">
            <a:avLst/>
          </a:prstGeom>
          <a:noFill/>
          <a:ln/>
        </p:spPr>
        <p:txBody>
          <a:bodyPr wrap="square" lIns="0" tIns="0" rIns="0" bIns="0" rtlCol="0" anchor="ctr"/>
          <a:lstStyle/>
          <a:p>
            <a:pPr indent="0" marL="0">
              <a:buNone/>
            </a:pPr>
            <a:r>
              <a:rPr lang="en-US" sz="1200" b="1" spc="150" kern="0" dirty="0">
                <a:solidFill>
                  <a:srgbClr val="6E6E73"/>
                </a:solidFill>
                <a:latin typeface="Helvetica Neue" pitchFamily="34" charset="0"/>
                <a:ea typeface="Helvetica Neue" pitchFamily="34" charset="-122"/>
                <a:cs typeface="Helvetica Neue" pitchFamily="34" charset="-120"/>
              </a:rPr>
              <a:t>ACCESSIBILITY, CONTINUED</a:t>
            </a:r>
            <a:endParaRPr lang="en-US" sz="1200" dirty="0"/>
          </a:p>
        </p:txBody>
      </p:sp>
      <p:sp>
        <p:nvSpPr>
          <p:cNvPr id="5" name="Text 2"/>
          <p:cNvSpPr txBox="1"/>
          <p:nvPr/>
        </p:nvSpPr>
        <p:spPr>
          <a:xfrm>
            <a:off x="640080" y="502920"/>
            <a:ext cx="10911535" cy="822960"/>
          </a:xfrm>
          <a:prstGeom prst="rect">
            <a:avLst/>
          </a:prstGeom>
          <a:noFill/>
          <a:ln/>
        </p:spPr>
        <p:txBody>
          <a:bodyPr wrap="square" lIns="0" tIns="0" rIns="0" bIns="0" rtlCol="0" anchor="t"/>
          <a:lstStyle/>
          <a:p>
            <a:pPr indent="0" marL="0">
              <a:buNone/>
            </a:pPr>
            <a:r>
              <a:rPr lang="en-US" sz="3400" b="1" dirty="0">
                <a:solidFill>
                  <a:srgbClr val="1D1D1F"/>
                </a:solidFill>
                <a:latin typeface="Helvetica Neue" pitchFamily="34" charset="0"/>
                <a:ea typeface="Helvetica Neue" pitchFamily="34" charset="-122"/>
                <a:cs typeface="Helvetica Neue" pitchFamily="34" charset="-120"/>
              </a:rPr>
              <a:t>For those who read it, and those who write it</a:t>
            </a:r>
            <a:endParaRPr lang="en-US" sz="3400" dirty="0"/>
          </a:p>
        </p:txBody>
      </p:sp>
      <p:sp>
        <p:nvSpPr>
          <p:cNvPr id="6" name="Shape 3"/>
          <p:cNvSpPr/>
          <p:nvPr/>
        </p:nvSpPr>
        <p:spPr>
          <a:xfrm>
            <a:off x="640080" y="1508760"/>
            <a:ext cx="5227168" cy="4709160"/>
          </a:xfrm>
          <a:prstGeom prst="roundRect">
            <a:avLst>
              <a:gd name="adj" fmla="val 3495"/>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7" name="Text 4"/>
          <p:cNvSpPr txBox="1"/>
          <p:nvPr/>
        </p:nvSpPr>
        <p:spPr>
          <a:xfrm>
            <a:off x="1005840" y="1783080"/>
            <a:ext cx="4495648" cy="365760"/>
          </a:xfrm>
          <a:prstGeom prst="rect">
            <a:avLst/>
          </a:prstGeom>
          <a:noFill/>
          <a:ln/>
        </p:spPr>
        <p:txBody>
          <a:bodyPr wrap="square" lIns="0" tIns="0" rIns="0" bIns="0" rtlCol="0" anchor="t"/>
          <a:lstStyle/>
          <a:p>
            <a:pPr indent="0" marL="0">
              <a:buNone/>
            </a:pPr>
            <a:r>
              <a:rPr lang="en-US" sz="1300" b="1" dirty="0">
                <a:solidFill>
                  <a:srgbClr val="6E6E73"/>
                </a:solidFill>
                <a:latin typeface="Helvetica Neue" pitchFamily="34" charset="0"/>
                <a:ea typeface="Helvetica Neue" pitchFamily="34" charset="-122"/>
                <a:cs typeface="Helvetica Neue" pitchFamily="34" charset="-120"/>
              </a:rPr>
              <a:t>For the reader</a:t>
            </a:r>
            <a:endParaRPr lang="en-US" sz="1300" dirty="0"/>
          </a:p>
        </p:txBody>
      </p:sp>
      <p:sp>
        <p:nvSpPr>
          <p:cNvPr id="8" name="Shape 5"/>
          <p:cNvSpPr/>
          <p:nvPr/>
        </p:nvSpPr>
        <p:spPr>
          <a:xfrm>
            <a:off x="1024128" y="2468880"/>
            <a:ext cx="146304" cy="146304"/>
          </a:xfrm>
          <a:prstGeom prst="ellipse">
            <a:avLst/>
          </a:prstGeom>
          <a:solidFill>
            <a:srgbClr val="0066CC"/>
          </a:solidFill>
          <a:ln w="12700">
            <a:solidFill>
              <a:srgbClr val="0066CC"/>
            </a:solidFill>
            <a:prstDash val="solid"/>
          </a:ln>
        </p:spPr>
      </p:sp>
      <p:sp>
        <p:nvSpPr>
          <p:cNvPr id="9" name="Text 6"/>
          <p:cNvSpPr txBox="1"/>
          <p:nvPr/>
        </p:nvSpPr>
        <p:spPr>
          <a:xfrm>
            <a:off x="1371600" y="2377440"/>
            <a:ext cx="4129888" cy="365760"/>
          </a:xfrm>
          <a:prstGeom prst="rect">
            <a:avLst/>
          </a:prstGeom>
          <a:noFill/>
          <a:ln/>
        </p:spPr>
        <p:txBody>
          <a:bodyPr wrap="square" lIns="0" tIns="0" rIns="0" bIns="0" rtlCol="0" anchor="t"/>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Large print</a:t>
            </a:r>
            <a:endParaRPr lang="en-US" sz="1700" dirty="0"/>
          </a:p>
        </p:txBody>
      </p:sp>
      <p:sp>
        <p:nvSpPr>
          <p:cNvPr id="10" name="Text 7"/>
          <p:cNvSpPr txBox="1"/>
          <p:nvPr/>
        </p:nvSpPr>
        <p:spPr>
          <a:xfrm>
            <a:off x="1371600" y="2761488"/>
            <a:ext cx="4129888" cy="731520"/>
          </a:xfrm>
          <a:prstGeom prst="rect">
            <a:avLst/>
          </a:prstGeom>
          <a:noFill/>
          <a:ln/>
        </p:spPr>
        <p:txBody>
          <a:bodyPr wrap="square" lIns="0" tIns="0" rIns="0" bIns="0" rtlCol="0" anchor="t"/>
          <a:lstStyle/>
          <a:p>
            <a:pPr indent="0" marL="0">
              <a:buNone/>
            </a:pPr>
            <a:r>
              <a:rPr lang="en-US" sz="1350" dirty="0">
                <a:solidFill>
                  <a:srgbClr val="6E6E73"/>
                </a:solidFill>
                <a:latin typeface="Helvetica Neue" pitchFamily="34" charset="0"/>
                <a:ea typeface="Helvetica Neue" pitchFamily="34" charset="-122"/>
                <a:cs typeface="Helvetica Neue" pitchFamily="34" charset="-120"/>
              </a:rPr>
              <a:t>Standard, Large, Extra Large. HTML, rich text, PNG and PDF all follow.</a:t>
            </a:r>
            <a:endParaRPr lang="en-US" sz="1350" dirty="0"/>
          </a:p>
        </p:txBody>
      </p:sp>
      <p:sp>
        <p:nvSpPr>
          <p:cNvPr id="11" name="Shape 8"/>
          <p:cNvSpPr/>
          <p:nvPr/>
        </p:nvSpPr>
        <p:spPr>
          <a:xfrm>
            <a:off x="1024128" y="3703320"/>
            <a:ext cx="146304" cy="146304"/>
          </a:xfrm>
          <a:prstGeom prst="ellipse">
            <a:avLst/>
          </a:prstGeom>
          <a:solidFill>
            <a:srgbClr val="0066CC"/>
          </a:solidFill>
          <a:ln w="12700">
            <a:solidFill>
              <a:srgbClr val="0066CC"/>
            </a:solidFill>
            <a:prstDash val="solid"/>
          </a:ln>
        </p:spPr>
      </p:sp>
      <p:sp>
        <p:nvSpPr>
          <p:cNvPr id="12" name="Text 9"/>
          <p:cNvSpPr txBox="1"/>
          <p:nvPr/>
        </p:nvSpPr>
        <p:spPr>
          <a:xfrm>
            <a:off x="1371600" y="3611880"/>
            <a:ext cx="4129888" cy="365760"/>
          </a:xfrm>
          <a:prstGeom prst="rect">
            <a:avLst/>
          </a:prstGeom>
          <a:noFill/>
          <a:ln/>
        </p:spPr>
        <p:txBody>
          <a:bodyPr wrap="square" lIns="0" tIns="0" rIns="0" bIns="0" rtlCol="0" anchor="t"/>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Tagged PDF</a:t>
            </a:r>
            <a:endParaRPr lang="en-US" sz="1700" dirty="0"/>
          </a:p>
        </p:txBody>
      </p:sp>
      <p:sp>
        <p:nvSpPr>
          <p:cNvPr id="13" name="Text 10"/>
          <p:cNvSpPr txBox="1"/>
          <p:nvPr/>
        </p:nvSpPr>
        <p:spPr>
          <a:xfrm>
            <a:off x="1371600" y="3995928"/>
            <a:ext cx="4129888" cy="731520"/>
          </a:xfrm>
          <a:prstGeom prst="rect">
            <a:avLst/>
          </a:prstGeom>
          <a:noFill/>
          <a:ln/>
        </p:spPr>
        <p:txBody>
          <a:bodyPr wrap="square" lIns="0" tIns="0" rIns="0" bIns="0" rtlCol="0" anchor="t"/>
          <a:lstStyle/>
          <a:p>
            <a:pPr indent="0" marL="0">
              <a:buNone/>
            </a:pPr>
            <a:r>
              <a:rPr lang="en-US" sz="1350" dirty="0">
                <a:solidFill>
                  <a:srgbClr val="6E6E73"/>
                </a:solidFill>
                <a:latin typeface="Helvetica Neue" pitchFamily="34" charset="0"/>
                <a:ea typeface="Helvetica Neue" pitchFamily="34" charset="-122"/>
                <a:cs typeface="Helvetica Neue" pitchFamily="34" charset="-120"/>
              </a:rPr>
              <a:t>Real text, H1/H2, lists, figures with alt text, document metadata.</a:t>
            </a:r>
            <a:endParaRPr lang="en-US" sz="1350" dirty="0"/>
          </a:p>
        </p:txBody>
      </p:sp>
      <p:sp>
        <p:nvSpPr>
          <p:cNvPr id="14" name="Shape 11"/>
          <p:cNvSpPr/>
          <p:nvPr/>
        </p:nvSpPr>
        <p:spPr>
          <a:xfrm>
            <a:off x="1024128" y="4937760"/>
            <a:ext cx="146304" cy="146304"/>
          </a:xfrm>
          <a:prstGeom prst="ellipse">
            <a:avLst/>
          </a:prstGeom>
          <a:solidFill>
            <a:srgbClr val="0066CC"/>
          </a:solidFill>
          <a:ln w="12700">
            <a:solidFill>
              <a:srgbClr val="0066CC"/>
            </a:solidFill>
            <a:prstDash val="solid"/>
          </a:ln>
        </p:spPr>
      </p:sp>
      <p:sp>
        <p:nvSpPr>
          <p:cNvPr id="15" name="Text 12"/>
          <p:cNvSpPr txBox="1"/>
          <p:nvPr/>
        </p:nvSpPr>
        <p:spPr>
          <a:xfrm>
            <a:off x="1371600" y="4846320"/>
            <a:ext cx="4129888" cy="365760"/>
          </a:xfrm>
          <a:prstGeom prst="rect">
            <a:avLst/>
          </a:prstGeom>
          <a:noFill/>
          <a:ln/>
        </p:spPr>
        <p:txBody>
          <a:bodyPr wrap="square" lIns="0" tIns="0" rIns="0" bIns="0" rtlCol="0" anchor="t"/>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Semantic email HTML</a:t>
            </a:r>
            <a:endParaRPr lang="en-US" sz="1700" dirty="0"/>
          </a:p>
        </p:txBody>
      </p:sp>
      <p:sp>
        <p:nvSpPr>
          <p:cNvPr id="16" name="Text 13"/>
          <p:cNvSpPr txBox="1"/>
          <p:nvPr/>
        </p:nvSpPr>
        <p:spPr>
          <a:xfrm>
            <a:off x="1371600" y="5230368"/>
            <a:ext cx="4129888" cy="731520"/>
          </a:xfrm>
          <a:prstGeom prst="rect">
            <a:avLst/>
          </a:prstGeom>
          <a:noFill/>
          <a:ln/>
        </p:spPr>
        <p:txBody>
          <a:bodyPr wrap="square" lIns="0" tIns="0" rIns="0" bIns="0" rtlCol="0" anchor="t"/>
          <a:lstStyle/>
          <a:p>
            <a:pPr indent="0" marL="0">
              <a:buNone/>
            </a:pPr>
            <a:r>
              <a:rPr lang="en-US" sz="1350" dirty="0">
                <a:solidFill>
                  <a:srgbClr val="6E6E73"/>
                </a:solidFill>
                <a:latin typeface="Helvetica Neue" pitchFamily="34" charset="0"/>
                <a:ea typeface="Helvetica Neue" pitchFamily="34" charset="-122"/>
                <a:cs typeface="Helvetica Neue" pitchFamily="34" charset="-120"/>
              </a:rPr>
              <a:t>Headings, table header scopes, hidden words for ▲ and ▼, status never by colour alone.</a:t>
            </a:r>
            <a:endParaRPr lang="en-US" sz="1350" dirty="0"/>
          </a:p>
        </p:txBody>
      </p:sp>
      <p:sp>
        <p:nvSpPr>
          <p:cNvPr id="17" name="Shape 14"/>
          <p:cNvSpPr/>
          <p:nvPr/>
        </p:nvSpPr>
        <p:spPr>
          <a:xfrm>
            <a:off x="6324448" y="1508760"/>
            <a:ext cx="5227168" cy="4709160"/>
          </a:xfrm>
          <a:prstGeom prst="roundRect">
            <a:avLst>
              <a:gd name="adj" fmla="val 3495"/>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18" name="Text 15"/>
          <p:cNvSpPr txBox="1"/>
          <p:nvPr/>
        </p:nvSpPr>
        <p:spPr>
          <a:xfrm>
            <a:off x="6690208" y="1783080"/>
            <a:ext cx="4495648" cy="365760"/>
          </a:xfrm>
          <a:prstGeom prst="rect">
            <a:avLst/>
          </a:prstGeom>
          <a:noFill/>
          <a:ln/>
        </p:spPr>
        <p:txBody>
          <a:bodyPr wrap="square" lIns="0" tIns="0" rIns="0" bIns="0" rtlCol="0" anchor="t"/>
          <a:lstStyle/>
          <a:p>
            <a:pPr indent="0" marL="0">
              <a:buNone/>
            </a:pPr>
            <a:r>
              <a:rPr lang="en-US" sz="1300" b="1" dirty="0">
                <a:solidFill>
                  <a:srgbClr val="6E6E73"/>
                </a:solidFill>
                <a:latin typeface="Helvetica Neue" pitchFamily="34" charset="0"/>
                <a:ea typeface="Helvetica Neue" pitchFamily="34" charset="-122"/>
                <a:cs typeface="Helvetica Neue" pitchFamily="34" charset="-120"/>
              </a:rPr>
              <a:t>For VoiceOver and keyboard users</a:t>
            </a:r>
            <a:endParaRPr lang="en-US" sz="1300" dirty="0"/>
          </a:p>
        </p:txBody>
      </p:sp>
      <p:sp>
        <p:nvSpPr>
          <p:cNvPr id="19" name="Shape 16"/>
          <p:cNvSpPr/>
          <p:nvPr/>
        </p:nvSpPr>
        <p:spPr>
          <a:xfrm>
            <a:off x="6708496" y="2468880"/>
            <a:ext cx="146304" cy="146304"/>
          </a:xfrm>
          <a:prstGeom prst="ellipse">
            <a:avLst/>
          </a:prstGeom>
          <a:solidFill>
            <a:srgbClr val="0066CC"/>
          </a:solidFill>
          <a:ln w="12700">
            <a:solidFill>
              <a:srgbClr val="0066CC"/>
            </a:solidFill>
            <a:prstDash val="solid"/>
          </a:ln>
        </p:spPr>
      </p:sp>
      <p:sp>
        <p:nvSpPr>
          <p:cNvPr id="20" name="Text 17"/>
          <p:cNvSpPr txBox="1"/>
          <p:nvPr/>
        </p:nvSpPr>
        <p:spPr>
          <a:xfrm>
            <a:off x="7055968" y="2377440"/>
            <a:ext cx="4129888" cy="365760"/>
          </a:xfrm>
          <a:prstGeom prst="rect">
            <a:avLst/>
          </a:prstGeom>
          <a:noFill/>
          <a:ln/>
        </p:spPr>
        <p:txBody>
          <a:bodyPr wrap="square" lIns="0" tIns="0" rIns="0" bIns="0" rtlCol="0" anchor="t"/>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Audio Graph</a:t>
            </a:r>
            <a:endParaRPr lang="en-US" sz="1700" dirty="0"/>
          </a:p>
        </p:txBody>
      </p:sp>
      <p:sp>
        <p:nvSpPr>
          <p:cNvPr id="21" name="Text 18"/>
          <p:cNvSpPr txBox="1"/>
          <p:nvPr/>
        </p:nvSpPr>
        <p:spPr>
          <a:xfrm>
            <a:off x="7055968" y="2761488"/>
            <a:ext cx="4129888" cy="731520"/>
          </a:xfrm>
          <a:prstGeom prst="rect">
            <a:avLst/>
          </a:prstGeom>
          <a:noFill/>
          <a:ln/>
        </p:spPr>
        <p:txBody>
          <a:bodyPr wrap="square" lIns="0" tIns="0" rIns="0" bIns="0" rtlCol="0" anchor="t"/>
          <a:lstStyle/>
          <a:p>
            <a:pPr indent="0" marL="0">
              <a:buNone/>
            </a:pPr>
            <a:r>
              <a:rPr lang="en-US" sz="1350" dirty="0">
                <a:solidFill>
                  <a:srgbClr val="6E6E73"/>
                </a:solidFill>
                <a:latin typeface="Helvetica Neue" pitchFamily="34" charset="0"/>
                <a:ea typeface="Helvetica Neue" pitchFamily="34" charset="-122"/>
                <a:cs typeface="Helvetica Neue" pitchFamily="34" charset="-120"/>
              </a:rPr>
              <a:t>A metric's trend plays as pitch through AXChartDescriptor, as in Stocks and Health.</a:t>
            </a:r>
            <a:endParaRPr lang="en-US" sz="1350" dirty="0"/>
          </a:p>
        </p:txBody>
      </p:sp>
      <p:sp>
        <p:nvSpPr>
          <p:cNvPr id="22" name="Shape 19"/>
          <p:cNvSpPr/>
          <p:nvPr/>
        </p:nvSpPr>
        <p:spPr>
          <a:xfrm>
            <a:off x="6708496" y="3703320"/>
            <a:ext cx="146304" cy="146304"/>
          </a:xfrm>
          <a:prstGeom prst="ellipse">
            <a:avLst/>
          </a:prstGeom>
          <a:solidFill>
            <a:srgbClr val="0066CC"/>
          </a:solidFill>
          <a:ln w="12700">
            <a:solidFill>
              <a:srgbClr val="0066CC"/>
            </a:solidFill>
            <a:prstDash val="solid"/>
          </a:ln>
        </p:spPr>
      </p:sp>
      <p:sp>
        <p:nvSpPr>
          <p:cNvPr id="23" name="Text 20"/>
          <p:cNvSpPr txBox="1"/>
          <p:nvPr/>
        </p:nvSpPr>
        <p:spPr>
          <a:xfrm>
            <a:off x="7055968" y="3611880"/>
            <a:ext cx="4129888" cy="365760"/>
          </a:xfrm>
          <a:prstGeom prst="rect">
            <a:avLst/>
          </a:prstGeom>
          <a:noFill/>
          <a:ln/>
        </p:spPr>
        <p:txBody>
          <a:bodyPr wrap="square" lIns="0" tIns="0" rIns="0" bIns="0" rtlCol="0" anchor="t"/>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Rotor and actions</a:t>
            </a:r>
            <a:endParaRPr lang="en-US" sz="1700" dirty="0"/>
          </a:p>
        </p:txBody>
      </p:sp>
      <p:sp>
        <p:nvSpPr>
          <p:cNvPr id="24" name="Text 21"/>
          <p:cNvSpPr txBox="1"/>
          <p:nvPr/>
        </p:nvSpPr>
        <p:spPr>
          <a:xfrm>
            <a:off x="7055968" y="3995928"/>
            <a:ext cx="4129888" cy="731520"/>
          </a:xfrm>
          <a:prstGeom prst="rect">
            <a:avLst/>
          </a:prstGeom>
          <a:noFill/>
          <a:ln/>
        </p:spPr>
        <p:txBody>
          <a:bodyPr wrap="square" lIns="0" tIns="0" rIns="0" bIns="0" rtlCol="0" anchor="t"/>
          <a:lstStyle/>
          <a:p>
            <a:pPr indent="0" marL="0">
              <a:buNone/>
            </a:pPr>
            <a:r>
              <a:rPr lang="en-US" sz="1350" dirty="0">
                <a:solidFill>
                  <a:srgbClr val="6E6E73"/>
                </a:solidFill>
                <a:latin typeface="Helvetica Neue" pitchFamily="34" charset="0"/>
                <a:ea typeface="Helvetica Neue" pitchFamily="34" charset="-122"/>
                <a:cs typeface="Helvetica Neue" pitchFamily="34" charset="-120"/>
              </a:rPr>
              <a:t>A Blocks rotor; Move Up, Move Down, Format, Delete on every block.</a:t>
            </a:r>
            <a:endParaRPr lang="en-US" sz="1350" dirty="0"/>
          </a:p>
        </p:txBody>
      </p:sp>
      <p:sp>
        <p:nvSpPr>
          <p:cNvPr id="25" name="Shape 22"/>
          <p:cNvSpPr/>
          <p:nvPr/>
        </p:nvSpPr>
        <p:spPr>
          <a:xfrm>
            <a:off x="6708496" y="4937760"/>
            <a:ext cx="146304" cy="146304"/>
          </a:xfrm>
          <a:prstGeom prst="ellipse">
            <a:avLst/>
          </a:prstGeom>
          <a:solidFill>
            <a:srgbClr val="0066CC"/>
          </a:solidFill>
          <a:ln w="12700">
            <a:solidFill>
              <a:srgbClr val="0066CC"/>
            </a:solidFill>
            <a:prstDash val="solid"/>
          </a:ln>
        </p:spPr>
      </p:sp>
      <p:sp>
        <p:nvSpPr>
          <p:cNvPr id="26" name="Text 23"/>
          <p:cNvSpPr txBox="1"/>
          <p:nvPr/>
        </p:nvSpPr>
        <p:spPr>
          <a:xfrm>
            <a:off x="7055968" y="4846320"/>
            <a:ext cx="4129888" cy="365760"/>
          </a:xfrm>
          <a:prstGeom prst="rect">
            <a:avLst/>
          </a:prstGeom>
          <a:noFill/>
          <a:ln/>
        </p:spPr>
        <p:txBody>
          <a:bodyPr wrap="square" lIns="0" tIns="0" rIns="0" bIns="0" rtlCol="0" anchor="t"/>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System settings honoured</a:t>
            </a:r>
            <a:endParaRPr lang="en-US" sz="1700" dirty="0"/>
          </a:p>
        </p:txBody>
      </p:sp>
      <p:sp>
        <p:nvSpPr>
          <p:cNvPr id="27" name="Text 24"/>
          <p:cNvSpPr txBox="1"/>
          <p:nvPr/>
        </p:nvSpPr>
        <p:spPr>
          <a:xfrm>
            <a:off x="7055968" y="5230368"/>
            <a:ext cx="4129888" cy="731520"/>
          </a:xfrm>
          <a:prstGeom prst="rect">
            <a:avLst/>
          </a:prstGeom>
          <a:noFill/>
          <a:ln/>
        </p:spPr>
        <p:txBody>
          <a:bodyPr wrap="square" lIns="0" tIns="0" rIns="0" bIns="0" rtlCol="0" anchor="t"/>
          <a:lstStyle/>
          <a:p>
            <a:pPr indent="0" marL="0">
              <a:buNone/>
            </a:pPr>
            <a:r>
              <a:rPr lang="en-US" sz="1350" dirty="0">
                <a:solidFill>
                  <a:srgbClr val="6E6E73"/>
                </a:solidFill>
                <a:latin typeface="Helvetica Neue" pitchFamily="34" charset="0"/>
                <a:ea typeface="Helvetica Neue" pitchFamily="34" charset="-122"/>
                <a:cs typeface="Helvetica Neue" pitchFamily="34" charset="-120"/>
              </a:rPr>
              <a:t>Differentiate Without Colour, Increase Contrast, Reduce Transparency, Reduce Motion. Undo and Redo.</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11094415" y="6400800"/>
            <a:ext cx="640080" cy="274320"/>
          </a:xfrm>
          <a:prstGeom prst="rect">
            <a:avLst/>
          </a:prstGeom>
          <a:noFill/>
          <a:ln/>
        </p:spPr>
        <p:txBody>
          <a:bodyPr wrap="square" lIns="0" tIns="0" rIns="0" bIns="0" rtlCol="0" anchor="ctr"/>
          <a:lstStyle/>
          <a:p>
            <a:pPr algn="r" indent="0" marL="0">
              <a:buNone/>
            </a:pPr>
            <a:r>
              <a:rPr lang="en-US" sz="1000" dirty="0">
                <a:solidFill>
                  <a:srgbClr val="6E6E73"/>
                </a:solidFill>
                <a:latin typeface="Helvetica Neue" pitchFamily="34" charset="0"/>
                <a:ea typeface="Helvetica Neue" pitchFamily="34" charset="-122"/>
                <a:cs typeface="Helvetica Neue" pitchFamily="34" charset="-120"/>
              </a:rPr>
              <a:t>9</a:t>
            </a:r>
            <a:endParaRPr lang="en-US" sz="1000" dirty="0"/>
          </a:p>
        </p:txBody>
      </p:sp>
      <p:sp>
        <p:nvSpPr>
          <p:cNvPr id="4" name="Text 1"/>
          <p:cNvSpPr txBox="1"/>
          <p:nvPr/>
        </p:nvSpPr>
        <p:spPr>
          <a:xfrm>
            <a:off x="640080" y="274320"/>
            <a:ext cx="10911535" cy="274320"/>
          </a:xfrm>
          <a:prstGeom prst="rect">
            <a:avLst/>
          </a:prstGeom>
          <a:noFill/>
          <a:ln/>
        </p:spPr>
        <p:txBody>
          <a:bodyPr wrap="square" lIns="0" tIns="0" rIns="0" bIns="0" rtlCol="0" anchor="ctr"/>
          <a:lstStyle/>
          <a:p>
            <a:pPr indent="0" marL="0">
              <a:buNone/>
            </a:pPr>
            <a:r>
              <a:rPr lang="en-US" sz="1200" b="1" spc="150" kern="0" dirty="0">
                <a:solidFill>
                  <a:srgbClr val="6E6E73"/>
                </a:solidFill>
                <a:latin typeface="Helvetica Neue" pitchFamily="34" charset="0"/>
                <a:ea typeface="Helvetica Neue" pitchFamily="34" charset="-122"/>
                <a:cs typeface="Helvetica Neue" pitchFamily="34" charset="-120"/>
              </a:rPr>
              <a:t>AI ASSISTANCE  ·  OPT-IN</a:t>
            </a:r>
            <a:endParaRPr lang="en-US" sz="1200" dirty="0"/>
          </a:p>
        </p:txBody>
      </p:sp>
      <p:sp>
        <p:nvSpPr>
          <p:cNvPr id="5" name="Text 2"/>
          <p:cNvSpPr txBox="1"/>
          <p:nvPr/>
        </p:nvSpPr>
        <p:spPr>
          <a:xfrm>
            <a:off x="640080" y="502920"/>
            <a:ext cx="10911535" cy="822960"/>
          </a:xfrm>
          <a:prstGeom prst="rect">
            <a:avLst/>
          </a:prstGeom>
          <a:noFill/>
          <a:ln/>
        </p:spPr>
        <p:txBody>
          <a:bodyPr wrap="square" lIns="0" tIns="0" rIns="0" bIns="0" rtlCol="0" anchor="t"/>
          <a:lstStyle/>
          <a:p>
            <a:pPr indent="0" marL="0">
              <a:buNone/>
            </a:pPr>
            <a:r>
              <a:rPr lang="en-US" sz="3400" b="1" dirty="0">
                <a:solidFill>
                  <a:srgbClr val="1D1D1F"/>
                </a:solidFill>
                <a:latin typeface="Helvetica Neue" pitchFamily="34" charset="0"/>
                <a:ea typeface="Helvetica Neue" pitchFamily="34" charset="-122"/>
                <a:cs typeface="Helvetica Neue" pitchFamily="34" charset="-120"/>
              </a:rPr>
              <a:t>New Card from Notes: the brief's first sentence</a:t>
            </a:r>
            <a:endParaRPr lang="en-US" sz="3400" dirty="0"/>
          </a:p>
        </p:txBody>
      </p:sp>
      <p:sp>
        <p:nvSpPr>
          <p:cNvPr id="6" name="Shape 3"/>
          <p:cNvSpPr/>
          <p:nvPr/>
        </p:nvSpPr>
        <p:spPr>
          <a:xfrm>
            <a:off x="640080" y="1508760"/>
            <a:ext cx="6766560" cy="4709160"/>
          </a:xfrm>
          <a:prstGeom prst="roundRect">
            <a:avLst>
              <a:gd name="adj" fmla="val 3495"/>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pic>
        <p:nvPicPr>
          <p:cNvPr id="7" name="draft.png" descr="New Card from Notes: rough meeting notes on the left, and on the right the drafted card with a title, status, summary, highlights, metrics, risks and next steps, above a line saying all fourteen accessibility checks passed.">    </p:cNvPr>
          <p:cNvPicPr>
            <a:picLocks noChangeAspect="1"/>
          </p:cNvPicPr>
          <p:nvPr/>
        </p:nvPicPr>
        <p:blipFill>
          <a:blip r:embed="rId1"/>
          <a:srcRect l="0" r="0" t="0" b="0"/>
          <a:stretch/>
        </p:blipFill>
        <p:spPr>
          <a:xfrm>
            <a:off x="777240" y="1645920"/>
            <a:ext cx="6492240" cy="4434840"/>
          </a:xfrm>
          <a:prstGeom prst="rect">
            <a:avLst/>
          </a:prstGeom>
        </p:spPr>
      </p:pic>
      <p:sp>
        <p:nvSpPr>
          <p:cNvPr id="8" name="Text 4"/>
          <p:cNvSpPr txBox="1"/>
          <p:nvPr/>
        </p:nvSpPr>
        <p:spPr>
          <a:xfrm>
            <a:off x="7772400" y="1600200"/>
            <a:ext cx="3779215" cy="4206240"/>
          </a:xfrm>
          <a:prstGeom prst="rect">
            <a:avLst/>
          </a:prstGeom>
          <a:noFill/>
          <a:ln/>
        </p:spPr>
        <p:txBody>
          <a:bodyPr wrap="square" lIns="0" tIns="0" rIns="0" bIns="0" rtlCol="0" anchor="t"/>
          <a:lstStyle/>
          <a:p>
            <a:pPr marL="203200" indent="-203200">
              <a:spcAft>
                <a:spcPts val="1200"/>
              </a:spcAft>
              <a:buSzPct val="100000"/>
              <a:buChar char="•"/>
            </a:pPr>
            <a:r>
              <a:rPr lang="en-US" sz="1500" dirty="0">
                <a:solidFill>
                  <a:srgbClr val="1D1D1F"/>
                </a:solidFill>
                <a:latin typeface="Helvetica Neue" pitchFamily="34" charset="0"/>
                <a:ea typeface="Helvetica Neue" pitchFamily="34" charset="-122"/>
                <a:cs typeface="Helvetica Neue" pitchFamily="34" charset="-120"/>
              </a:rPr>
              <a:t>Rough notes in; title, status, highlights, metrics, risks, next steps out</a:t>
            </a:r>
            <a:endParaRPr lang="en-US" sz="1500" dirty="0"/>
          </a:p>
          <a:p>
            <a:pPr marL="203200" indent="-203200">
              <a:spcAft>
                <a:spcPts val="1200"/>
              </a:spcAft>
              <a:buSzPct val="100000"/>
              <a:buChar char="•"/>
            </a:pPr>
            <a:r>
              <a:rPr lang="en-US" sz="1500" dirty="0">
                <a:solidFill>
                  <a:srgbClr val="1D1D1F"/>
                </a:solidFill>
                <a:latin typeface="Helvetica Neue" pitchFamily="34" charset="0"/>
                <a:ea typeface="Helvetica Neue" pitchFamily="34" charset="-122"/>
                <a:cs typeface="Helvetica Neue" pitchFamily="34" charset="-120"/>
              </a:rPr>
              <a:t>The reply is untrusted input: parsed, bounded, mapped, then linted</a:t>
            </a:r>
            <a:endParaRPr lang="en-US" sz="1500" dirty="0"/>
          </a:p>
          <a:p>
            <a:pPr marL="203200" indent="-203200">
              <a:spcAft>
                <a:spcPts val="1200"/>
              </a:spcAft>
              <a:buSzPct val="100000"/>
              <a:buChar char="•"/>
            </a:pPr>
            <a:r>
              <a:rPr lang="en-US" sz="1500" dirty="0">
                <a:solidFill>
                  <a:srgbClr val="1D1D1F"/>
                </a:solidFill>
                <a:latin typeface="Helvetica Neue" pitchFamily="34" charset="0"/>
                <a:ea typeface="Helvetica Neue" pitchFamily="34" charset="-122"/>
                <a:cs typeface="Helvetica Neue" pitchFamily="34" charset="-120"/>
              </a:rPr>
              <a:t>Nothing is saved until Create; “check every number”</a:t>
            </a:r>
            <a:endParaRPr lang="en-US" sz="1500" dirty="0"/>
          </a:p>
          <a:p>
            <a:pPr marL="203200" indent="-203200">
              <a:spcAft>
                <a:spcPts val="1200"/>
              </a:spcAft>
              <a:buSzPct val="100000"/>
              <a:buChar char="•"/>
            </a:pPr>
            <a:r>
              <a:rPr lang="en-US" sz="1500" dirty="0">
                <a:solidFill>
                  <a:srgbClr val="1D1D1F"/>
                </a:solidFill>
                <a:latin typeface="Helvetica Neue" pitchFamily="34" charset="0"/>
                <a:ea typeface="Helvetica Neue" pitchFamily="34" charset="-122"/>
                <a:cs typeface="Helvetica Neue" pitchFamily="34" charset="-120"/>
              </a:rPr>
              <a:t>Refine a text block: concise, formal, grammar. One undo step</a:t>
            </a:r>
            <a:endParaRPr lang="en-US" sz="1500" dirty="0"/>
          </a:p>
          <a:p>
            <a:pPr marL="203200" indent="-203200">
              <a:spcAft>
                <a:spcPts val="1200"/>
              </a:spcAft>
              <a:buSzPct val="100000"/>
              <a:buChar char="•"/>
            </a:pPr>
            <a:r>
              <a:rPr lang="en-US" sz="1500" dirty="0">
                <a:solidFill>
                  <a:srgbClr val="1D1D1F"/>
                </a:solidFill>
                <a:latin typeface="Helvetica Neue" pitchFamily="34" charset="0"/>
                <a:ea typeface="Helvetica Neue" pitchFamily="34" charset="-122"/>
                <a:cs typeface="Helvetica Neue" pitchFamily="34" charset="-120"/>
              </a:rPr>
              <a:t>Not rebuilt: the system's Writing Tools already work in every field</a:t>
            </a:r>
            <a:endParaRPr lang="en-US" sz="1500" dirty="0"/>
          </a:p>
        </p:txBody>
      </p:sp>
      <p:sp>
        <p:nvSpPr>
          <p:cNvPr id="9" name="Text 5"/>
          <p:cNvSpPr txBox="1"/>
          <p:nvPr/>
        </p:nvSpPr>
        <p:spPr>
          <a:xfrm>
            <a:off x="7772400" y="5715000"/>
            <a:ext cx="3779215" cy="365760"/>
          </a:xfrm>
          <a:prstGeom prst="rect">
            <a:avLst/>
          </a:prstGeom>
          <a:noFill/>
          <a:ln/>
        </p:spPr>
        <p:txBody>
          <a:bodyPr wrap="square" lIns="0" tIns="0" rIns="0" bIns="0" rtlCol="0" anchor="t"/>
          <a:lstStyle/>
          <a:p>
            <a:pPr indent="0" marL="0">
              <a:buNone/>
            </a:pPr>
            <a:r>
              <a:rPr lang="en-US" sz="1400" b="1" dirty="0">
                <a:solidFill>
                  <a:srgbClr val="0066CC"/>
                </a:solidFill>
                <a:latin typeface="Helvetica Neue" pitchFamily="34" charset="0"/>
                <a:ea typeface="Helvetica Neue" pitchFamily="34" charset="-122"/>
                <a:cs typeface="Helvetica Neue" pitchFamily="34" charset="-120"/>
              </a:rPr>
              <a:t>Provider-agnostic: on-device first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11094415" y="6400800"/>
            <a:ext cx="640080" cy="274320"/>
          </a:xfrm>
          <a:prstGeom prst="rect">
            <a:avLst/>
          </a:prstGeom>
          <a:noFill/>
          <a:ln/>
        </p:spPr>
        <p:txBody>
          <a:bodyPr wrap="square" lIns="0" tIns="0" rIns="0" bIns="0" rtlCol="0" anchor="ctr"/>
          <a:lstStyle/>
          <a:p>
            <a:pPr algn="r" indent="0" marL="0">
              <a:buNone/>
            </a:pPr>
            <a:r>
              <a:rPr lang="en-US" sz="1000" dirty="0">
                <a:solidFill>
                  <a:srgbClr val="6E6E73"/>
                </a:solidFill>
                <a:latin typeface="Helvetica Neue" pitchFamily="34" charset="0"/>
                <a:ea typeface="Helvetica Neue" pitchFamily="34" charset="-122"/>
                <a:cs typeface="Helvetica Neue" pitchFamily="34" charset="-120"/>
              </a:rPr>
              <a:t>10</a:t>
            </a:r>
            <a:endParaRPr lang="en-US" sz="1000" dirty="0"/>
          </a:p>
        </p:txBody>
      </p:sp>
      <p:sp>
        <p:nvSpPr>
          <p:cNvPr id="4" name="Text 1"/>
          <p:cNvSpPr txBox="1"/>
          <p:nvPr/>
        </p:nvSpPr>
        <p:spPr>
          <a:xfrm>
            <a:off x="640080" y="274320"/>
            <a:ext cx="10911535" cy="274320"/>
          </a:xfrm>
          <a:prstGeom prst="rect">
            <a:avLst/>
          </a:prstGeom>
          <a:noFill/>
          <a:ln/>
        </p:spPr>
        <p:txBody>
          <a:bodyPr wrap="square" lIns="0" tIns="0" rIns="0" bIns="0" rtlCol="0" anchor="ctr"/>
          <a:lstStyle/>
          <a:p>
            <a:pPr indent="0" marL="0">
              <a:buNone/>
            </a:pPr>
            <a:r>
              <a:rPr lang="en-US" sz="1200" b="1" spc="150" kern="0" dirty="0">
                <a:solidFill>
                  <a:srgbClr val="6E6E73"/>
                </a:solidFill>
                <a:latin typeface="Helvetica Neue" pitchFamily="34" charset="0"/>
                <a:ea typeface="Helvetica Neue" pitchFamily="34" charset="-122"/>
                <a:cs typeface="Helvetica Neue" pitchFamily="34" charset="-120"/>
              </a:rPr>
              <a:t>AI ASSISTANCE  ·  DATA RISK</a:t>
            </a:r>
            <a:endParaRPr lang="en-US" sz="1200" dirty="0"/>
          </a:p>
        </p:txBody>
      </p:sp>
      <p:sp>
        <p:nvSpPr>
          <p:cNvPr id="5" name="Text 2"/>
          <p:cNvSpPr txBox="1"/>
          <p:nvPr/>
        </p:nvSpPr>
        <p:spPr>
          <a:xfrm>
            <a:off x="640080" y="502920"/>
            <a:ext cx="10911535" cy="822960"/>
          </a:xfrm>
          <a:prstGeom prst="rect">
            <a:avLst/>
          </a:prstGeom>
          <a:noFill/>
          <a:ln/>
        </p:spPr>
        <p:txBody>
          <a:bodyPr wrap="square" lIns="0" tIns="0" rIns="0" bIns="0" rtlCol="0" anchor="t"/>
          <a:lstStyle/>
          <a:p>
            <a:pPr indent="0" marL="0">
              <a:buNone/>
            </a:pPr>
            <a:r>
              <a:rPr lang="en-US" sz="3400" b="1" dirty="0">
                <a:solidFill>
                  <a:srgbClr val="1D1D1F"/>
                </a:solidFill>
                <a:latin typeface="Helvetica Neue" pitchFamily="34" charset="0"/>
                <a:ea typeface="Helvetica Neue" pitchFamily="34" charset="-122"/>
                <a:cs typeface="Helvetica Neue" pitchFamily="34" charset="-120"/>
              </a:rPr>
              <a:t>For this exercise only: not how I would ship it</a:t>
            </a:r>
            <a:endParaRPr lang="en-US" sz="3400" dirty="0"/>
          </a:p>
        </p:txBody>
      </p:sp>
      <p:sp>
        <p:nvSpPr>
          <p:cNvPr id="6" name="Shape 3"/>
          <p:cNvSpPr/>
          <p:nvPr/>
        </p:nvSpPr>
        <p:spPr>
          <a:xfrm>
            <a:off x="640080" y="1463040"/>
            <a:ext cx="10911535" cy="960120"/>
          </a:xfrm>
          <a:prstGeom prst="roundRect">
            <a:avLst>
              <a:gd name="adj" fmla="val 17143"/>
            </a:avLst>
          </a:prstGeom>
          <a:solidFill>
            <a:srgbClr val="FFF1F0"/>
          </a:solidFill>
          <a:ln w="12700">
            <a:solidFill>
              <a:srgbClr val="FFF1F0"/>
            </a:solidFill>
            <a:prstDash val="solid"/>
          </a:ln>
          <a:effectLst>
            <a:outerShdw sx="100000" sy="100000" kx="0" ky="0" algn="bl" rotWithShape="0" blurRad="152400" dist="38100" dir="5400000">
              <a:srgbClr val="000000">
                <a:alpha val="10000"/>
              </a:srgbClr>
            </a:outerShdw>
          </a:effectLst>
        </p:spPr>
      </p:sp>
      <p:sp>
        <p:nvSpPr>
          <p:cNvPr id="7" name="Text 4"/>
          <p:cNvSpPr txBox="1"/>
          <p:nvPr/>
        </p:nvSpPr>
        <p:spPr>
          <a:xfrm>
            <a:off x="1005840" y="1627632"/>
            <a:ext cx="10180015" cy="685800"/>
          </a:xfrm>
          <a:prstGeom prst="rect">
            <a:avLst/>
          </a:prstGeom>
          <a:noFill/>
          <a:ln/>
        </p:spPr>
        <p:txBody>
          <a:bodyPr wrap="square" lIns="0" tIns="0" rIns="0" bIns="0" rtlCol="0" anchor="t"/>
          <a:lstStyle/>
          <a:p>
            <a:pPr indent="0" marL="0">
              <a:buNone/>
            </a:pPr>
            <a:r>
              <a:rPr lang="en-US" sz="1550" b="1" dirty="0">
                <a:solidFill>
                  <a:srgbClr val="8A0F14"/>
                </a:solidFill>
                <a:latin typeface="Helvetica Neue" pitchFamily="34" charset="0"/>
                <a:ea typeface="Helvetica Neue" pitchFamily="34" charset="-122"/>
                <a:cs typeface="Helvetica Neue" pitchFamily="34" charset="-120"/>
              </a:rPr>
              <a:t>Sending real project data to a public third-party model is not acceptable in a real business setting. The demo uses a public API only because my Mac (macOS 15) cannot run the on-device model.</a:t>
            </a:r>
            <a:endParaRPr lang="en-US" sz="1550" dirty="0"/>
          </a:p>
        </p:txBody>
      </p:sp>
      <p:sp>
        <p:nvSpPr>
          <p:cNvPr id="8" name="Shape 5"/>
          <p:cNvSpPr/>
          <p:nvPr/>
        </p:nvSpPr>
        <p:spPr>
          <a:xfrm>
            <a:off x="640080" y="2651760"/>
            <a:ext cx="5227168" cy="3611880"/>
          </a:xfrm>
          <a:prstGeom prst="roundRect">
            <a:avLst>
              <a:gd name="adj" fmla="val 4557"/>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9" name="Text 6"/>
          <p:cNvSpPr txBox="1"/>
          <p:nvPr/>
        </p:nvSpPr>
        <p:spPr>
          <a:xfrm>
            <a:off x="1005840" y="2834640"/>
            <a:ext cx="4495648" cy="365760"/>
          </a:xfrm>
          <a:prstGeom prst="rect">
            <a:avLst/>
          </a:prstGeom>
          <a:noFill/>
          <a:ln/>
        </p:spPr>
        <p:txBody>
          <a:bodyPr wrap="square" lIns="0" tIns="0" rIns="0" bIns="0" rtlCol="0" anchor="t"/>
          <a:lstStyle/>
          <a:p>
            <a:pPr indent="0" marL="0">
              <a:buNone/>
            </a:pPr>
            <a:r>
              <a:rPr lang="en-US" sz="1700" b="1" dirty="0">
                <a:solidFill>
                  <a:srgbClr val="D70015"/>
                </a:solidFill>
                <a:latin typeface="Helvetica Neue" pitchFamily="34" charset="0"/>
                <a:ea typeface="Helvetica Neue" pitchFamily="34" charset="-122"/>
                <a:cs typeface="Helvetica Neue" pitchFamily="34" charset="-120"/>
              </a:rPr>
              <a:t>Why it is a risk</a:t>
            </a:r>
            <a:endParaRPr lang="en-US" sz="1700" dirty="0"/>
          </a:p>
        </p:txBody>
      </p:sp>
      <p:sp>
        <p:nvSpPr>
          <p:cNvPr id="10" name="Text 7"/>
          <p:cNvSpPr txBox="1"/>
          <p:nvPr/>
        </p:nvSpPr>
        <p:spPr>
          <a:xfrm>
            <a:off x="1005840" y="3291840"/>
            <a:ext cx="4495648" cy="283464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1D1D1F"/>
                </a:solidFill>
                <a:latin typeface="Helvetica Neue" pitchFamily="34" charset="0"/>
                <a:ea typeface="Helvetica Neue" pitchFamily="34" charset="-122"/>
                <a:cs typeface="Helvetica Neue" pitchFamily="34" charset="-120"/>
              </a:rPr>
              <a:t>Confidentiality: plans, names, financials, incidents leave the organisation</a:t>
            </a:r>
            <a:endParaRPr lang="en-US" sz="1350" dirty="0"/>
          </a:p>
          <a:p>
            <a:pPr marL="203200" indent="-203200">
              <a:spcAft>
                <a:spcPts val="600"/>
              </a:spcAft>
              <a:buSzPct val="100000"/>
              <a:buChar char="•"/>
            </a:pPr>
            <a:r>
              <a:rPr lang="en-US" sz="1350" dirty="0">
                <a:solidFill>
                  <a:srgbClr val="1D1D1F"/>
                </a:solidFill>
                <a:latin typeface="Helvetica Neue" pitchFamily="34" charset="0"/>
                <a:ea typeface="Helvetica Neue" pitchFamily="34" charset="-122"/>
                <a:cs typeface="Helvetica Neue" pitchFamily="34" charset="-120"/>
              </a:rPr>
              <a:t>Provider's retention and training terms, provider's jurisdiction</a:t>
            </a:r>
            <a:endParaRPr lang="en-US" sz="1350" dirty="0"/>
          </a:p>
          <a:p>
            <a:pPr marL="203200" indent="-203200">
              <a:spcAft>
                <a:spcPts val="600"/>
              </a:spcAft>
              <a:buSzPct val="100000"/>
              <a:buChar char="•"/>
            </a:pPr>
            <a:r>
              <a:rPr lang="en-US" sz="1350" dirty="0">
                <a:solidFill>
                  <a:srgbClr val="1D1D1F"/>
                </a:solidFill>
                <a:latin typeface="Helvetica Neue" pitchFamily="34" charset="0"/>
                <a:ea typeface="Helvetica Neue" pitchFamily="34" charset="-122"/>
                <a:cs typeface="Helvetica Neue" pitchFamily="34" charset="-120"/>
              </a:rPr>
              <a:t>No DPA, vendor security review, data residency or audit trail</a:t>
            </a:r>
            <a:endParaRPr lang="en-US" sz="1350" dirty="0"/>
          </a:p>
          <a:p>
            <a:pPr marL="203200" indent="-203200">
              <a:spcAft>
                <a:spcPts val="600"/>
              </a:spcAft>
              <a:buSzPct val="100000"/>
              <a:buChar char="•"/>
            </a:pPr>
            <a:r>
              <a:rPr lang="en-US" sz="1350" dirty="0">
                <a:solidFill>
                  <a:srgbClr val="1D1D1F"/>
                </a:solidFill>
                <a:latin typeface="Helvetica Neue" pitchFamily="34" charset="0"/>
                <a:ea typeface="Helvetica Neue" pitchFamily="34" charset="-122"/>
                <a:cs typeface="Helvetica Neue" pitchFamily="34" charset="-120"/>
              </a:rPr>
              <a:t>Prompt injection via pasted notes; confident wrong numbers</a:t>
            </a:r>
            <a:endParaRPr lang="en-US" sz="1350" dirty="0"/>
          </a:p>
          <a:p>
            <a:pPr marL="203200" indent="-203200">
              <a:spcAft>
                <a:spcPts val="600"/>
              </a:spcAft>
              <a:buSzPct val="100000"/>
              <a:buChar char="•"/>
            </a:pPr>
            <a:r>
              <a:rPr lang="en-US" sz="1350" dirty="0">
                <a:solidFill>
                  <a:srgbClr val="1D1D1F"/>
                </a:solidFill>
                <a:latin typeface="Helvetica Neue" pitchFamily="34" charset="0"/>
                <a:ea typeface="Helvetica Neue" pitchFamily="34" charset="-122"/>
                <a:cs typeface="Helvetica Neue" pitchFamily="34" charset="-120"/>
              </a:rPr>
              <a:t>A personal API key on a laptop is not an enterprise credential</a:t>
            </a:r>
            <a:endParaRPr lang="en-US" sz="1350" dirty="0"/>
          </a:p>
        </p:txBody>
      </p:sp>
      <p:sp>
        <p:nvSpPr>
          <p:cNvPr id="11" name="Shape 8"/>
          <p:cNvSpPr/>
          <p:nvPr/>
        </p:nvSpPr>
        <p:spPr>
          <a:xfrm>
            <a:off x="6324448" y="2651760"/>
            <a:ext cx="5227168" cy="3611880"/>
          </a:xfrm>
          <a:prstGeom prst="roundRect">
            <a:avLst>
              <a:gd name="adj" fmla="val 4557"/>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12" name="Text 9"/>
          <p:cNvSpPr txBox="1"/>
          <p:nvPr/>
        </p:nvSpPr>
        <p:spPr>
          <a:xfrm>
            <a:off x="6690208" y="2834640"/>
            <a:ext cx="4495648" cy="365760"/>
          </a:xfrm>
          <a:prstGeom prst="rect">
            <a:avLst/>
          </a:prstGeom>
          <a:noFill/>
          <a:ln/>
        </p:spPr>
        <p:txBody>
          <a:bodyPr wrap="square" lIns="0" tIns="0" rIns="0" bIns="0" rtlCol="0" anchor="t"/>
          <a:lstStyle/>
          <a:p>
            <a:pPr indent="0" marL="0">
              <a:buNone/>
            </a:pPr>
            <a:r>
              <a:rPr lang="en-US" sz="1700" b="1" dirty="0">
                <a:solidFill>
                  <a:srgbClr val="248A3D"/>
                </a:solidFill>
                <a:latin typeface="Helvetica Neue" pitchFamily="34" charset="0"/>
                <a:ea typeface="Helvetica Neue" pitchFamily="34" charset="-122"/>
                <a:cs typeface="Helvetica Neue" pitchFamily="34" charset="-120"/>
              </a:rPr>
              <a:t>What I would ship instead</a:t>
            </a:r>
            <a:endParaRPr lang="en-US" sz="1700" dirty="0"/>
          </a:p>
        </p:txBody>
      </p:sp>
      <p:sp>
        <p:nvSpPr>
          <p:cNvPr id="13" name="Text 10"/>
          <p:cNvSpPr txBox="1"/>
          <p:nvPr/>
        </p:nvSpPr>
        <p:spPr>
          <a:xfrm>
            <a:off x="6690208" y="3291840"/>
            <a:ext cx="4495648" cy="283464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1D1D1F"/>
                </a:solidFill>
                <a:latin typeface="Helvetica Neue" pitchFamily="34" charset="0"/>
                <a:ea typeface="Helvetica Neue" pitchFamily="34" charset="-122"/>
                <a:cs typeface="Helvetica Neue" pitchFamily="34" charset="-120"/>
              </a:rPr>
              <a:t>On-device first: Apple Foundation Models, nothing leaves the Mac</a:t>
            </a:r>
            <a:endParaRPr lang="en-US" sz="1350" dirty="0"/>
          </a:p>
          <a:p>
            <a:pPr marL="203200" indent="-203200">
              <a:spcAft>
                <a:spcPts val="600"/>
              </a:spcAft>
              <a:buSzPct val="100000"/>
              <a:buChar char="•"/>
            </a:pPr>
            <a:r>
              <a:rPr lang="en-US" sz="1350" dirty="0">
                <a:solidFill>
                  <a:srgbClr val="1D1D1F"/>
                </a:solidFill>
                <a:latin typeface="Helvetica Neue" pitchFamily="34" charset="0"/>
                <a:ea typeface="Helvetica Neue" pitchFamily="34" charset="-122"/>
                <a:cs typeface="Helvetica Neue" pitchFamily="34" charset="-120"/>
              </a:rPr>
              <a:t>Otherwise an approved internal gateway: auth, redaction/DLP, logging</a:t>
            </a:r>
            <a:endParaRPr lang="en-US" sz="1350" dirty="0"/>
          </a:p>
          <a:p>
            <a:pPr marL="203200" indent="-203200">
              <a:spcAft>
                <a:spcPts val="600"/>
              </a:spcAft>
              <a:buSzPct val="100000"/>
              <a:buChar char="•"/>
            </a:pPr>
            <a:r>
              <a:rPr lang="en-US" sz="1350" dirty="0">
                <a:solidFill>
                  <a:srgbClr val="1D1D1F"/>
                </a:solidFill>
                <a:latin typeface="Helvetica Neue" pitchFamily="34" charset="0"/>
                <a:ea typeface="Helvetica Neue" pitchFamily="34" charset="-122"/>
                <a:cs typeface="Helvetica Neue" pitchFamily="34" charset="-120"/>
              </a:rPr>
              <a:t>Already built: endpoint and model are configuration, not code</a:t>
            </a:r>
            <a:endParaRPr lang="en-US" sz="1350" dirty="0"/>
          </a:p>
          <a:p>
            <a:pPr marL="203200" indent="-203200">
              <a:spcAft>
                <a:spcPts val="600"/>
              </a:spcAft>
              <a:buSzPct val="100000"/>
              <a:buChar char="•"/>
            </a:pPr>
            <a:r>
              <a:rPr lang="en-US" sz="1350" dirty="0">
                <a:solidFill>
                  <a:srgbClr val="1D1D1F"/>
                </a:solidFill>
                <a:latin typeface="Helvetica Neue" pitchFamily="34" charset="0"/>
                <a:ea typeface="Helvetica Neue" pitchFamily="34" charset="-122"/>
                <a:cs typeface="Helvetica Neue" pitchFamily="34" charset="-120"/>
              </a:rPr>
              <a:t>Already built: off by default, consent per host, key in the Keychain, HTTPS only</a:t>
            </a:r>
            <a:endParaRPr lang="en-US" sz="1350" dirty="0"/>
          </a:p>
          <a:p>
            <a:pPr marL="203200" indent="-203200">
              <a:spcAft>
                <a:spcPts val="600"/>
              </a:spcAft>
              <a:buSzPct val="100000"/>
              <a:buChar char="•"/>
            </a:pPr>
            <a:r>
              <a:rPr lang="en-US" sz="1350" dirty="0">
                <a:solidFill>
                  <a:srgbClr val="1D1D1F"/>
                </a:solidFill>
                <a:latin typeface="Helvetica Neue" pitchFamily="34" charset="0"/>
                <a:ea typeface="Helvetica Neue" pitchFamily="34" charset="-122"/>
                <a:cs typeface="Helvetica Neue" pitchFamily="34" charset="-120"/>
              </a:rPr>
              <a:t>Already built: one build flag removes the feature and the network entitlement</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11094415" y="6400800"/>
            <a:ext cx="640080" cy="274320"/>
          </a:xfrm>
          <a:prstGeom prst="rect">
            <a:avLst/>
          </a:prstGeom>
          <a:noFill/>
          <a:ln/>
        </p:spPr>
        <p:txBody>
          <a:bodyPr wrap="square" lIns="0" tIns="0" rIns="0" bIns="0" rtlCol="0" anchor="ctr"/>
          <a:lstStyle/>
          <a:p>
            <a:pPr algn="r" indent="0" marL="0">
              <a:buNone/>
            </a:pPr>
            <a:r>
              <a:rPr lang="en-US" sz="1000" dirty="0">
                <a:solidFill>
                  <a:srgbClr val="6E6E73"/>
                </a:solidFill>
                <a:latin typeface="Helvetica Neue" pitchFamily="34" charset="0"/>
                <a:ea typeface="Helvetica Neue" pitchFamily="34" charset="-122"/>
                <a:cs typeface="Helvetica Neue" pitchFamily="34" charset="-120"/>
              </a:rPr>
              <a:t>11</a:t>
            </a:r>
            <a:endParaRPr lang="en-US" sz="1000" dirty="0"/>
          </a:p>
        </p:txBody>
      </p:sp>
      <p:sp>
        <p:nvSpPr>
          <p:cNvPr id="4" name="Text 1"/>
          <p:cNvSpPr txBox="1"/>
          <p:nvPr/>
        </p:nvSpPr>
        <p:spPr>
          <a:xfrm>
            <a:off x="640080" y="274320"/>
            <a:ext cx="10911535" cy="274320"/>
          </a:xfrm>
          <a:prstGeom prst="rect">
            <a:avLst/>
          </a:prstGeom>
          <a:noFill/>
          <a:ln/>
        </p:spPr>
        <p:txBody>
          <a:bodyPr wrap="square" lIns="0" tIns="0" rIns="0" bIns="0" rtlCol="0" anchor="ctr"/>
          <a:lstStyle/>
          <a:p>
            <a:pPr indent="0" marL="0">
              <a:buNone/>
            </a:pPr>
            <a:r>
              <a:rPr lang="en-US" sz="1200" b="1" spc="150" kern="0" dirty="0">
                <a:solidFill>
                  <a:srgbClr val="6E6E73"/>
                </a:solidFill>
                <a:latin typeface="Helvetica Neue" pitchFamily="34" charset="0"/>
                <a:ea typeface="Helvetica Neue" pitchFamily="34" charset="-122"/>
                <a:cs typeface="Helvetica Neue" pitchFamily="34" charset="-120"/>
              </a:rPr>
              <a:t>TESTING</a:t>
            </a:r>
            <a:endParaRPr lang="en-US" sz="1200" dirty="0"/>
          </a:p>
        </p:txBody>
      </p:sp>
      <p:sp>
        <p:nvSpPr>
          <p:cNvPr id="5" name="Text 2"/>
          <p:cNvSpPr txBox="1"/>
          <p:nvPr/>
        </p:nvSpPr>
        <p:spPr>
          <a:xfrm>
            <a:off x="640080" y="502920"/>
            <a:ext cx="10911535" cy="822960"/>
          </a:xfrm>
          <a:prstGeom prst="rect">
            <a:avLst/>
          </a:prstGeom>
          <a:noFill/>
          <a:ln/>
        </p:spPr>
        <p:txBody>
          <a:bodyPr wrap="square" lIns="0" tIns="0" rIns="0" bIns="0" rtlCol="0" anchor="t"/>
          <a:lstStyle/>
          <a:p>
            <a:pPr indent="0" marL="0">
              <a:buNone/>
            </a:pPr>
            <a:r>
              <a:rPr lang="en-US" sz="3400" b="1" dirty="0">
                <a:solidFill>
                  <a:srgbClr val="1D1D1F"/>
                </a:solidFill>
                <a:latin typeface="Helvetica Neue" pitchFamily="34" charset="0"/>
                <a:ea typeface="Helvetica Neue" pitchFamily="34" charset="-122"/>
                <a:cs typeface="Helvetica Neue" pitchFamily="34" charset="-120"/>
              </a:rPr>
              <a:t>Fast where it is cheap, honest where it is not</a:t>
            </a:r>
            <a:endParaRPr lang="en-US" sz="3400" dirty="0"/>
          </a:p>
        </p:txBody>
      </p:sp>
      <p:sp>
        <p:nvSpPr>
          <p:cNvPr id="6" name="Shape 3"/>
          <p:cNvSpPr/>
          <p:nvPr/>
        </p:nvSpPr>
        <p:spPr>
          <a:xfrm>
            <a:off x="640080" y="1417320"/>
            <a:ext cx="2487854" cy="2240280"/>
          </a:xfrm>
          <a:prstGeom prst="roundRect">
            <a:avLst>
              <a:gd name="adj" fmla="val 7347"/>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7" name="Text 4"/>
          <p:cNvSpPr txBox="1"/>
          <p:nvPr/>
        </p:nvSpPr>
        <p:spPr>
          <a:xfrm>
            <a:off x="914400" y="1572768"/>
            <a:ext cx="1939214" cy="685800"/>
          </a:xfrm>
          <a:prstGeom prst="rect">
            <a:avLst/>
          </a:prstGeom>
          <a:noFill/>
          <a:ln/>
        </p:spPr>
        <p:txBody>
          <a:bodyPr wrap="square" lIns="0" tIns="0" rIns="0" bIns="0" rtlCol="0" anchor="t"/>
          <a:lstStyle/>
          <a:p>
            <a:pPr indent="0" marL="0">
              <a:buNone/>
            </a:pPr>
            <a:r>
              <a:rPr lang="en-US" sz="4000" b="1" dirty="0">
                <a:solidFill>
                  <a:srgbClr val="0066CC"/>
                </a:solidFill>
                <a:latin typeface="Helvetica Neue" pitchFamily="34" charset="0"/>
                <a:ea typeface="Helvetica Neue" pitchFamily="34" charset="-122"/>
                <a:cs typeface="Helvetica Neue" pitchFamily="34" charset="-120"/>
              </a:rPr>
              <a:t>90</a:t>
            </a:r>
            <a:endParaRPr lang="en-US" sz="4000" dirty="0"/>
          </a:p>
        </p:txBody>
      </p:sp>
      <p:sp>
        <p:nvSpPr>
          <p:cNvPr id="8" name="Text 5"/>
          <p:cNvSpPr txBox="1"/>
          <p:nvPr/>
        </p:nvSpPr>
        <p:spPr>
          <a:xfrm>
            <a:off x="914400" y="2249424"/>
            <a:ext cx="1939214" cy="320040"/>
          </a:xfrm>
          <a:prstGeom prst="rect">
            <a:avLst/>
          </a:prstGeom>
          <a:noFill/>
          <a:ln/>
        </p:spPr>
        <p:txBody>
          <a:bodyPr wrap="square" lIns="0" tIns="0" rIns="0" bIns="0" rtlCol="0" anchor="t"/>
          <a:lstStyle/>
          <a:p>
            <a:pPr indent="0" marL="0">
              <a:buNone/>
            </a:pPr>
            <a:r>
              <a:rPr lang="en-US" sz="1500" b="1" dirty="0">
                <a:solidFill>
                  <a:srgbClr val="1D1D1F"/>
                </a:solidFill>
                <a:latin typeface="Helvetica Neue" pitchFamily="34" charset="0"/>
                <a:ea typeface="Helvetica Neue" pitchFamily="34" charset="-122"/>
                <a:cs typeface="Helvetica Neue" pitchFamily="34" charset="-120"/>
              </a:rPr>
              <a:t>core unit tests</a:t>
            </a:r>
            <a:endParaRPr lang="en-US" sz="1500" dirty="0"/>
          </a:p>
        </p:txBody>
      </p:sp>
      <p:sp>
        <p:nvSpPr>
          <p:cNvPr id="9" name="Text 6"/>
          <p:cNvSpPr txBox="1"/>
          <p:nvPr/>
        </p:nvSpPr>
        <p:spPr>
          <a:xfrm>
            <a:off x="914400" y="2615184"/>
            <a:ext cx="1939214" cy="914400"/>
          </a:xfrm>
          <a:prstGeom prst="rect">
            <a:avLst/>
          </a:prstGeom>
          <a:noFill/>
          <a:ln/>
        </p:spPr>
        <p:txBody>
          <a:bodyPr wrap="square" lIns="0" tIns="0" rIns="0" bIns="0" rtlCol="0" anchor="t"/>
          <a:lstStyle/>
          <a:p>
            <a:pPr indent="0" marL="0">
              <a:buNone/>
            </a:pPr>
            <a:r>
              <a:rPr lang="en-US" sz="1250" dirty="0">
                <a:solidFill>
                  <a:srgbClr val="6E6E73"/>
                </a:solidFill>
                <a:latin typeface="Helvetica Neue" pitchFamily="34" charset="0"/>
                <a:ea typeface="Helvetica Neue" pitchFamily="34" charset="-122"/>
                <a:cs typeface="Helvetica Neue" pitchFamily="34" charset="-120"/>
              </a:rPr>
              <a:t>Parsers, renderers, contrast maths, the fourteen linter rules, the draft parser. Under one second.</a:t>
            </a:r>
            <a:endParaRPr lang="en-US" sz="1250" dirty="0"/>
          </a:p>
        </p:txBody>
      </p:sp>
      <p:sp>
        <p:nvSpPr>
          <p:cNvPr id="10" name="Shape 7"/>
          <p:cNvSpPr/>
          <p:nvPr/>
        </p:nvSpPr>
        <p:spPr>
          <a:xfrm>
            <a:off x="3447974" y="1417320"/>
            <a:ext cx="2487854" cy="2240280"/>
          </a:xfrm>
          <a:prstGeom prst="roundRect">
            <a:avLst>
              <a:gd name="adj" fmla="val 7347"/>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11" name="Text 8"/>
          <p:cNvSpPr txBox="1"/>
          <p:nvPr/>
        </p:nvSpPr>
        <p:spPr>
          <a:xfrm>
            <a:off x="3722294" y="1572768"/>
            <a:ext cx="1939214" cy="685800"/>
          </a:xfrm>
          <a:prstGeom prst="rect">
            <a:avLst/>
          </a:prstGeom>
          <a:noFill/>
          <a:ln/>
        </p:spPr>
        <p:txBody>
          <a:bodyPr wrap="square" lIns="0" tIns="0" rIns="0" bIns="0" rtlCol="0" anchor="t"/>
          <a:lstStyle/>
          <a:p>
            <a:pPr indent="0" marL="0">
              <a:buNone/>
            </a:pPr>
            <a:r>
              <a:rPr lang="en-US" sz="4000" b="1" dirty="0">
                <a:solidFill>
                  <a:srgbClr val="0066CC"/>
                </a:solidFill>
                <a:latin typeface="Helvetica Neue" pitchFamily="34" charset="0"/>
                <a:ea typeface="Helvetica Neue" pitchFamily="34" charset="-122"/>
                <a:cs typeface="Helvetica Neue" pitchFamily="34" charset="-120"/>
              </a:rPr>
              <a:t>47</a:t>
            </a:r>
            <a:endParaRPr lang="en-US" sz="4000" dirty="0"/>
          </a:p>
        </p:txBody>
      </p:sp>
      <p:sp>
        <p:nvSpPr>
          <p:cNvPr id="12" name="Text 9"/>
          <p:cNvSpPr txBox="1"/>
          <p:nvPr/>
        </p:nvSpPr>
        <p:spPr>
          <a:xfrm>
            <a:off x="3722294" y="2249424"/>
            <a:ext cx="1939214" cy="320040"/>
          </a:xfrm>
          <a:prstGeom prst="rect">
            <a:avLst/>
          </a:prstGeom>
          <a:noFill/>
          <a:ln/>
        </p:spPr>
        <p:txBody>
          <a:bodyPr wrap="square" lIns="0" tIns="0" rIns="0" bIns="0" rtlCol="0" anchor="t"/>
          <a:lstStyle/>
          <a:p>
            <a:pPr indent="0" marL="0">
              <a:buNone/>
            </a:pPr>
            <a:r>
              <a:rPr lang="en-US" sz="1500" b="1" dirty="0">
                <a:solidFill>
                  <a:srgbClr val="1D1D1F"/>
                </a:solidFill>
                <a:latin typeface="Helvetica Neue" pitchFamily="34" charset="0"/>
                <a:ea typeface="Helvetica Neue" pitchFamily="34" charset="-122"/>
                <a:cs typeface="Helvetica Neue" pitchFamily="34" charset="-120"/>
              </a:rPr>
              <a:t>app unit tests</a:t>
            </a:r>
            <a:endParaRPr lang="en-US" sz="1500" dirty="0"/>
          </a:p>
        </p:txBody>
      </p:sp>
      <p:sp>
        <p:nvSpPr>
          <p:cNvPr id="13" name="Text 10"/>
          <p:cNvSpPr txBox="1"/>
          <p:nvPr/>
        </p:nvSpPr>
        <p:spPr>
          <a:xfrm>
            <a:off x="3722294" y="2615184"/>
            <a:ext cx="1939214" cy="914400"/>
          </a:xfrm>
          <a:prstGeom prst="rect">
            <a:avLst/>
          </a:prstGeom>
          <a:noFill/>
          <a:ln/>
        </p:spPr>
        <p:txBody>
          <a:bodyPr wrap="square" lIns="0" tIns="0" rIns="0" bIns="0" rtlCol="0" anchor="t"/>
          <a:lstStyle/>
          <a:p>
            <a:pPr indent="0" marL="0">
              <a:buNone/>
            </a:pPr>
            <a:r>
              <a:rPr lang="en-US" sz="1250" dirty="0">
                <a:solidFill>
                  <a:srgbClr val="6E6E73"/>
                </a:solidFill>
                <a:latin typeface="Helvetica Neue" pitchFamily="34" charset="0"/>
                <a:ea typeface="Helvetica Neue" pitchFamily="34" charset="-122"/>
                <a:cs typeface="Helvetica Neue" pitchFamily="34" charset="-120"/>
              </a:rPr>
              <a:t>Store and undo, persistence, every export including the tagged PDF, pasteboard types, smart paste.</a:t>
            </a:r>
            <a:endParaRPr lang="en-US" sz="1250" dirty="0"/>
          </a:p>
        </p:txBody>
      </p:sp>
      <p:sp>
        <p:nvSpPr>
          <p:cNvPr id="14" name="Shape 11"/>
          <p:cNvSpPr/>
          <p:nvPr/>
        </p:nvSpPr>
        <p:spPr>
          <a:xfrm>
            <a:off x="6255868" y="1417320"/>
            <a:ext cx="2487854" cy="2240280"/>
          </a:xfrm>
          <a:prstGeom prst="roundRect">
            <a:avLst>
              <a:gd name="adj" fmla="val 7347"/>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15" name="Text 12"/>
          <p:cNvSpPr txBox="1"/>
          <p:nvPr/>
        </p:nvSpPr>
        <p:spPr>
          <a:xfrm>
            <a:off x="6530188" y="1572768"/>
            <a:ext cx="1939214" cy="685800"/>
          </a:xfrm>
          <a:prstGeom prst="rect">
            <a:avLst/>
          </a:prstGeom>
          <a:noFill/>
          <a:ln/>
        </p:spPr>
        <p:txBody>
          <a:bodyPr wrap="square" lIns="0" tIns="0" rIns="0" bIns="0" rtlCol="0" anchor="t"/>
          <a:lstStyle/>
          <a:p>
            <a:pPr indent="0" marL="0">
              <a:buNone/>
            </a:pPr>
            <a:r>
              <a:rPr lang="en-US" sz="4000" b="1" dirty="0">
                <a:solidFill>
                  <a:srgbClr val="0066CC"/>
                </a:solidFill>
                <a:latin typeface="Helvetica Neue" pitchFamily="34" charset="0"/>
                <a:ea typeface="Helvetica Neue" pitchFamily="34" charset="-122"/>
                <a:cs typeface="Helvetica Neue" pitchFamily="34" charset="-120"/>
              </a:rPr>
              <a:t>12</a:t>
            </a:r>
            <a:endParaRPr lang="en-US" sz="4000" dirty="0"/>
          </a:p>
        </p:txBody>
      </p:sp>
      <p:sp>
        <p:nvSpPr>
          <p:cNvPr id="16" name="Text 13"/>
          <p:cNvSpPr txBox="1"/>
          <p:nvPr/>
        </p:nvSpPr>
        <p:spPr>
          <a:xfrm>
            <a:off x="6530188" y="2249424"/>
            <a:ext cx="1939214" cy="320040"/>
          </a:xfrm>
          <a:prstGeom prst="rect">
            <a:avLst/>
          </a:prstGeom>
          <a:noFill/>
          <a:ln/>
        </p:spPr>
        <p:txBody>
          <a:bodyPr wrap="square" lIns="0" tIns="0" rIns="0" bIns="0" rtlCol="0" anchor="t"/>
          <a:lstStyle/>
          <a:p>
            <a:pPr indent="0" marL="0">
              <a:buNone/>
            </a:pPr>
            <a:r>
              <a:rPr lang="en-US" sz="1500" b="1" dirty="0">
                <a:solidFill>
                  <a:srgbClr val="1D1D1F"/>
                </a:solidFill>
                <a:latin typeface="Helvetica Neue" pitchFamily="34" charset="0"/>
                <a:ea typeface="Helvetica Neue" pitchFamily="34" charset="-122"/>
                <a:cs typeface="Helvetica Neue" pitchFamily="34" charset="-120"/>
              </a:rPr>
              <a:t>UI tests</a:t>
            </a:r>
            <a:endParaRPr lang="en-US" sz="1500" dirty="0"/>
          </a:p>
        </p:txBody>
      </p:sp>
      <p:sp>
        <p:nvSpPr>
          <p:cNvPr id="17" name="Text 14"/>
          <p:cNvSpPr txBox="1"/>
          <p:nvPr/>
        </p:nvSpPr>
        <p:spPr>
          <a:xfrm>
            <a:off x="6530188" y="2615184"/>
            <a:ext cx="1939214" cy="914400"/>
          </a:xfrm>
          <a:prstGeom prst="rect">
            <a:avLst/>
          </a:prstGeom>
          <a:noFill/>
          <a:ln/>
        </p:spPr>
        <p:txBody>
          <a:bodyPr wrap="square" lIns="0" tIns="0" rIns="0" bIns="0" rtlCol="0" anchor="t"/>
          <a:lstStyle/>
          <a:p>
            <a:pPr indent="0" marL="0">
              <a:buNone/>
            </a:pPr>
            <a:r>
              <a:rPr lang="en-US" sz="1250" dirty="0">
                <a:solidFill>
                  <a:srgbClr val="6E6E73"/>
                </a:solidFill>
                <a:latin typeface="Helvetica Neue" pitchFamily="34" charset="0"/>
                <a:ea typeface="Helvetica Neue" pitchFamily="34" charset="-122"/>
                <a:cs typeface="Helvetica Neue" pitchFamily="34" charset="-120"/>
              </a:rPr>
              <a:t>Canvas, inspector, the undescribed image, Hear This Card, Colour Vision, drafting, and XCTest's accessibility audit.</a:t>
            </a:r>
            <a:endParaRPr lang="en-US" sz="1250" dirty="0"/>
          </a:p>
        </p:txBody>
      </p:sp>
      <p:sp>
        <p:nvSpPr>
          <p:cNvPr id="18" name="Shape 15"/>
          <p:cNvSpPr/>
          <p:nvPr/>
        </p:nvSpPr>
        <p:spPr>
          <a:xfrm>
            <a:off x="9063761" y="1417320"/>
            <a:ext cx="2487854" cy="2240280"/>
          </a:xfrm>
          <a:prstGeom prst="roundRect">
            <a:avLst>
              <a:gd name="adj" fmla="val 7347"/>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19" name="Text 16"/>
          <p:cNvSpPr txBox="1"/>
          <p:nvPr/>
        </p:nvSpPr>
        <p:spPr>
          <a:xfrm>
            <a:off x="9338081" y="1572768"/>
            <a:ext cx="1939214" cy="685800"/>
          </a:xfrm>
          <a:prstGeom prst="rect">
            <a:avLst/>
          </a:prstGeom>
          <a:noFill/>
          <a:ln/>
        </p:spPr>
        <p:txBody>
          <a:bodyPr wrap="square" lIns="0" tIns="0" rIns="0" bIns="0" rtlCol="0" anchor="t"/>
          <a:lstStyle/>
          <a:p>
            <a:pPr indent="0" marL="0">
              <a:buNone/>
            </a:pPr>
            <a:r>
              <a:rPr lang="en-US" sz="4000" b="1" dirty="0">
                <a:solidFill>
                  <a:srgbClr val="0066CC"/>
                </a:solidFill>
                <a:latin typeface="Helvetica Neue" pitchFamily="34" charset="0"/>
                <a:ea typeface="Helvetica Neue" pitchFamily="34" charset="-122"/>
                <a:cs typeface="Helvetica Neue" pitchFamily="34" charset="-120"/>
              </a:rPr>
              <a:t>2</a:t>
            </a:r>
            <a:endParaRPr lang="en-US" sz="4000" dirty="0"/>
          </a:p>
        </p:txBody>
      </p:sp>
      <p:sp>
        <p:nvSpPr>
          <p:cNvPr id="20" name="Text 17"/>
          <p:cNvSpPr txBox="1"/>
          <p:nvPr/>
        </p:nvSpPr>
        <p:spPr>
          <a:xfrm>
            <a:off x="9338081" y="2249424"/>
            <a:ext cx="1939214" cy="320040"/>
          </a:xfrm>
          <a:prstGeom prst="rect">
            <a:avLst/>
          </a:prstGeom>
          <a:noFill/>
          <a:ln/>
        </p:spPr>
        <p:txBody>
          <a:bodyPr wrap="square" lIns="0" tIns="0" rIns="0" bIns="0" rtlCol="0" anchor="t"/>
          <a:lstStyle/>
          <a:p>
            <a:pPr indent="0" marL="0">
              <a:buNone/>
            </a:pPr>
            <a:r>
              <a:rPr lang="en-US" sz="1500" b="1" dirty="0">
                <a:solidFill>
                  <a:srgbClr val="1D1D1F"/>
                </a:solidFill>
                <a:latin typeface="Helvetica Neue" pitchFamily="34" charset="0"/>
                <a:ea typeface="Helvetica Neue" pitchFamily="34" charset="-122"/>
                <a:cs typeface="Helvetica Neue" pitchFamily="34" charset="-120"/>
              </a:rPr>
              <a:t>static checks</a:t>
            </a:r>
            <a:endParaRPr lang="en-US" sz="1500" dirty="0"/>
          </a:p>
        </p:txBody>
      </p:sp>
      <p:sp>
        <p:nvSpPr>
          <p:cNvPr id="21" name="Text 18"/>
          <p:cNvSpPr txBox="1"/>
          <p:nvPr/>
        </p:nvSpPr>
        <p:spPr>
          <a:xfrm>
            <a:off x="9338081" y="2615184"/>
            <a:ext cx="1939214" cy="914400"/>
          </a:xfrm>
          <a:prstGeom prst="rect">
            <a:avLst/>
          </a:prstGeom>
          <a:noFill/>
          <a:ln/>
        </p:spPr>
        <p:txBody>
          <a:bodyPr wrap="square" lIns="0" tIns="0" rIns="0" bIns="0" rtlCol="0" anchor="t"/>
          <a:lstStyle/>
          <a:p>
            <a:pPr indent="0" marL="0">
              <a:buNone/>
            </a:pPr>
            <a:r>
              <a:rPr lang="en-US" sz="1250" dirty="0">
                <a:solidFill>
                  <a:srgbClr val="6E6E73"/>
                </a:solidFill>
                <a:latin typeface="Helvetica Neue" pitchFamily="34" charset="0"/>
                <a:ea typeface="Helvetica Neue" pitchFamily="34" charset="-122"/>
                <a:cs typeface="Helvetica Neue" pitchFamily="34" charset="-120"/>
              </a:rPr>
              <a:t>SwiftLint and SwiftFormat, clean, on every push alongside the tests.</a:t>
            </a:r>
            <a:endParaRPr lang="en-US" sz="1250" dirty="0"/>
          </a:p>
        </p:txBody>
      </p:sp>
      <p:sp>
        <p:nvSpPr>
          <p:cNvPr id="22" name="Shape 19"/>
          <p:cNvSpPr/>
          <p:nvPr/>
        </p:nvSpPr>
        <p:spPr>
          <a:xfrm>
            <a:off x="640080" y="3886200"/>
            <a:ext cx="5227168" cy="2377440"/>
          </a:xfrm>
          <a:prstGeom prst="roundRect">
            <a:avLst>
              <a:gd name="adj" fmla="val 6923"/>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23" name="Text 20"/>
          <p:cNvSpPr txBox="1"/>
          <p:nvPr/>
        </p:nvSpPr>
        <p:spPr>
          <a:xfrm>
            <a:off x="1005840" y="4069080"/>
            <a:ext cx="4495648" cy="365760"/>
          </a:xfrm>
          <a:prstGeom prst="rect">
            <a:avLst/>
          </a:prstGeom>
          <a:noFill/>
          <a:ln/>
        </p:spPr>
        <p:txBody>
          <a:bodyPr wrap="square" lIns="0" tIns="0" rIns="0" bIns="0" rtlCol="0" anchor="t"/>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Kept deterministic</a:t>
            </a:r>
            <a:endParaRPr lang="en-US" sz="1700" dirty="0"/>
          </a:p>
        </p:txBody>
      </p:sp>
      <p:sp>
        <p:nvSpPr>
          <p:cNvPr id="24" name="Text 21"/>
          <p:cNvSpPr txBox="1"/>
          <p:nvPr/>
        </p:nvSpPr>
        <p:spPr>
          <a:xfrm>
            <a:off x="1005840" y="4462272"/>
            <a:ext cx="4495648" cy="1783080"/>
          </a:xfrm>
          <a:prstGeom prst="rect">
            <a:avLst/>
          </a:prstGeom>
          <a:noFill/>
          <a:ln/>
        </p:spPr>
        <p:txBody>
          <a:bodyPr wrap="square" lIns="0" tIns="0" rIns="0" bIns="0" rtlCol="0" anchor="t"/>
          <a:lstStyle/>
          <a:p>
            <a:pPr marL="203200" indent="-203200">
              <a:spcAft>
                <a:spcPts val="400"/>
              </a:spcAft>
              <a:buSzPct val="100000"/>
              <a:buChar char="•"/>
            </a:pPr>
            <a:r>
              <a:rPr lang="en-US" sz="1250" dirty="0">
                <a:solidFill>
                  <a:srgbClr val="1D1D1F"/>
                </a:solidFill>
                <a:latin typeface="Helvetica Neue" pitchFamily="34" charset="0"/>
                <a:ea typeface="Helvetica Neue" pitchFamily="34" charset="-122"/>
                <a:cs typeface="Helvetica Neue" pitchFamily="34" charset="-120"/>
              </a:rPr>
              <a:t>Never the real clipboard, network or files: named pasteboards, temporary directories, an in-memory store, a stubbed client</a:t>
            </a:r>
            <a:endParaRPr lang="en-US" sz="1250" dirty="0"/>
          </a:p>
          <a:p>
            <a:pPr marL="203200" indent="-203200">
              <a:spcAft>
                <a:spcPts val="400"/>
              </a:spcAft>
              <a:buSzPct val="100000"/>
              <a:buChar char="•"/>
            </a:pPr>
            <a:r>
              <a:rPr lang="en-US" sz="1250" dirty="0">
                <a:solidFill>
                  <a:srgbClr val="1D1D1F"/>
                </a:solidFill>
                <a:latin typeface="Helvetica Neue" pitchFamily="34" charset="0"/>
                <a:ea typeface="Helvetica Neue" pitchFamily="34" charset="-122"/>
                <a:cs typeface="Helvetica Neue" pitchFamily="34" charset="-120"/>
              </a:rPr>
              <a:t>One exception, on purpose: the Copy for Email test uses the real pasteboard, because that is what it tests</a:t>
            </a:r>
            <a:endParaRPr lang="en-US" sz="1250" dirty="0"/>
          </a:p>
          <a:p>
            <a:pPr marL="203200" indent="-203200">
              <a:spcAft>
                <a:spcPts val="400"/>
              </a:spcAft>
              <a:buSzPct val="100000"/>
              <a:buChar char="•"/>
            </a:pPr>
            <a:r>
              <a:rPr lang="en-US" sz="1250" dirty="0">
                <a:solidFill>
                  <a:srgbClr val="1D1D1F"/>
                </a:solidFill>
                <a:latin typeface="Helvetica Neue" pitchFamily="34" charset="0"/>
                <a:ea typeface="Helvetica Neue" pitchFamily="34" charset="-122"/>
                <a:cs typeface="Helvetica Neue" pitchFamily="34" charset="-120"/>
              </a:rPr>
              <a:t>Dates and locale are injected, so a footer never depends on the test machine</a:t>
            </a:r>
            <a:endParaRPr lang="en-US" sz="1250" dirty="0"/>
          </a:p>
          <a:p>
            <a:pPr marL="203200" indent="-203200">
              <a:spcAft>
                <a:spcPts val="400"/>
              </a:spcAft>
              <a:buSzPct val="100000"/>
              <a:buChar char="•"/>
            </a:pPr>
            <a:r>
              <a:rPr lang="en-US" sz="1250" dirty="0">
                <a:solidFill>
                  <a:srgbClr val="1D1D1F"/>
                </a:solidFill>
                <a:latin typeface="Helvetica Neue" pitchFamily="34" charset="0"/>
                <a:ea typeface="Helvetica Neue" pitchFamily="34" charset="-122"/>
                <a:cs typeface="Helvetica Neue" pitchFamily="34" charset="-120"/>
              </a:rPr>
              <a:t>Launch arguments open the app in a known state: a seeded card, a missing description, a canned model</a:t>
            </a:r>
            <a:endParaRPr lang="en-US" sz="1250" dirty="0"/>
          </a:p>
        </p:txBody>
      </p:sp>
      <p:sp>
        <p:nvSpPr>
          <p:cNvPr id="25" name="Shape 22"/>
          <p:cNvSpPr/>
          <p:nvPr/>
        </p:nvSpPr>
        <p:spPr>
          <a:xfrm>
            <a:off x="6324448" y="3886200"/>
            <a:ext cx="5227168" cy="2377440"/>
          </a:xfrm>
          <a:prstGeom prst="roundRect">
            <a:avLst>
              <a:gd name="adj" fmla="val 6923"/>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26" name="Text 23"/>
          <p:cNvSpPr txBox="1"/>
          <p:nvPr/>
        </p:nvSpPr>
        <p:spPr>
          <a:xfrm>
            <a:off x="6690208" y="4069080"/>
            <a:ext cx="4495648" cy="365760"/>
          </a:xfrm>
          <a:prstGeom prst="rect">
            <a:avLst/>
          </a:prstGeom>
          <a:noFill/>
          <a:ln/>
        </p:spPr>
        <p:txBody>
          <a:bodyPr wrap="square" lIns="0" tIns="0" rIns="0" bIns="0" rtlCol="0" anchor="t"/>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Not covered by a test, and said so</a:t>
            </a:r>
            <a:endParaRPr lang="en-US" sz="1700" dirty="0"/>
          </a:p>
        </p:txBody>
      </p:sp>
      <p:sp>
        <p:nvSpPr>
          <p:cNvPr id="27" name="Text 24"/>
          <p:cNvSpPr txBox="1"/>
          <p:nvPr/>
        </p:nvSpPr>
        <p:spPr>
          <a:xfrm>
            <a:off x="6690208" y="4462272"/>
            <a:ext cx="4495648" cy="1783080"/>
          </a:xfrm>
          <a:prstGeom prst="rect">
            <a:avLst/>
          </a:prstGeom>
          <a:noFill/>
          <a:ln/>
        </p:spPr>
        <p:txBody>
          <a:bodyPr wrap="square" lIns="0" tIns="0" rIns="0" bIns="0" rtlCol="0" anchor="t"/>
          <a:lstStyle/>
          <a:p>
            <a:pPr marL="203200" indent="-203200">
              <a:spcAft>
                <a:spcPts val="400"/>
              </a:spcAft>
              <a:buSzPct val="100000"/>
              <a:buChar char="•"/>
            </a:pPr>
            <a:r>
              <a:rPr lang="en-US" sz="1250" dirty="0">
                <a:solidFill>
                  <a:srgbClr val="1D1D1F"/>
                </a:solidFill>
                <a:latin typeface="Helvetica Neue" pitchFamily="34" charset="0"/>
                <a:ea typeface="Helvetica Neue" pitchFamily="34" charset="-122"/>
                <a:cs typeface="Helvetica Neue" pitchFamily="34" charset="-120"/>
              </a:rPr>
              <a:t>How Mail and Slack actually render a paste: each destination is marked verified or expected in the docs</a:t>
            </a:r>
            <a:endParaRPr lang="en-US" sz="1250" dirty="0"/>
          </a:p>
          <a:p>
            <a:pPr marL="203200" indent="-203200">
              <a:spcAft>
                <a:spcPts val="400"/>
              </a:spcAft>
              <a:buSzPct val="100000"/>
              <a:buChar char="•"/>
            </a:pPr>
            <a:r>
              <a:rPr lang="en-US" sz="1250" dirty="0">
                <a:solidFill>
                  <a:srgbClr val="1D1D1F"/>
                </a:solidFill>
                <a:latin typeface="Helvetica Neue" pitchFamily="34" charset="0"/>
                <a:ea typeface="Helvetica Neue" pitchFamily="34" charset="-122"/>
                <a:cs typeface="Helvetica Neue" pitchFamily="34" charset="-120"/>
              </a:rPr>
              <a:t>The VoiceOver experience: the data is tested, the experience needs a person who uses it daily</a:t>
            </a:r>
            <a:endParaRPr lang="en-US" sz="1250" dirty="0"/>
          </a:p>
          <a:p>
            <a:pPr marL="203200" indent="-203200">
              <a:spcAft>
                <a:spcPts val="400"/>
              </a:spcAft>
              <a:buSzPct val="100000"/>
              <a:buChar char="•"/>
            </a:pPr>
            <a:r>
              <a:rPr lang="en-US" sz="1250" dirty="0">
                <a:solidFill>
                  <a:srgbClr val="1D1D1F"/>
                </a:solidFill>
                <a:latin typeface="Helvetica Neue" pitchFamily="34" charset="0"/>
                <a:ea typeface="Helvetica Neue" pitchFamily="34" charset="-122"/>
                <a:cs typeface="Helvetica Neue" pitchFamily="34" charset="-120"/>
              </a:rPr>
              <a:t>PDF/UA conformance: the structure tree is checked, a validator is not run</a:t>
            </a:r>
            <a:endParaRPr lang="en-US" sz="1250" dirty="0"/>
          </a:p>
          <a:p>
            <a:pPr marL="203200" indent="-203200">
              <a:spcAft>
                <a:spcPts val="400"/>
              </a:spcAft>
              <a:buSzPct val="100000"/>
              <a:buChar char="•"/>
            </a:pPr>
            <a:r>
              <a:rPr lang="en-US" sz="1250" dirty="0">
                <a:solidFill>
                  <a:srgbClr val="1D1D1F"/>
                </a:solidFill>
                <a:latin typeface="Helvetica Neue" pitchFamily="34" charset="0"/>
                <a:ea typeface="Helvetica Neue" pitchFamily="34" charset="-122"/>
                <a:cs typeface="Helvetica Neue" pitchFamily="34" charset="-120"/>
              </a:rPr>
              <a:t>Each of these sits in the documentation next to the feature it limits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11094415" y="6400800"/>
            <a:ext cx="640080" cy="274320"/>
          </a:xfrm>
          <a:prstGeom prst="rect">
            <a:avLst/>
          </a:prstGeom>
          <a:noFill/>
          <a:ln/>
        </p:spPr>
        <p:txBody>
          <a:bodyPr wrap="square" lIns="0" tIns="0" rIns="0" bIns="0" rtlCol="0" anchor="ctr"/>
          <a:lstStyle/>
          <a:p>
            <a:pPr algn="r" indent="0" marL="0">
              <a:buNone/>
            </a:pPr>
            <a:r>
              <a:rPr lang="en-US" sz="1000" dirty="0">
                <a:solidFill>
                  <a:srgbClr val="6E6E73"/>
                </a:solidFill>
                <a:latin typeface="Helvetica Neue" pitchFamily="34" charset="0"/>
                <a:ea typeface="Helvetica Neue" pitchFamily="34" charset="-122"/>
                <a:cs typeface="Helvetica Neue" pitchFamily="34" charset="-120"/>
              </a:rPr>
              <a:t>12</a:t>
            </a:r>
            <a:endParaRPr lang="en-US" sz="1000" dirty="0"/>
          </a:p>
        </p:txBody>
      </p:sp>
      <p:sp>
        <p:nvSpPr>
          <p:cNvPr id="4" name="Text 1"/>
          <p:cNvSpPr txBox="1"/>
          <p:nvPr/>
        </p:nvSpPr>
        <p:spPr>
          <a:xfrm>
            <a:off x="640080" y="274320"/>
            <a:ext cx="10911535" cy="274320"/>
          </a:xfrm>
          <a:prstGeom prst="rect">
            <a:avLst/>
          </a:prstGeom>
          <a:noFill/>
          <a:ln/>
        </p:spPr>
        <p:txBody>
          <a:bodyPr wrap="square" lIns="0" tIns="0" rIns="0" bIns="0" rtlCol="0" anchor="ctr"/>
          <a:lstStyle/>
          <a:p>
            <a:pPr indent="0" marL="0">
              <a:buNone/>
            </a:pPr>
            <a:r>
              <a:rPr lang="en-US" sz="1200" b="1" spc="150" kern="0" dirty="0">
                <a:solidFill>
                  <a:srgbClr val="6E6E73"/>
                </a:solidFill>
                <a:latin typeface="Helvetica Neue" pitchFamily="34" charset="0"/>
                <a:ea typeface="Helvetica Neue" pitchFamily="34" charset="-122"/>
                <a:cs typeface="Helvetica Neue" pitchFamily="34" charset="-120"/>
              </a:rPr>
              <a:t>ENGINEERING</a:t>
            </a:r>
            <a:endParaRPr lang="en-US" sz="1200" dirty="0"/>
          </a:p>
        </p:txBody>
      </p:sp>
      <p:sp>
        <p:nvSpPr>
          <p:cNvPr id="5" name="Text 2"/>
          <p:cNvSpPr txBox="1"/>
          <p:nvPr/>
        </p:nvSpPr>
        <p:spPr>
          <a:xfrm>
            <a:off x="640080" y="502920"/>
            <a:ext cx="10911535" cy="822960"/>
          </a:xfrm>
          <a:prstGeom prst="rect">
            <a:avLst/>
          </a:prstGeom>
          <a:noFill/>
          <a:ln/>
        </p:spPr>
        <p:txBody>
          <a:bodyPr wrap="square" lIns="0" tIns="0" rIns="0" bIns="0" rtlCol="0" anchor="t"/>
          <a:lstStyle/>
          <a:p>
            <a:pPr indent="0" marL="0">
              <a:buNone/>
            </a:pPr>
            <a:r>
              <a:rPr lang="en-US" sz="3400" b="1" dirty="0">
                <a:solidFill>
                  <a:srgbClr val="1D1D1F"/>
                </a:solidFill>
                <a:latin typeface="Helvetica Neue" pitchFamily="34" charset="0"/>
                <a:ea typeface="Helvetica Neue" pitchFamily="34" charset="-122"/>
                <a:cs typeface="Helvetica Neue" pitchFamily="34" charset="-120"/>
              </a:rPr>
              <a:t>Built to be read and changed</a:t>
            </a:r>
            <a:endParaRPr lang="en-US" sz="3400" dirty="0"/>
          </a:p>
        </p:txBody>
      </p:sp>
      <p:sp>
        <p:nvSpPr>
          <p:cNvPr id="6" name="Shape 3"/>
          <p:cNvSpPr/>
          <p:nvPr/>
        </p:nvSpPr>
        <p:spPr>
          <a:xfrm>
            <a:off x="640080" y="1508760"/>
            <a:ext cx="2487854" cy="1783080"/>
          </a:xfrm>
          <a:prstGeom prst="roundRect">
            <a:avLst>
              <a:gd name="adj" fmla="val 9231"/>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7" name="Text 4"/>
          <p:cNvSpPr txBox="1"/>
          <p:nvPr/>
        </p:nvSpPr>
        <p:spPr>
          <a:xfrm>
            <a:off x="914400" y="1691640"/>
            <a:ext cx="1939214" cy="822960"/>
          </a:xfrm>
          <a:prstGeom prst="rect">
            <a:avLst/>
          </a:prstGeom>
          <a:noFill/>
          <a:ln/>
        </p:spPr>
        <p:txBody>
          <a:bodyPr wrap="square" lIns="0" tIns="0" rIns="0" bIns="0" rtlCol="0" anchor="t"/>
          <a:lstStyle/>
          <a:p>
            <a:pPr indent="0" marL="0">
              <a:buNone/>
            </a:pPr>
            <a:r>
              <a:rPr lang="en-US" sz="4400" b="1" dirty="0">
                <a:solidFill>
                  <a:srgbClr val="0066CC"/>
                </a:solidFill>
                <a:latin typeface="Helvetica Neue" pitchFamily="34" charset="0"/>
                <a:ea typeface="Helvetica Neue" pitchFamily="34" charset="-122"/>
                <a:cs typeface="Helvetica Neue" pitchFamily="34" charset="-120"/>
              </a:rPr>
              <a:t>0</a:t>
            </a:r>
            <a:endParaRPr lang="en-US" sz="4400" dirty="0"/>
          </a:p>
        </p:txBody>
      </p:sp>
      <p:sp>
        <p:nvSpPr>
          <p:cNvPr id="8" name="Text 5"/>
          <p:cNvSpPr txBox="1"/>
          <p:nvPr/>
        </p:nvSpPr>
        <p:spPr>
          <a:xfrm>
            <a:off x="914400" y="2560320"/>
            <a:ext cx="1939214" cy="640080"/>
          </a:xfrm>
          <a:prstGeom prst="rect">
            <a:avLst/>
          </a:prstGeom>
          <a:noFill/>
          <a:ln/>
        </p:spPr>
        <p:txBody>
          <a:bodyPr wrap="square" lIns="0" tIns="0" rIns="0" bIns="0" rtlCol="0" anchor="t"/>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third-party dependencies</a:t>
            </a:r>
            <a:endParaRPr lang="en-US" sz="1300" dirty="0"/>
          </a:p>
        </p:txBody>
      </p:sp>
      <p:sp>
        <p:nvSpPr>
          <p:cNvPr id="9" name="Shape 6"/>
          <p:cNvSpPr/>
          <p:nvPr/>
        </p:nvSpPr>
        <p:spPr>
          <a:xfrm>
            <a:off x="3447974" y="1508760"/>
            <a:ext cx="2487854" cy="1783080"/>
          </a:xfrm>
          <a:prstGeom prst="roundRect">
            <a:avLst>
              <a:gd name="adj" fmla="val 9231"/>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10" name="Text 7"/>
          <p:cNvSpPr txBox="1"/>
          <p:nvPr/>
        </p:nvSpPr>
        <p:spPr>
          <a:xfrm>
            <a:off x="3722294" y="1691640"/>
            <a:ext cx="1939214" cy="822960"/>
          </a:xfrm>
          <a:prstGeom prst="rect">
            <a:avLst/>
          </a:prstGeom>
          <a:noFill/>
          <a:ln/>
        </p:spPr>
        <p:txBody>
          <a:bodyPr wrap="square" lIns="0" tIns="0" rIns="0" bIns="0" rtlCol="0" anchor="t"/>
          <a:lstStyle/>
          <a:p>
            <a:pPr indent="0" marL="0">
              <a:buNone/>
            </a:pPr>
            <a:r>
              <a:rPr lang="en-US" sz="4400" b="1" dirty="0">
                <a:solidFill>
                  <a:srgbClr val="0066CC"/>
                </a:solidFill>
                <a:latin typeface="Helvetica Neue" pitchFamily="34" charset="0"/>
                <a:ea typeface="Helvetica Neue" pitchFamily="34" charset="-122"/>
                <a:cs typeface="Helvetica Neue" pitchFamily="34" charset="-120"/>
              </a:rPr>
              <a:t>12</a:t>
            </a:r>
            <a:endParaRPr lang="en-US" sz="4400" dirty="0"/>
          </a:p>
        </p:txBody>
      </p:sp>
      <p:sp>
        <p:nvSpPr>
          <p:cNvPr id="11" name="Text 8"/>
          <p:cNvSpPr txBox="1"/>
          <p:nvPr/>
        </p:nvSpPr>
        <p:spPr>
          <a:xfrm>
            <a:off x="3722294" y="2560320"/>
            <a:ext cx="1939214" cy="640080"/>
          </a:xfrm>
          <a:prstGeom prst="rect">
            <a:avLst/>
          </a:prstGeom>
          <a:noFill/>
          <a:ln/>
        </p:spPr>
        <p:txBody>
          <a:bodyPr wrap="square" lIns="0" tIns="0" rIns="0" bIns="0" rtlCol="0" anchor="t"/>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architecture decision records</a:t>
            </a:r>
            <a:endParaRPr lang="en-US" sz="1300" dirty="0"/>
          </a:p>
        </p:txBody>
      </p:sp>
      <p:sp>
        <p:nvSpPr>
          <p:cNvPr id="12" name="Shape 9"/>
          <p:cNvSpPr/>
          <p:nvPr/>
        </p:nvSpPr>
        <p:spPr>
          <a:xfrm>
            <a:off x="6255868" y="1508760"/>
            <a:ext cx="2487854" cy="1783080"/>
          </a:xfrm>
          <a:prstGeom prst="roundRect">
            <a:avLst>
              <a:gd name="adj" fmla="val 9231"/>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13" name="Text 10"/>
          <p:cNvSpPr txBox="1"/>
          <p:nvPr/>
        </p:nvSpPr>
        <p:spPr>
          <a:xfrm>
            <a:off x="6530188" y="1691640"/>
            <a:ext cx="1939214" cy="822960"/>
          </a:xfrm>
          <a:prstGeom prst="rect">
            <a:avLst/>
          </a:prstGeom>
          <a:noFill/>
          <a:ln/>
        </p:spPr>
        <p:txBody>
          <a:bodyPr wrap="square" lIns="0" tIns="0" rIns="0" bIns="0" rtlCol="0" anchor="t"/>
          <a:lstStyle/>
          <a:p>
            <a:pPr indent="0" marL="0">
              <a:buNone/>
            </a:pPr>
            <a:r>
              <a:rPr lang="en-US" sz="4400" b="1" dirty="0">
                <a:solidFill>
                  <a:srgbClr val="0066CC"/>
                </a:solidFill>
                <a:latin typeface="Helvetica Neue" pitchFamily="34" charset="0"/>
                <a:ea typeface="Helvetica Neue" pitchFamily="34" charset="-122"/>
                <a:cs typeface="Helvetica Neue" pitchFamily="34" charset="-120"/>
              </a:rPr>
              <a:t>4</a:t>
            </a:r>
            <a:endParaRPr lang="en-US" sz="4400" dirty="0"/>
          </a:p>
        </p:txBody>
      </p:sp>
      <p:sp>
        <p:nvSpPr>
          <p:cNvPr id="14" name="Text 11"/>
          <p:cNvSpPr txBox="1"/>
          <p:nvPr/>
        </p:nvSpPr>
        <p:spPr>
          <a:xfrm>
            <a:off x="6530188" y="2560320"/>
            <a:ext cx="1939214" cy="640080"/>
          </a:xfrm>
          <a:prstGeom prst="rect">
            <a:avLst/>
          </a:prstGeom>
          <a:noFill/>
          <a:ln/>
        </p:spPr>
        <p:txBody>
          <a:bodyPr wrap="square" lIns="0" tIns="0" rIns="0" bIns="0" rtlCol="0" anchor="t"/>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feature flags, set in xcconfig</a:t>
            </a:r>
            <a:endParaRPr lang="en-US" sz="1300" dirty="0"/>
          </a:p>
        </p:txBody>
      </p:sp>
      <p:sp>
        <p:nvSpPr>
          <p:cNvPr id="15" name="Shape 12"/>
          <p:cNvSpPr/>
          <p:nvPr/>
        </p:nvSpPr>
        <p:spPr>
          <a:xfrm>
            <a:off x="9063761" y="1508760"/>
            <a:ext cx="2487854" cy="1783080"/>
          </a:xfrm>
          <a:prstGeom prst="roundRect">
            <a:avLst>
              <a:gd name="adj" fmla="val 9231"/>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16" name="Text 13"/>
          <p:cNvSpPr txBox="1"/>
          <p:nvPr/>
        </p:nvSpPr>
        <p:spPr>
          <a:xfrm>
            <a:off x="9338081" y="1691640"/>
            <a:ext cx="1939214" cy="822960"/>
          </a:xfrm>
          <a:prstGeom prst="rect">
            <a:avLst/>
          </a:prstGeom>
          <a:noFill/>
          <a:ln/>
        </p:spPr>
        <p:txBody>
          <a:bodyPr wrap="square" lIns="0" tIns="0" rIns="0" bIns="0" rtlCol="0" anchor="t"/>
          <a:lstStyle/>
          <a:p>
            <a:pPr indent="0" marL="0">
              <a:buNone/>
            </a:pPr>
            <a:r>
              <a:rPr lang="en-US" sz="4400" b="1" dirty="0">
                <a:solidFill>
                  <a:srgbClr val="0066CC"/>
                </a:solidFill>
                <a:latin typeface="Helvetica Neue" pitchFamily="34" charset="0"/>
                <a:ea typeface="Helvetica Neue" pitchFamily="34" charset="-122"/>
                <a:cs typeface="Helvetica Neue" pitchFamily="34" charset="-120"/>
              </a:rPr>
              <a:t>1</a:t>
            </a:r>
            <a:endParaRPr lang="en-US" sz="4400" dirty="0"/>
          </a:p>
        </p:txBody>
      </p:sp>
      <p:sp>
        <p:nvSpPr>
          <p:cNvPr id="17" name="Text 14"/>
          <p:cNvSpPr txBox="1"/>
          <p:nvPr/>
        </p:nvSpPr>
        <p:spPr>
          <a:xfrm>
            <a:off x="9338081" y="2560320"/>
            <a:ext cx="1939214" cy="640080"/>
          </a:xfrm>
          <a:prstGeom prst="rect">
            <a:avLst/>
          </a:prstGeom>
          <a:noFill/>
          <a:ln/>
        </p:spPr>
        <p:txBody>
          <a:bodyPr wrap="square" lIns="0" tIns="0" rIns="0" bIns="0" rtlCol="0" anchor="t"/>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YAML spec generates the Xcode project</a:t>
            </a:r>
            <a:endParaRPr lang="en-US" sz="1300" dirty="0"/>
          </a:p>
        </p:txBody>
      </p:sp>
      <p:sp>
        <p:nvSpPr>
          <p:cNvPr id="18" name="Shape 15"/>
          <p:cNvSpPr/>
          <p:nvPr/>
        </p:nvSpPr>
        <p:spPr>
          <a:xfrm>
            <a:off x="640080" y="3611880"/>
            <a:ext cx="5227168" cy="2651760"/>
          </a:xfrm>
          <a:prstGeom prst="roundRect">
            <a:avLst>
              <a:gd name="adj" fmla="val 6207"/>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19" name="Text 16"/>
          <p:cNvSpPr txBox="1"/>
          <p:nvPr/>
        </p:nvSpPr>
        <p:spPr>
          <a:xfrm>
            <a:off x="1005840" y="3794760"/>
            <a:ext cx="4495648" cy="365760"/>
          </a:xfrm>
          <a:prstGeom prst="rect">
            <a:avLst/>
          </a:prstGeom>
          <a:noFill/>
          <a:ln/>
        </p:spPr>
        <p:txBody>
          <a:bodyPr wrap="square" lIns="0" tIns="0" rIns="0" bIns="0" rtlCol="0" anchor="t"/>
          <a:lstStyle/>
          <a:p>
            <a:pPr indent="0" marL="0">
              <a:buNone/>
            </a:pPr>
            <a:r>
              <a:rPr lang="en-US" sz="1300" b="1" dirty="0">
                <a:solidFill>
                  <a:srgbClr val="6E6E73"/>
                </a:solidFill>
                <a:latin typeface="Helvetica Neue" pitchFamily="34" charset="0"/>
                <a:ea typeface="Helvetica Neue" pitchFamily="34" charset="-122"/>
                <a:cs typeface="Helvetica Neue" pitchFamily="34" charset="-120"/>
              </a:rPr>
              <a:t>Code</a:t>
            </a:r>
            <a:endParaRPr lang="en-US" sz="1300" dirty="0"/>
          </a:p>
        </p:txBody>
      </p:sp>
      <p:sp>
        <p:nvSpPr>
          <p:cNvPr id="20" name="Text 17"/>
          <p:cNvSpPr txBox="1"/>
          <p:nvPr/>
        </p:nvSpPr>
        <p:spPr>
          <a:xfrm>
            <a:off x="1005840" y="4206240"/>
            <a:ext cx="4495648" cy="20116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D1D1F"/>
                </a:solidFill>
                <a:latin typeface="Helvetica Neue" pitchFamily="34" charset="0"/>
                <a:ea typeface="Helvetica Neue" pitchFamily="34" charset="-122"/>
                <a:cs typeface="Helvetica Neue" pitchFamily="34" charset="-120"/>
              </a:rPr>
              <a:t>Documented public API; comments say why, not what</a:t>
            </a:r>
            <a:endParaRPr lang="en-US" sz="1400" dirty="0"/>
          </a:p>
          <a:p>
            <a:pPr marL="203200" indent="-203200">
              <a:spcAft>
                <a:spcPts val="600"/>
              </a:spcAft>
              <a:buSzPct val="100000"/>
              <a:buChar char="•"/>
            </a:pPr>
            <a:r>
              <a:rPr lang="en-US" sz="1400" dirty="0">
                <a:solidFill>
                  <a:srgbClr val="1D1D1F"/>
                </a:solidFill>
                <a:latin typeface="Helvetica Neue" pitchFamily="34" charset="0"/>
                <a:ea typeface="Helvetica Neue" pitchFamily="34" charset="-122"/>
                <a:cs typeface="Helvetica Neue" pitchFamily="34" charset="-120"/>
              </a:rPr>
              <a:t>Model replies are untrusted input: parsed, bounded, linted</a:t>
            </a:r>
            <a:endParaRPr lang="en-US" sz="1400" dirty="0"/>
          </a:p>
          <a:p>
            <a:pPr marL="203200" indent="-203200">
              <a:spcAft>
                <a:spcPts val="600"/>
              </a:spcAft>
              <a:buSzPct val="100000"/>
              <a:buChar char="•"/>
            </a:pPr>
            <a:r>
              <a:rPr lang="en-US" sz="1400" dirty="0">
                <a:solidFill>
                  <a:srgbClr val="1D1D1F"/>
                </a:solidFill>
                <a:latin typeface="Helvetica Neue" pitchFamily="34" charset="0"/>
                <a:ea typeface="Helvetica Neue" pitchFamily="34" charset="-122"/>
                <a:cs typeface="Helvetica Neue" pitchFamily="34" charset="-120"/>
              </a:rPr>
              <a:t>One concern per type; the compiler lists every place a new block kind touches</a:t>
            </a:r>
            <a:endParaRPr lang="en-US" sz="1400" dirty="0"/>
          </a:p>
          <a:p>
            <a:pPr marL="203200" indent="-203200">
              <a:spcAft>
                <a:spcPts val="600"/>
              </a:spcAft>
              <a:buSzPct val="100000"/>
              <a:buChar char="•"/>
            </a:pPr>
            <a:r>
              <a:rPr lang="en-US" sz="1400" dirty="0">
                <a:solidFill>
                  <a:srgbClr val="1D1D1F"/>
                </a:solidFill>
                <a:latin typeface="Helvetica Neue" pitchFamily="34" charset="0"/>
                <a:ea typeface="Helvetica Neue" pitchFamily="34" charset="-122"/>
                <a:cs typeface="Helvetica Neue" pitchFamily="34" charset="-120"/>
              </a:rPr>
              <a:t>Conventional commits, one change each, readable in order</a:t>
            </a:r>
            <a:endParaRPr lang="en-US" sz="1400" dirty="0"/>
          </a:p>
        </p:txBody>
      </p:sp>
      <p:sp>
        <p:nvSpPr>
          <p:cNvPr id="21" name="Shape 18"/>
          <p:cNvSpPr/>
          <p:nvPr/>
        </p:nvSpPr>
        <p:spPr>
          <a:xfrm>
            <a:off x="6324448" y="3611880"/>
            <a:ext cx="5227168" cy="2651760"/>
          </a:xfrm>
          <a:prstGeom prst="roundRect">
            <a:avLst>
              <a:gd name="adj" fmla="val 6207"/>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22" name="Text 19"/>
          <p:cNvSpPr txBox="1"/>
          <p:nvPr/>
        </p:nvSpPr>
        <p:spPr>
          <a:xfrm>
            <a:off x="6690208" y="3794760"/>
            <a:ext cx="4495648" cy="365760"/>
          </a:xfrm>
          <a:prstGeom prst="rect">
            <a:avLst/>
          </a:prstGeom>
          <a:noFill/>
          <a:ln/>
        </p:spPr>
        <p:txBody>
          <a:bodyPr wrap="square" lIns="0" tIns="0" rIns="0" bIns="0" rtlCol="0" anchor="t"/>
          <a:lstStyle/>
          <a:p>
            <a:pPr indent="0" marL="0">
              <a:buNone/>
            </a:pPr>
            <a:r>
              <a:rPr lang="en-US" sz="1300" b="1" dirty="0">
                <a:solidFill>
                  <a:srgbClr val="6E6E73"/>
                </a:solidFill>
                <a:latin typeface="Helvetica Neue" pitchFamily="34" charset="0"/>
                <a:ea typeface="Helvetica Neue" pitchFamily="34" charset="-122"/>
                <a:cs typeface="Helvetica Neue" pitchFamily="34" charset="-120"/>
              </a:rPr>
              <a:t>Configuration and delivery</a:t>
            </a:r>
            <a:endParaRPr lang="en-US" sz="1300" dirty="0"/>
          </a:p>
        </p:txBody>
      </p:sp>
      <p:sp>
        <p:nvSpPr>
          <p:cNvPr id="23" name="Text 20"/>
          <p:cNvSpPr txBox="1"/>
          <p:nvPr/>
        </p:nvSpPr>
        <p:spPr>
          <a:xfrm>
            <a:off x="6690208" y="4206240"/>
            <a:ext cx="4495648" cy="20116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D1D1F"/>
                </a:solidFill>
                <a:latin typeface="Helvetica Neue" pitchFamily="34" charset="0"/>
                <a:ea typeface="Helvetica Neue" pitchFamily="34" charset="-122"/>
                <a:cs typeface="Helvetica Neue" pitchFamily="34" charset="-120"/>
              </a:rPr>
              <a:t>Versions, flags and signing live in xcconfig, not buried in the project file</a:t>
            </a:r>
            <a:endParaRPr lang="en-US" sz="1400" dirty="0"/>
          </a:p>
          <a:p>
            <a:pPr marL="203200" indent="-203200">
              <a:spcAft>
                <a:spcPts val="600"/>
              </a:spcAft>
              <a:buSzPct val="100000"/>
              <a:buChar char="•"/>
            </a:pPr>
            <a:r>
              <a:rPr lang="en-US" sz="1400" dirty="0">
                <a:solidFill>
                  <a:srgbClr val="1D1D1F"/>
                </a:solidFill>
                <a:latin typeface="Helvetica Neue" pitchFamily="34" charset="0"/>
                <a:ea typeface="Helvetica Neue" pitchFamily="34" charset="-122"/>
                <a:cs typeface="Helvetica Neue" pitchFamily="34" charset="-120"/>
              </a:rPr>
              <a:t>XcodeGen writes the .xcodeproj from YAML, so the build is reviewable</a:t>
            </a:r>
            <a:endParaRPr lang="en-US" sz="1400" dirty="0"/>
          </a:p>
          <a:p>
            <a:pPr marL="203200" indent="-203200">
              <a:spcAft>
                <a:spcPts val="600"/>
              </a:spcAft>
              <a:buSzPct val="100000"/>
              <a:buChar char="•"/>
            </a:pPr>
            <a:r>
              <a:rPr lang="en-US" sz="1400" dirty="0">
                <a:solidFill>
                  <a:srgbClr val="1D1D1F"/>
                </a:solidFill>
                <a:latin typeface="Helvetica Neue" pitchFamily="34" charset="0"/>
                <a:ea typeface="Helvetica Neue" pitchFamily="34" charset="-122"/>
                <a:cs typeface="Helvetica Neue" pitchFamily="34" charset="-120"/>
              </a:rPr>
              <a:t>One flag removes writing assistance and its network entitlement</a:t>
            </a:r>
            <a:endParaRPr lang="en-US" sz="1400" dirty="0"/>
          </a:p>
          <a:p>
            <a:pPr marL="203200" indent="-203200">
              <a:spcAft>
                <a:spcPts val="600"/>
              </a:spcAft>
              <a:buSzPct val="100000"/>
              <a:buChar char="•"/>
            </a:pPr>
            <a:r>
              <a:rPr lang="en-US" sz="1400" dirty="0">
                <a:solidFill>
                  <a:srgbClr val="1D1D1F"/>
                </a:solidFill>
                <a:latin typeface="Helvetica Neue" pitchFamily="34" charset="0"/>
                <a:ea typeface="Helvetica Neue" pitchFamily="34" charset="-122"/>
                <a:cs typeface="Helvetica Neue" pitchFamily="34" charset="-120"/>
              </a:rPr>
              <a:t>GitHub Actions on every push: tests, SwiftLint, SwiftFormat, CLI smoke test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11094415" y="6400800"/>
            <a:ext cx="640080" cy="274320"/>
          </a:xfrm>
          <a:prstGeom prst="rect">
            <a:avLst/>
          </a:prstGeom>
          <a:noFill/>
          <a:ln/>
        </p:spPr>
        <p:txBody>
          <a:bodyPr wrap="square" lIns="0" tIns="0" rIns="0" bIns="0" rtlCol="0" anchor="ctr"/>
          <a:lstStyle/>
          <a:p>
            <a:pPr algn="r" indent="0" marL="0">
              <a:buNone/>
            </a:pPr>
            <a:r>
              <a:rPr lang="en-US" sz="1000" dirty="0">
                <a:solidFill>
                  <a:srgbClr val="6E6E73"/>
                </a:solidFill>
                <a:latin typeface="Helvetica Neue" pitchFamily="34" charset="0"/>
                <a:ea typeface="Helvetica Neue" pitchFamily="34" charset="-122"/>
                <a:cs typeface="Helvetica Neue" pitchFamily="34" charset="-120"/>
              </a:rPr>
              <a:t>13</a:t>
            </a:r>
            <a:endParaRPr lang="en-US" sz="1000" dirty="0"/>
          </a:p>
        </p:txBody>
      </p:sp>
      <p:sp>
        <p:nvSpPr>
          <p:cNvPr id="4" name="Text 1"/>
          <p:cNvSpPr txBox="1"/>
          <p:nvPr/>
        </p:nvSpPr>
        <p:spPr>
          <a:xfrm>
            <a:off x="640080" y="274320"/>
            <a:ext cx="10911535" cy="274320"/>
          </a:xfrm>
          <a:prstGeom prst="rect">
            <a:avLst/>
          </a:prstGeom>
          <a:noFill/>
          <a:ln/>
        </p:spPr>
        <p:txBody>
          <a:bodyPr wrap="square" lIns="0" tIns="0" rIns="0" bIns="0" rtlCol="0" anchor="ctr"/>
          <a:lstStyle/>
          <a:p>
            <a:pPr indent="0" marL="0">
              <a:buNone/>
            </a:pPr>
            <a:r>
              <a:rPr lang="en-US" sz="1200" b="1" spc="150" kern="0" dirty="0">
                <a:solidFill>
                  <a:srgbClr val="6E6E73"/>
                </a:solidFill>
                <a:latin typeface="Helvetica Neue" pitchFamily="34" charset="0"/>
                <a:ea typeface="Helvetica Neue" pitchFamily="34" charset="-122"/>
                <a:cs typeface="Helvetica Neue" pitchFamily="34" charset="-120"/>
              </a:rPr>
              <a:t>CLOUD AND DELIVERY</a:t>
            </a:r>
            <a:endParaRPr lang="en-US" sz="1200" dirty="0"/>
          </a:p>
        </p:txBody>
      </p:sp>
      <p:sp>
        <p:nvSpPr>
          <p:cNvPr id="5" name="Text 2"/>
          <p:cNvSpPr txBox="1"/>
          <p:nvPr/>
        </p:nvSpPr>
        <p:spPr>
          <a:xfrm>
            <a:off x="640080" y="502920"/>
            <a:ext cx="10911535" cy="822960"/>
          </a:xfrm>
          <a:prstGeom prst="rect">
            <a:avLst/>
          </a:prstGeom>
          <a:noFill/>
          <a:ln/>
        </p:spPr>
        <p:txBody>
          <a:bodyPr wrap="square" lIns="0" tIns="0" rIns="0" bIns="0" rtlCol="0" anchor="t"/>
          <a:lstStyle/>
          <a:p>
            <a:pPr indent="0" marL="0">
              <a:buNone/>
            </a:pPr>
            <a:r>
              <a:rPr lang="en-US" sz="3400" b="1" dirty="0">
                <a:solidFill>
                  <a:srgbClr val="1D1D1F"/>
                </a:solidFill>
                <a:latin typeface="Helvetica Neue" pitchFamily="34" charset="0"/>
                <a:ea typeface="Helvetica Neue" pitchFamily="34" charset="-122"/>
                <a:cs typeface="Helvetica Neue" pitchFamily="34" charset="-120"/>
              </a:rPr>
              <a:t>The cloud carries the software, not your data</a:t>
            </a:r>
            <a:endParaRPr lang="en-US" sz="3400" dirty="0"/>
          </a:p>
        </p:txBody>
      </p:sp>
      <p:sp>
        <p:nvSpPr>
          <p:cNvPr id="6" name="Shape 3"/>
          <p:cNvSpPr/>
          <p:nvPr/>
        </p:nvSpPr>
        <p:spPr>
          <a:xfrm>
            <a:off x="640080" y="1600200"/>
            <a:ext cx="2350694" cy="1234440"/>
          </a:xfrm>
          <a:prstGeom prst="roundRect">
            <a:avLst>
              <a:gd name="adj" fmla="val 13333"/>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7" name="Text 4"/>
          <p:cNvSpPr txBox="1"/>
          <p:nvPr/>
        </p:nvSpPr>
        <p:spPr>
          <a:xfrm>
            <a:off x="868680" y="1810512"/>
            <a:ext cx="1893494" cy="411480"/>
          </a:xfrm>
          <a:prstGeom prst="rect">
            <a:avLst/>
          </a:prstGeom>
          <a:noFill/>
          <a:ln/>
        </p:spPr>
        <p:txBody>
          <a:bodyPr wrap="square" lIns="0" tIns="0" rIns="0" bIns="0" rtlCol="0" anchor="t"/>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git push</a:t>
            </a:r>
            <a:endParaRPr lang="en-US" sz="1600" dirty="0"/>
          </a:p>
        </p:txBody>
      </p:sp>
      <p:sp>
        <p:nvSpPr>
          <p:cNvPr id="8" name="Text 5"/>
          <p:cNvSpPr txBox="1"/>
          <p:nvPr/>
        </p:nvSpPr>
        <p:spPr>
          <a:xfrm>
            <a:off x="868680" y="2267712"/>
            <a:ext cx="1893494" cy="365760"/>
          </a:xfrm>
          <a:prstGeom prst="rect">
            <a:avLst/>
          </a:prstGeom>
          <a:noFill/>
          <a:ln/>
        </p:spPr>
        <p:txBody>
          <a:bodyPr wrap="square" lIns="0" tIns="0" rIns="0" bIns="0" rtlCol="0" anchor="t"/>
          <a:lstStyle/>
          <a:p>
            <a:pPr indent="0" marL="0">
              <a:buNone/>
            </a:pPr>
            <a:r>
              <a:rPr lang="en-US" sz="1250" dirty="0">
                <a:solidFill>
                  <a:srgbClr val="6E6E73"/>
                </a:solidFill>
                <a:latin typeface="Helvetica Neue" pitchFamily="34" charset="0"/>
                <a:ea typeface="Helvetica Neue" pitchFamily="34" charset="-122"/>
                <a:cs typeface="Helvetica Neue" pitchFamily="34" charset="-120"/>
              </a:rPr>
              <a:t>every commit</a:t>
            </a:r>
            <a:endParaRPr lang="en-US" sz="1250" dirty="0"/>
          </a:p>
        </p:txBody>
      </p:sp>
      <p:sp>
        <p:nvSpPr>
          <p:cNvPr id="9" name="Text 6"/>
          <p:cNvSpPr txBox="1"/>
          <p:nvPr/>
        </p:nvSpPr>
        <p:spPr>
          <a:xfrm>
            <a:off x="3063926" y="1920240"/>
            <a:ext cx="365760" cy="457200"/>
          </a:xfrm>
          <a:prstGeom prst="rect">
            <a:avLst/>
          </a:prstGeom>
          <a:noFill/>
          <a:ln/>
        </p:spPr>
        <p:txBody>
          <a:bodyPr wrap="square" lIns="0" tIns="0" rIns="0" bIns="0" rtlCol="0" anchor="t"/>
          <a:lstStyle/>
          <a:p>
            <a:pPr algn="ctr" indent="0" marL="0">
              <a:buNone/>
            </a:pPr>
            <a:r>
              <a:rPr lang="en-US" sz="2200" dirty="0">
                <a:solidFill>
                  <a:srgbClr val="6E6E73"/>
                </a:solidFill>
                <a:latin typeface="Helvetica Neue" pitchFamily="34" charset="0"/>
                <a:ea typeface="Helvetica Neue" pitchFamily="34" charset="-122"/>
                <a:cs typeface="Helvetica Neue" pitchFamily="34" charset="-120"/>
              </a:rPr>
              <a:t>→</a:t>
            </a:r>
            <a:endParaRPr lang="en-US" sz="2200" dirty="0"/>
          </a:p>
        </p:txBody>
      </p:sp>
      <p:sp>
        <p:nvSpPr>
          <p:cNvPr id="10" name="Shape 7"/>
          <p:cNvSpPr/>
          <p:nvPr/>
        </p:nvSpPr>
        <p:spPr>
          <a:xfrm>
            <a:off x="3493694" y="1600200"/>
            <a:ext cx="2350694" cy="1234440"/>
          </a:xfrm>
          <a:prstGeom prst="roundRect">
            <a:avLst>
              <a:gd name="adj" fmla="val 13333"/>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11" name="Text 8"/>
          <p:cNvSpPr txBox="1"/>
          <p:nvPr/>
        </p:nvSpPr>
        <p:spPr>
          <a:xfrm>
            <a:off x="3722294" y="1810512"/>
            <a:ext cx="1893494" cy="411480"/>
          </a:xfrm>
          <a:prstGeom prst="rect">
            <a:avLst/>
          </a:prstGeom>
          <a:noFill/>
          <a:ln/>
        </p:spPr>
        <p:txBody>
          <a:bodyPr wrap="square" lIns="0" tIns="0" rIns="0" bIns="0" rtlCol="0" anchor="t"/>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Tests + lint</a:t>
            </a:r>
            <a:endParaRPr lang="en-US" sz="1600" dirty="0"/>
          </a:p>
        </p:txBody>
      </p:sp>
      <p:sp>
        <p:nvSpPr>
          <p:cNvPr id="12" name="Text 9"/>
          <p:cNvSpPr txBox="1"/>
          <p:nvPr/>
        </p:nvSpPr>
        <p:spPr>
          <a:xfrm>
            <a:off x="3722294" y="2267712"/>
            <a:ext cx="1893494" cy="365760"/>
          </a:xfrm>
          <a:prstGeom prst="rect">
            <a:avLst/>
          </a:prstGeom>
          <a:noFill/>
          <a:ln/>
        </p:spPr>
        <p:txBody>
          <a:bodyPr wrap="square" lIns="0" tIns="0" rIns="0" bIns="0" rtlCol="0" anchor="t"/>
          <a:lstStyle/>
          <a:p>
            <a:pPr indent="0" marL="0">
              <a:buNone/>
            </a:pPr>
            <a:r>
              <a:rPr lang="en-US" sz="1250" dirty="0">
                <a:solidFill>
                  <a:srgbClr val="6E6E73"/>
                </a:solidFill>
                <a:latin typeface="Helvetica Neue" pitchFamily="34" charset="0"/>
                <a:ea typeface="Helvetica Neue" pitchFamily="34" charset="-122"/>
                <a:cs typeface="Helvetica Neue" pitchFamily="34" charset="-120"/>
              </a:rPr>
              <a:t>GitHub Actions</a:t>
            </a:r>
            <a:endParaRPr lang="en-US" sz="1250" dirty="0"/>
          </a:p>
        </p:txBody>
      </p:sp>
      <p:sp>
        <p:nvSpPr>
          <p:cNvPr id="13" name="Text 10"/>
          <p:cNvSpPr txBox="1"/>
          <p:nvPr/>
        </p:nvSpPr>
        <p:spPr>
          <a:xfrm>
            <a:off x="5917540" y="1920240"/>
            <a:ext cx="365760" cy="457200"/>
          </a:xfrm>
          <a:prstGeom prst="rect">
            <a:avLst/>
          </a:prstGeom>
          <a:noFill/>
          <a:ln/>
        </p:spPr>
        <p:txBody>
          <a:bodyPr wrap="square" lIns="0" tIns="0" rIns="0" bIns="0" rtlCol="0" anchor="t"/>
          <a:lstStyle/>
          <a:p>
            <a:pPr algn="ctr" indent="0" marL="0">
              <a:buNone/>
            </a:pPr>
            <a:r>
              <a:rPr lang="en-US" sz="2200" dirty="0">
                <a:solidFill>
                  <a:srgbClr val="6E6E73"/>
                </a:solidFill>
                <a:latin typeface="Helvetica Neue" pitchFamily="34" charset="0"/>
                <a:ea typeface="Helvetica Neue" pitchFamily="34" charset="-122"/>
                <a:cs typeface="Helvetica Neue" pitchFamily="34" charset="-120"/>
              </a:rPr>
              <a:t>→</a:t>
            </a:r>
            <a:endParaRPr lang="en-US" sz="2200" dirty="0"/>
          </a:p>
        </p:txBody>
      </p:sp>
      <p:sp>
        <p:nvSpPr>
          <p:cNvPr id="14" name="Shape 11"/>
          <p:cNvSpPr/>
          <p:nvPr/>
        </p:nvSpPr>
        <p:spPr>
          <a:xfrm>
            <a:off x="6347308" y="1600200"/>
            <a:ext cx="2350694" cy="1234440"/>
          </a:xfrm>
          <a:prstGeom prst="roundRect">
            <a:avLst>
              <a:gd name="adj" fmla="val 13333"/>
            </a:avLst>
          </a:prstGeom>
          <a:solidFill>
            <a:srgbClr val="1D1D1F"/>
          </a:solidFill>
          <a:ln w="12700">
            <a:solidFill>
              <a:srgbClr val="1D1D1F"/>
            </a:solidFill>
            <a:prstDash val="solid"/>
          </a:ln>
          <a:effectLst>
            <a:outerShdw sx="100000" sy="100000" kx="0" ky="0" algn="bl" rotWithShape="0" blurRad="152400" dist="38100" dir="5400000">
              <a:srgbClr val="000000">
                <a:alpha val="10000"/>
              </a:srgbClr>
            </a:outerShdw>
          </a:effectLst>
        </p:spPr>
      </p:sp>
      <p:sp>
        <p:nvSpPr>
          <p:cNvPr id="15" name="Text 12"/>
          <p:cNvSpPr txBox="1"/>
          <p:nvPr/>
        </p:nvSpPr>
        <p:spPr>
          <a:xfrm>
            <a:off x="6575908" y="1810512"/>
            <a:ext cx="1893494" cy="411480"/>
          </a:xfrm>
          <a:prstGeom prst="rect">
            <a:avLst/>
          </a:prstGeom>
          <a:noFill/>
          <a:ln/>
        </p:spPr>
        <p:txBody>
          <a:bodyPr wrap="square" lIns="0" tIns="0" rIns="0" bIns="0" rtlCol="0" anchor="t"/>
          <a:lstStyle/>
          <a:p>
            <a:pPr indent="0" marL="0">
              <a:buNone/>
            </a:pPr>
            <a:r>
              <a:rPr lang="en-US" sz="1600" b="1" dirty="0">
                <a:solidFill>
                  <a:srgbClr val="FFFFFF"/>
                </a:solidFill>
                <a:latin typeface="Helvetica Neue" pitchFamily="34" charset="0"/>
                <a:ea typeface="Helvetica Neue" pitchFamily="34" charset="-122"/>
                <a:cs typeface="Helvetica Neue" pitchFamily="34" charset="-120"/>
              </a:rPr>
              <a:t>reportcard lint</a:t>
            </a:r>
            <a:endParaRPr lang="en-US" sz="1600" dirty="0"/>
          </a:p>
        </p:txBody>
      </p:sp>
      <p:sp>
        <p:nvSpPr>
          <p:cNvPr id="16" name="Text 13"/>
          <p:cNvSpPr txBox="1"/>
          <p:nvPr/>
        </p:nvSpPr>
        <p:spPr>
          <a:xfrm>
            <a:off x="6575908" y="2267712"/>
            <a:ext cx="1893494" cy="365760"/>
          </a:xfrm>
          <a:prstGeom prst="rect">
            <a:avLst/>
          </a:prstGeom>
          <a:noFill/>
          <a:ln/>
        </p:spPr>
        <p:txBody>
          <a:bodyPr wrap="square" lIns="0" tIns="0" rIns="0" bIns="0" rtlCol="0" anchor="t"/>
          <a:lstStyle/>
          <a:p>
            <a:pPr indent="0" marL="0">
              <a:buNone/>
            </a:pPr>
            <a:r>
              <a:rPr lang="en-US" sz="1250" dirty="0">
                <a:solidFill>
                  <a:srgbClr val="A1A1A6"/>
                </a:solidFill>
                <a:latin typeface="Helvetica Neue" pitchFamily="34" charset="0"/>
                <a:ea typeface="Helvetica Neue" pitchFamily="34" charset="-122"/>
                <a:cs typeface="Helvetica Neue" pitchFamily="34" charset="-120"/>
              </a:rPr>
              <a:t>accessibility gate</a:t>
            </a:r>
            <a:endParaRPr lang="en-US" sz="1250" dirty="0"/>
          </a:p>
        </p:txBody>
      </p:sp>
      <p:sp>
        <p:nvSpPr>
          <p:cNvPr id="17" name="Text 14"/>
          <p:cNvSpPr txBox="1"/>
          <p:nvPr/>
        </p:nvSpPr>
        <p:spPr>
          <a:xfrm>
            <a:off x="8771153" y="1920240"/>
            <a:ext cx="365760" cy="457200"/>
          </a:xfrm>
          <a:prstGeom prst="rect">
            <a:avLst/>
          </a:prstGeom>
          <a:noFill/>
          <a:ln/>
        </p:spPr>
        <p:txBody>
          <a:bodyPr wrap="square" lIns="0" tIns="0" rIns="0" bIns="0" rtlCol="0" anchor="t"/>
          <a:lstStyle/>
          <a:p>
            <a:pPr algn="ctr" indent="0" marL="0">
              <a:buNone/>
            </a:pPr>
            <a:r>
              <a:rPr lang="en-US" sz="2200" dirty="0">
                <a:solidFill>
                  <a:srgbClr val="6E6E73"/>
                </a:solidFill>
                <a:latin typeface="Helvetica Neue" pitchFamily="34" charset="0"/>
                <a:ea typeface="Helvetica Neue" pitchFamily="34" charset="-122"/>
                <a:cs typeface="Helvetica Neue" pitchFamily="34" charset="-120"/>
              </a:rPr>
              <a:t>→</a:t>
            </a:r>
            <a:endParaRPr lang="en-US" sz="2200" dirty="0"/>
          </a:p>
        </p:txBody>
      </p:sp>
      <p:sp>
        <p:nvSpPr>
          <p:cNvPr id="18" name="Shape 15"/>
          <p:cNvSpPr/>
          <p:nvPr/>
        </p:nvSpPr>
        <p:spPr>
          <a:xfrm>
            <a:off x="9200921" y="1600200"/>
            <a:ext cx="2350694" cy="1234440"/>
          </a:xfrm>
          <a:prstGeom prst="roundRect">
            <a:avLst>
              <a:gd name="adj" fmla="val 13333"/>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19" name="Text 16"/>
          <p:cNvSpPr txBox="1"/>
          <p:nvPr/>
        </p:nvSpPr>
        <p:spPr>
          <a:xfrm>
            <a:off x="9429521" y="1810512"/>
            <a:ext cx="1893494" cy="411480"/>
          </a:xfrm>
          <a:prstGeom prst="rect">
            <a:avLst/>
          </a:prstGeom>
          <a:noFill/>
          <a:ln/>
        </p:spPr>
        <p:txBody>
          <a:bodyPr wrap="square" lIns="0" tIns="0" rIns="0" bIns="0" rtlCol="0" anchor="t"/>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Pages gallery</a:t>
            </a:r>
            <a:endParaRPr lang="en-US" sz="1600" dirty="0"/>
          </a:p>
        </p:txBody>
      </p:sp>
      <p:sp>
        <p:nvSpPr>
          <p:cNvPr id="20" name="Text 17"/>
          <p:cNvSpPr txBox="1"/>
          <p:nvPr/>
        </p:nvSpPr>
        <p:spPr>
          <a:xfrm>
            <a:off x="9429521" y="2267712"/>
            <a:ext cx="1893494" cy="365760"/>
          </a:xfrm>
          <a:prstGeom prst="rect">
            <a:avLst/>
          </a:prstGeom>
          <a:noFill/>
          <a:ln/>
        </p:spPr>
        <p:txBody>
          <a:bodyPr wrap="square" lIns="0" tIns="0" rIns="0" bIns="0" rtlCol="0" anchor="t"/>
          <a:lstStyle/>
          <a:p>
            <a:pPr indent="0" marL="0">
              <a:buNone/>
            </a:pPr>
            <a:r>
              <a:rPr lang="en-US" sz="1250" dirty="0">
                <a:solidFill>
                  <a:srgbClr val="6E6E73"/>
                </a:solidFill>
                <a:latin typeface="Helvetica Neue" pitchFamily="34" charset="0"/>
                <a:ea typeface="Helvetica Neue" pitchFamily="34" charset="-122"/>
                <a:cs typeface="Helvetica Neue" pitchFamily="34" charset="-120"/>
              </a:rPr>
              <a:t>same HTML renderer</a:t>
            </a:r>
            <a:endParaRPr lang="en-US" sz="1250" dirty="0"/>
          </a:p>
        </p:txBody>
      </p:sp>
      <p:sp>
        <p:nvSpPr>
          <p:cNvPr id="21" name="Shape 18"/>
          <p:cNvSpPr/>
          <p:nvPr/>
        </p:nvSpPr>
        <p:spPr>
          <a:xfrm>
            <a:off x="640080" y="3154680"/>
            <a:ext cx="5760720" cy="3108960"/>
          </a:xfrm>
          <a:prstGeom prst="roundRect">
            <a:avLst>
              <a:gd name="adj" fmla="val 5294"/>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pic>
        <p:nvPicPr>
          <p:cNvPr id="22" name="gallery-fade.png" descr="The published card gallery page, showing the weekly status and milestone templates rendered by the same HTML renderer the app uses for email.">    </p:cNvPr>
          <p:cNvPicPr>
            <a:picLocks noChangeAspect="1"/>
          </p:cNvPicPr>
          <p:nvPr/>
        </p:nvPicPr>
        <p:blipFill>
          <a:blip r:embed="rId1"/>
          <a:srcRect l="0" r="0" t="0" b="0"/>
          <a:stretch/>
        </p:blipFill>
        <p:spPr>
          <a:xfrm>
            <a:off x="749808" y="3264408"/>
            <a:ext cx="5541264" cy="2889504"/>
          </a:xfrm>
          <a:prstGeom prst="rect">
            <a:avLst/>
          </a:prstGeom>
        </p:spPr>
      </p:pic>
      <p:sp>
        <p:nvSpPr>
          <p:cNvPr id="23" name="Text 19"/>
          <p:cNvSpPr txBox="1"/>
          <p:nvPr/>
        </p:nvSpPr>
        <p:spPr>
          <a:xfrm>
            <a:off x="6812280" y="3246120"/>
            <a:ext cx="4510735" cy="301752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1D1D1F"/>
                </a:solidFill>
                <a:latin typeface="Helvetica Neue" pitchFamily="34" charset="0"/>
                <a:ea typeface="Helvetica Neue" pitchFamily="34" charset="-122"/>
                <a:cs typeface="Helvetica Neue" pitchFamily="34" charset="-120"/>
              </a:rPr>
              <a:t>User data stays on the Mac by design</a:t>
            </a:r>
            <a:endParaRPr lang="en-US" sz="1400" dirty="0"/>
          </a:p>
          <a:p>
            <a:pPr marL="203200" indent="-203200">
              <a:spcAft>
                <a:spcPts val="800"/>
              </a:spcAft>
              <a:buSzPct val="100000"/>
              <a:buChar char="•"/>
            </a:pPr>
            <a:r>
              <a:rPr lang="en-US" sz="1400" dirty="0">
                <a:solidFill>
                  <a:srgbClr val="1D1D1F"/>
                </a:solidFill>
                <a:latin typeface="Helvetica Neue" pitchFamily="34" charset="0"/>
                <a:ea typeface="Helvetica Neue" pitchFamily="34" charset="-122"/>
                <a:cs typeface="Helvetica Neue" pitchFamily="34" charset="-120"/>
              </a:rPr>
              <a:t>Release workflow on a version tag: zipped app and checksum</a:t>
            </a:r>
            <a:endParaRPr lang="en-US" sz="1400" dirty="0"/>
          </a:p>
          <a:p>
            <a:pPr marL="203200" indent="-203200">
              <a:spcAft>
                <a:spcPts val="800"/>
              </a:spcAft>
              <a:buSzPct val="100000"/>
              <a:buChar char="•"/>
            </a:pPr>
            <a:r>
              <a:rPr lang="en-US" sz="1400" dirty="0">
                <a:solidFill>
                  <a:srgbClr val="1D1D1F"/>
                </a:solidFill>
                <a:latin typeface="Helvetica Neue" pitchFamily="34" charset="0"/>
                <a:ea typeface="Helvetica Neue" pitchFamily="34" charset="-122"/>
                <a:cs typeface="Helvetica Neue" pitchFamily="34" charset="-120"/>
              </a:rPr>
              <a:t>Headless CLI: render from JSON, lint in any pipeline</a:t>
            </a:r>
            <a:endParaRPr lang="en-US" sz="1400" dirty="0"/>
          </a:p>
          <a:p>
            <a:pPr marL="203200" indent="-203200">
              <a:spcAft>
                <a:spcPts val="800"/>
              </a:spcAft>
              <a:buSzPct val="100000"/>
              <a:buChar char="•"/>
            </a:pPr>
            <a:r>
              <a:rPr lang="en-US" sz="1400" dirty="0">
                <a:solidFill>
                  <a:srgbClr val="1D1D1F"/>
                </a:solidFill>
                <a:latin typeface="Helvetica Neue" pitchFamily="34" charset="0"/>
                <a:ea typeface="Helvetica Neue" pitchFamily="34" charset="-122"/>
                <a:cs typeface="Helvetica Neue" pitchFamily="34" charset="-120"/>
              </a:rPr>
              <a:t>Enterprise path: notarise, then Apple Business Manager or MDM</a:t>
            </a:r>
            <a:endParaRPr lang="en-US" sz="1400" dirty="0"/>
          </a:p>
          <a:p>
            <a:pPr marL="203200" indent="-203200">
              <a:spcAft>
                <a:spcPts val="800"/>
              </a:spcAft>
              <a:buSzPct val="100000"/>
              <a:buChar char="•"/>
            </a:pPr>
            <a:r>
              <a:rPr lang="en-US" sz="1400" dirty="0">
                <a:solidFill>
                  <a:srgbClr val="1D1D1F"/>
                </a:solidFill>
                <a:latin typeface="Helvetica Neue" pitchFamily="34" charset="0"/>
                <a:ea typeface="Helvetica Neue" pitchFamily="34" charset="-122"/>
                <a:cs typeface="Helvetica Neue" pitchFamily="34" charset="-120"/>
              </a:rPr>
              <a:t>Next: share links via CloudKit or an internal Swift service; the renderers do not change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11094415" y="6400800"/>
            <a:ext cx="640080" cy="274320"/>
          </a:xfrm>
          <a:prstGeom prst="rect">
            <a:avLst/>
          </a:prstGeom>
          <a:noFill/>
          <a:ln/>
        </p:spPr>
        <p:txBody>
          <a:bodyPr wrap="square" lIns="0" tIns="0" rIns="0" bIns="0" rtlCol="0" anchor="ctr"/>
          <a:lstStyle/>
          <a:p>
            <a:pPr algn="r" indent="0" marL="0">
              <a:buNone/>
            </a:pPr>
            <a:r>
              <a:rPr lang="en-US" sz="1000" dirty="0">
                <a:solidFill>
                  <a:srgbClr val="6E6E73"/>
                </a:solidFill>
                <a:latin typeface="Helvetica Neue" pitchFamily="34" charset="0"/>
                <a:ea typeface="Helvetica Neue" pitchFamily="34" charset="-122"/>
                <a:cs typeface="Helvetica Neue" pitchFamily="34" charset="-120"/>
              </a:rPr>
              <a:t>14</a:t>
            </a:r>
            <a:endParaRPr lang="en-US" sz="1000" dirty="0"/>
          </a:p>
        </p:txBody>
      </p:sp>
      <p:sp>
        <p:nvSpPr>
          <p:cNvPr id="4" name="Text 1"/>
          <p:cNvSpPr txBox="1"/>
          <p:nvPr/>
        </p:nvSpPr>
        <p:spPr>
          <a:xfrm>
            <a:off x="640080" y="274320"/>
            <a:ext cx="10911535" cy="274320"/>
          </a:xfrm>
          <a:prstGeom prst="rect">
            <a:avLst/>
          </a:prstGeom>
          <a:noFill/>
          <a:ln/>
        </p:spPr>
        <p:txBody>
          <a:bodyPr wrap="square" lIns="0" tIns="0" rIns="0" bIns="0" rtlCol="0" anchor="ctr"/>
          <a:lstStyle/>
          <a:p>
            <a:pPr indent="0" marL="0">
              <a:buNone/>
            </a:pPr>
            <a:r>
              <a:rPr lang="en-US" sz="1200" b="1" spc="150" kern="0" dirty="0">
                <a:solidFill>
                  <a:srgbClr val="6E6E73"/>
                </a:solidFill>
                <a:latin typeface="Helvetica Neue" pitchFamily="34" charset="0"/>
                <a:ea typeface="Helvetica Neue" pitchFamily="34" charset="-122"/>
                <a:cs typeface="Helvetica Neue" pitchFamily="34" charset="-120"/>
              </a:rPr>
              <a:t>TRADE-OFFS</a:t>
            </a:r>
            <a:endParaRPr lang="en-US" sz="1200" dirty="0"/>
          </a:p>
        </p:txBody>
      </p:sp>
      <p:sp>
        <p:nvSpPr>
          <p:cNvPr id="5" name="Text 2"/>
          <p:cNvSpPr txBox="1"/>
          <p:nvPr/>
        </p:nvSpPr>
        <p:spPr>
          <a:xfrm>
            <a:off x="640080" y="502920"/>
            <a:ext cx="10911535" cy="822960"/>
          </a:xfrm>
          <a:prstGeom prst="rect">
            <a:avLst/>
          </a:prstGeom>
          <a:noFill/>
          <a:ln/>
        </p:spPr>
        <p:txBody>
          <a:bodyPr wrap="square" lIns="0" tIns="0" rIns="0" bIns="0" rtlCol="0" anchor="t"/>
          <a:lstStyle/>
          <a:p>
            <a:pPr indent="0" marL="0">
              <a:buNone/>
            </a:pPr>
            <a:r>
              <a:rPr lang="en-US" sz="3400" b="1" dirty="0">
                <a:solidFill>
                  <a:srgbClr val="1D1D1F"/>
                </a:solidFill>
                <a:latin typeface="Helvetica Neue" pitchFamily="34" charset="0"/>
                <a:ea typeface="Helvetica Neue" pitchFamily="34" charset="-122"/>
                <a:cs typeface="Helvetica Neue" pitchFamily="34" charset="-120"/>
              </a:rPr>
              <a:t>What I would not claim yet</a:t>
            </a:r>
            <a:endParaRPr lang="en-US" sz="3400" dirty="0"/>
          </a:p>
        </p:txBody>
      </p:sp>
      <p:sp>
        <p:nvSpPr>
          <p:cNvPr id="6" name="Shape 3"/>
          <p:cNvSpPr/>
          <p:nvPr/>
        </p:nvSpPr>
        <p:spPr>
          <a:xfrm>
            <a:off x="640080" y="1508760"/>
            <a:ext cx="5227168" cy="3749040"/>
          </a:xfrm>
          <a:prstGeom prst="roundRect">
            <a:avLst>
              <a:gd name="adj" fmla="val 4390"/>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7" name="Text 4"/>
          <p:cNvSpPr txBox="1"/>
          <p:nvPr/>
        </p:nvSpPr>
        <p:spPr>
          <a:xfrm>
            <a:off x="1005840" y="1737360"/>
            <a:ext cx="4495648" cy="365760"/>
          </a:xfrm>
          <a:prstGeom prst="rect">
            <a:avLst/>
          </a:prstGeom>
          <a:noFill/>
          <a:ln/>
        </p:spPr>
        <p:txBody>
          <a:bodyPr wrap="square" lIns="0" tIns="0" rIns="0" bIns="0" rtlCol="0" anchor="t"/>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Not verified, and documented as such</a:t>
            </a:r>
            <a:endParaRPr lang="en-US" sz="1700" dirty="0"/>
          </a:p>
        </p:txBody>
      </p:sp>
      <p:sp>
        <p:nvSpPr>
          <p:cNvPr id="8" name="Text 5"/>
          <p:cNvSpPr txBox="1"/>
          <p:nvPr/>
        </p:nvSpPr>
        <p:spPr>
          <a:xfrm>
            <a:off x="1005840" y="2240280"/>
            <a:ext cx="4495648" cy="292608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rgbClr val="1D1D1F"/>
                </a:solidFill>
                <a:latin typeface="Helvetica Neue" pitchFamily="34" charset="0"/>
                <a:ea typeface="Helvetica Neue" pitchFamily="34" charset="-122"/>
                <a:cs typeface="Helvetica Neue" pitchFamily="34" charset="-120"/>
              </a:rPr>
              <a:t>On-device model: compiles with availability checks, not run (my Mac is on macOS 15)</a:t>
            </a:r>
            <a:endParaRPr lang="en-US" sz="1400" dirty="0"/>
          </a:p>
          <a:p>
            <a:pPr marL="203200" indent="-203200">
              <a:spcAft>
                <a:spcPts val="900"/>
              </a:spcAft>
              <a:buSzPct val="100000"/>
              <a:buChar char="•"/>
            </a:pPr>
            <a:r>
              <a:rPr lang="en-US" sz="1400" dirty="0">
                <a:solidFill>
                  <a:srgbClr val="1D1D1F"/>
                </a:solidFill>
                <a:latin typeface="Helvetica Neue" pitchFamily="34" charset="0"/>
                <a:ea typeface="Helvetica Neue" pitchFamily="34" charset="-122"/>
                <a:cs typeface="Helvetica Neue" pitchFamily="34" charset="-120"/>
              </a:rPr>
              <a:t>Paste targets: “verified” and “expected” are kept apart in the docs</a:t>
            </a:r>
            <a:endParaRPr lang="en-US" sz="1400" dirty="0"/>
          </a:p>
          <a:p>
            <a:pPr marL="203200" indent="-203200">
              <a:spcAft>
                <a:spcPts val="900"/>
              </a:spcAft>
              <a:buSzPct val="100000"/>
              <a:buChar char="•"/>
            </a:pPr>
            <a:r>
              <a:rPr lang="en-US" sz="1400" dirty="0">
                <a:solidFill>
                  <a:srgbClr val="1D1D1F"/>
                </a:solidFill>
                <a:latin typeface="Helvetica Neue" pitchFamily="34" charset="0"/>
                <a:ea typeface="Helvetica Neue" pitchFamily="34" charset="-122"/>
                <a:cs typeface="Helvetica Neue" pitchFamily="34" charset="-120"/>
              </a:rPr>
              <a:t>VoiceOver features: data is tested, the experience needs a human</a:t>
            </a:r>
            <a:endParaRPr lang="en-US" sz="1400" dirty="0"/>
          </a:p>
          <a:p>
            <a:pPr marL="203200" indent="-203200">
              <a:spcAft>
                <a:spcPts val="900"/>
              </a:spcAft>
              <a:buSzPct val="100000"/>
              <a:buChar char="•"/>
            </a:pPr>
            <a:r>
              <a:rPr lang="en-US" sz="1400" dirty="0">
                <a:solidFill>
                  <a:srgbClr val="1D1D1F"/>
                </a:solidFill>
                <a:latin typeface="Helvetica Neue" pitchFamily="34" charset="0"/>
                <a:ea typeface="Helvetica Neue" pitchFamily="34" charset="-122"/>
                <a:cs typeface="Helvetica Neue" pitchFamily="34" charset="-120"/>
              </a:rPr>
              <a:t>Tagged PDF: structure tree present, not validated against PDF/UA</a:t>
            </a:r>
            <a:endParaRPr lang="en-US" sz="1400" dirty="0"/>
          </a:p>
          <a:p>
            <a:pPr marL="203200" indent="-203200">
              <a:spcAft>
                <a:spcPts val="900"/>
              </a:spcAft>
              <a:buSzPct val="100000"/>
              <a:buChar char="•"/>
            </a:pPr>
            <a:r>
              <a:rPr lang="en-US" sz="1400" dirty="0">
                <a:solidFill>
                  <a:srgbClr val="1D1D1F"/>
                </a:solidFill>
                <a:latin typeface="Helvetica Neue" pitchFamily="34" charset="0"/>
                <a:ea typeface="Helvetica Neue" pitchFamily="34" charset="-122"/>
                <a:cs typeface="Helvetica Neue" pitchFamily="34" charset="-120"/>
              </a:rPr>
              <a:t>Ad-hoc signed; notarisation needs a Developer ID</a:t>
            </a:r>
            <a:endParaRPr lang="en-US" sz="1400" dirty="0"/>
          </a:p>
        </p:txBody>
      </p:sp>
      <p:sp>
        <p:nvSpPr>
          <p:cNvPr id="9" name="Shape 6"/>
          <p:cNvSpPr/>
          <p:nvPr/>
        </p:nvSpPr>
        <p:spPr>
          <a:xfrm>
            <a:off x="6324448" y="1508760"/>
            <a:ext cx="5227168" cy="3749040"/>
          </a:xfrm>
          <a:prstGeom prst="roundRect">
            <a:avLst>
              <a:gd name="adj" fmla="val 4390"/>
            </a:avLst>
          </a:prstGeom>
          <a:solidFill>
            <a:srgbClr val="FFFFFF"/>
          </a:solidFill>
          <a:ln w="12700">
            <a:solidFill>
              <a:srgbClr val="FFFFFF"/>
            </a:solidFill>
            <a:prstDash val="solid"/>
          </a:ln>
          <a:effectLst>
            <a:outerShdw sx="100000" sy="100000" kx="0" ky="0" algn="bl" rotWithShape="0" blurRad="152400" dist="38100" dir="5400000">
              <a:srgbClr val="000000">
                <a:alpha val="10000"/>
              </a:srgbClr>
            </a:outerShdw>
          </a:effectLst>
        </p:spPr>
      </p:sp>
      <p:sp>
        <p:nvSpPr>
          <p:cNvPr id="10" name="Text 7"/>
          <p:cNvSpPr txBox="1"/>
          <p:nvPr/>
        </p:nvSpPr>
        <p:spPr>
          <a:xfrm>
            <a:off x="6690208" y="1737360"/>
            <a:ext cx="4495648" cy="365760"/>
          </a:xfrm>
          <a:prstGeom prst="rect">
            <a:avLst/>
          </a:prstGeom>
          <a:noFill/>
          <a:ln/>
        </p:spPr>
        <p:txBody>
          <a:bodyPr wrap="square" lIns="0" tIns="0" rIns="0" bIns="0" rtlCol="0" anchor="t"/>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Deliberate limits and next steps</a:t>
            </a:r>
            <a:endParaRPr lang="en-US" sz="1700" dirty="0"/>
          </a:p>
        </p:txBody>
      </p:sp>
      <p:sp>
        <p:nvSpPr>
          <p:cNvPr id="11" name="Text 8"/>
          <p:cNvSpPr txBox="1"/>
          <p:nvPr/>
        </p:nvSpPr>
        <p:spPr>
          <a:xfrm>
            <a:off x="6690208" y="2240280"/>
            <a:ext cx="4495648" cy="292608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rgbClr val="1D1D1F"/>
                </a:solidFill>
                <a:latin typeface="Helvetica Neue" pitchFamily="34" charset="0"/>
                <a:ea typeface="Helvetica Neue" pitchFamily="34" charset="-122"/>
                <a:cs typeface="Helvetica Neue" pitchFamily="34" charset="-120"/>
              </a:rPr>
              <a:t>Tiny text markup on purpose, so every renderer agrees</a:t>
            </a:r>
            <a:endParaRPr lang="en-US" sz="1400" dirty="0"/>
          </a:p>
          <a:p>
            <a:pPr marL="203200" indent="-203200">
              <a:spcAft>
                <a:spcPts val="900"/>
              </a:spcAft>
              <a:buSzPct val="100000"/>
              <a:buChar char="•"/>
            </a:pPr>
            <a:r>
              <a:rPr lang="en-US" sz="1400" dirty="0">
                <a:solidFill>
                  <a:srgbClr val="1D1D1F"/>
                </a:solidFill>
                <a:latin typeface="Helvetica Neue" pitchFamily="34" charset="0"/>
                <a:ea typeface="Helvetica Neue" pitchFamily="34" charset="-122"/>
                <a:cs typeface="Helvetica Neue" pitchFamily="34" charset="-120"/>
              </a:rPr>
              <a:t>Rich text has no alt text: Mail gets the caption; HTML and PDF keep the description</a:t>
            </a:r>
            <a:endParaRPr lang="en-US" sz="1400" dirty="0"/>
          </a:p>
          <a:p>
            <a:pPr marL="203200" indent="-203200">
              <a:spcAft>
                <a:spcPts val="900"/>
              </a:spcAft>
              <a:buSzPct val="100000"/>
              <a:buChar char="•"/>
            </a:pPr>
            <a:r>
              <a:rPr lang="en-US" sz="1400" dirty="0">
                <a:solidFill>
                  <a:srgbClr val="1D1D1F"/>
                </a:solidFill>
                <a:latin typeface="Helvetica Neue" pitchFamily="34" charset="0"/>
                <a:ea typeface="Helvetica Neue" pitchFamily="34" charset="-122"/>
                <a:cs typeface="Helvetica Neue" pitchFamily="34" charset="-120"/>
              </a:rPr>
              <a:t>Colour-vision matrices are an approximation, not a clinical tool</a:t>
            </a:r>
            <a:endParaRPr lang="en-US" sz="1400" dirty="0"/>
          </a:p>
          <a:p>
            <a:pPr marL="203200" indent="-203200">
              <a:spcAft>
                <a:spcPts val="900"/>
              </a:spcAft>
              <a:buSzPct val="100000"/>
              <a:buChar char="•"/>
            </a:pPr>
            <a:r>
              <a:rPr lang="en-US" sz="1400" dirty="0">
                <a:solidFill>
                  <a:srgbClr val="1D1D1F"/>
                </a:solidFill>
                <a:latin typeface="Helvetica Neue" pitchFamily="34" charset="0"/>
                <a:ea typeface="Helvetica Neue" pitchFamily="34" charset="-122"/>
                <a:cs typeface="Helvetica Neue" pitchFamily="34" charset="-120"/>
              </a:rPr>
              <a:t>Next: iPad target on the same core, share links, localisation</a:t>
            </a:r>
            <a:endParaRPr lang="en-US" sz="1400" dirty="0"/>
          </a:p>
        </p:txBody>
      </p:sp>
      <p:sp>
        <p:nvSpPr>
          <p:cNvPr id="12" name="Text 9"/>
          <p:cNvSpPr txBox="1"/>
          <p:nvPr/>
        </p:nvSpPr>
        <p:spPr>
          <a:xfrm>
            <a:off x="640080" y="5577840"/>
            <a:ext cx="10911535" cy="640080"/>
          </a:xfrm>
          <a:prstGeom prst="rect">
            <a:avLst/>
          </a:prstGeom>
          <a:noFill/>
          <a:ln/>
        </p:spPr>
        <p:txBody>
          <a:bodyPr wrap="square" lIns="0" tIns="0" rIns="0" bIns="0" rtlCol="0" anchor="t"/>
          <a:lstStyle/>
          <a:p>
            <a:pPr indent="0" marL="0">
              <a:buNone/>
            </a:pPr>
            <a:r>
              <a:rPr lang="en-US" sz="1600" i="1" dirty="0">
                <a:solidFill>
                  <a:srgbClr val="1D1D1F"/>
                </a:solidFill>
                <a:latin typeface="Helvetica Neue" pitchFamily="34" charset="0"/>
                <a:ea typeface="Helvetica Neue" pitchFamily="34" charset="-122"/>
                <a:cs typeface="Helvetica Neue" pitchFamily="34" charset="-120"/>
              </a:rPr>
              <a:t>Each of these is written down in the repository, next to the feature it limits: the paste matrix, the accessibility notes and the decision records.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D1D1F"/>
        </a:solidFill>
      </p:bgPr>
    </p:bg>
    <p:spTree>
      <p:nvGrpSpPr>
        <p:cNvPr id="1" name=""/>
        <p:cNvGrpSpPr/>
        <p:nvPr/>
      </p:nvGrpSpPr>
      <p:grpSpPr>
        <a:xfrm>
          <a:off x="0" y="0"/>
          <a:ext cx="0" cy="0"/>
          <a:chOff x="0" y="0"/>
          <a:chExt cx="0" cy="0"/>
        </a:xfrm>
      </p:grpSpPr>
      <p:sp>
        <p:nvSpPr>
          <p:cNvPr id="2" name="Text 0"/>
          <p:cNvSpPr txBox="1"/>
          <p:nvPr/>
        </p:nvSpPr>
        <p:spPr>
          <a:xfrm>
            <a:off x="11094415" y="6400800"/>
            <a:ext cx="640080" cy="274320"/>
          </a:xfrm>
          <a:prstGeom prst="rect">
            <a:avLst/>
          </a:prstGeom>
          <a:noFill/>
          <a:ln/>
        </p:spPr>
        <p:txBody>
          <a:bodyPr wrap="square" lIns="0" tIns="0" rIns="0" bIns="0" rtlCol="0" anchor="ctr"/>
          <a:lstStyle/>
          <a:p>
            <a:pPr algn="r" indent="0" marL="0">
              <a:buNone/>
            </a:pPr>
            <a:r>
              <a:rPr lang="en-US" sz="1000" dirty="0">
                <a:solidFill>
                  <a:srgbClr val="A1A1A6"/>
                </a:solidFill>
                <a:latin typeface="Helvetica Neue" pitchFamily="34" charset="0"/>
                <a:ea typeface="Helvetica Neue" pitchFamily="34" charset="-122"/>
                <a:cs typeface="Helvetica Neue" pitchFamily="34" charset="-120"/>
              </a:rPr>
              <a:t>15</a:t>
            </a:r>
            <a:endParaRPr lang="en-US" sz="1000" dirty="0"/>
          </a:p>
        </p:txBody>
      </p:sp>
      <p:sp>
        <p:nvSpPr>
          <p:cNvPr id="4" name="Text 1"/>
          <p:cNvSpPr txBox="1"/>
          <p:nvPr/>
        </p:nvSpPr>
        <p:spPr>
          <a:xfrm>
            <a:off x="640080" y="502920"/>
            <a:ext cx="10911535" cy="822960"/>
          </a:xfrm>
          <a:prstGeom prst="rect">
            <a:avLst/>
          </a:prstGeom>
          <a:noFill/>
          <a:ln/>
        </p:spPr>
        <p:txBody>
          <a:bodyPr wrap="square" lIns="0" tIns="0" rIns="0" bIns="0" rtlCol="0" anchor="t"/>
          <a:lstStyle/>
          <a:p>
            <a:pPr indent="0" marL="0">
              <a:buNone/>
            </a:pPr>
            <a:r>
              <a:rPr lang="en-US" sz="3800" b="1" dirty="0">
                <a:solidFill>
                  <a:srgbClr val="FFFFFF"/>
                </a:solidFill>
                <a:latin typeface="Helvetica Neue" pitchFamily="34" charset="0"/>
                <a:ea typeface="Helvetica Neue" pitchFamily="34" charset="-122"/>
                <a:cs typeface="Helvetica Neue" pitchFamily="34" charset="-120"/>
              </a:rPr>
              <a:t>Three things to take away</a:t>
            </a:r>
            <a:endParaRPr lang="en-US" sz="3800" dirty="0"/>
          </a:p>
        </p:txBody>
      </p:sp>
      <p:sp>
        <p:nvSpPr>
          <p:cNvPr id="5" name="Text 2"/>
          <p:cNvSpPr txBox="1"/>
          <p:nvPr/>
        </p:nvSpPr>
        <p:spPr>
          <a:xfrm>
            <a:off x="640080" y="1783080"/>
            <a:ext cx="731520" cy="822960"/>
          </a:xfrm>
          <a:prstGeom prst="rect">
            <a:avLst/>
          </a:prstGeom>
          <a:noFill/>
          <a:ln/>
        </p:spPr>
        <p:txBody>
          <a:bodyPr wrap="square" lIns="0" tIns="0" rIns="0" bIns="0" rtlCol="0" anchor="t"/>
          <a:lstStyle/>
          <a:p>
            <a:pPr indent="0" marL="0">
              <a:buNone/>
            </a:pPr>
            <a:r>
              <a:rPr lang="en-US" sz="4400" b="1" dirty="0">
                <a:solidFill>
                  <a:srgbClr val="0066CC"/>
                </a:solidFill>
                <a:latin typeface="Helvetica Neue" pitchFamily="34" charset="0"/>
                <a:ea typeface="Helvetica Neue" pitchFamily="34" charset="-122"/>
                <a:cs typeface="Helvetica Neue" pitchFamily="34" charset="-120"/>
              </a:rPr>
              <a:t>1</a:t>
            </a:r>
            <a:endParaRPr lang="en-US" sz="4400" dirty="0"/>
          </a:p>
        </p:txBody>
      </p:sp>
      <p:sp>
        <p:nvSpPr>
          <p:cNvPr id="6" name="Text 3"/>
          <p:cNvSpPr txBox="1"/>
          <p:nvPr/>
        </p:nvSpPr>
        <p:spPr>
          <a:xfrm>
            <a:off x="1554480" y="1828800"/>
            <a:ext cx="9144000" cy="457200"/>
          </a:xfrm>
          <a:prstGeom prst="rect">
            <a:avLst/>
          </a:prstGeom>
          <a:noFill/>
          <a:ln/>
        </p:spPr>
        <p:txBody>
          <a:bodyPr wrap="square" lIns="0" tIns="0" rIns="0" bIns="0" rtlCol="0" anchor="t"/>
          <a:lstStyle/>
          <a:p>
            <a:pPr indent="0" marL="0">
              <a:buNone/>
            </a:pPr>
            <a:r>
              <a:rPr lang="en-US" sz="2400" b="1" dirty="0">
                <a:solidFill>
                  <a:srgbClr val="FFFFFF"/>
                </a:solidFill>
                <a:latin typeface="Helvetica Neue" pitchFamily="34" charset="0"/>
                <a:ea typeface="Helvetica Neue" pitchFamily="34" charset="-122"/>
                <a:cs typeface="Helvetica Neue" pitchFamily="34" charset="-120"/>
              </a:rPr>
              <a:t>One model, many renderers</a:t>
            </a:r>
            <a:endParaRPr lang="en-US" sz="2400" dirty="0"/>
          </a:p>
        </p:txBody>
      </p:sp>
      <p:sp>
        <p:nvSpPr>
          <p:cNvPr id="7" name="Text 4"/>
          <p:cNvSpPr txBox="1"/>
          <p:nvPr/>
        </p:nvSpPr>
        <p:spPr>
          <a:xfrm>
            <a:off x="1554480" y="2331720"/>
            <a:ext cx="9144000" cy="411480"/>
          </a:xfrm>
          <a:prstGeom prst="rect">
            <a:avLst/>
          </a:prstGeom>
          <a:noFill/>
          <a:ln/>
        </p:spPr>
        <p:txBody>
          <a:bodyPr wrap="square" lIns="0" tIns="0" rIns="0" bIns="0" rtlCol="0" anchor="t"/>
          <a:lstStyle/>
          <a:p>
            <a:pPr indent="0" marL="0">
              <a:buNone/>
            </a:pPr>
            <a:r>
              <a:rPr lang="en-US" sz="1600" dirty="0">
                <a:solidFill>
                  <a:srgbClr val="A1A1A6"/>
                </a:solidFill>
                <a:latin typeface="Helvetica Neue" pitchFamily="34" charset="0"/>
                <a:ea typeface="Helvetica Neue" pitchFamily="34" charset="-122"/>
                <a:cs typeface="Helvetica Neue" pitchFamily="34" charset="-120"/>
              </a:rPr>
              <a:t>What you see is what you paste, in every channel.</a:t>
            </a:r>
            <a:endParaRPr lang="en-US" sz="1600" dirty="0"/>
          </a:p>
        </p:txBody>
      </p:sp>
      <p:sp>
        <p:nvSpPr>
          <p:cNvPr id="8" name="Text 5"/>
          <p:cNvSpPr txBox="1"/>
          <p:nvPr/>
        </p:nvSpPr>
        <p:spPr>
          <a:xfrm>
            <a:off x="640080" y="3017520"/>
            <a:ext cx="731520" cy="822960"/>
          </a:xfrm>
          <a:prstGeom prst="rect">
            <a:avLst/>
          </a:prstGeom>
          <a:noFill/>
          <a:ln/>
        </p:spPr>
        <p:txBody>
          <a:bodyPr wrap="square" lIns="0" tIns="0" rIns="0" bIns="0" rtlCol="0" anchor="t"/>
          <a:lstStyle/>
          <a:p>
            <a:pPr indent="0" marL="0">
              <a:buNone/>
            </a:pPr>
            <a:r>
              <a:rPr lang="en-US" sz="4400" b="1" dirty="0">
                <a:solidFill>
                  <a:srgbClr val="0066CC"/>
                </a:solidFill>
                <a:latin typeface="Helvetica Neue" pitchFamily="34" charset="0"/>
                <a:ea typeface="Helvetica Neue" pitchFamily="34" charset="-122"/>
                <a:cs typeface="Helvetica Neue" pitchFamily="34" charset="-120"/>
              </a:rPr>
              <a:t>2</a:t>
            </a:r>
            <a:endParaRPr lang="en-US" sz="4400" dirty="0"/>
          </a:p>
        </p:txBody>
      </p:sp>
      <p:sp>
        <p:nvSpPr>
          <p:cNvPr id="9" name="Text 6"/>
          <p:cNvSpPr txBox="1"/>
          <p:nvPr/>
        </p:nvSpPr>
        <p:spPr>
          <a:xfrm>
            <a:off x="1554480" y="3063240"/>
            <a:ext cx="9144000" cy="457200"/>
          </a:xfrm>
          <a:prstGeom prst="rect">
            <a:avLst/>
          </a:prstGeom>
          <a:noFill/>
          <a:ln/>
        </p:spPr>
        <p:txBody>
          <a:bodyPr wrap="square" lIns="0" tIns="0" rIns="0" bIns="0" rtlCol="0" anchor="t"/>
          <a:lstStyle/>
          <a:p>
            <a:pPr indent="0" marL="0">
              <a:buNone/>
            </a:pPr>
            <a:r>
              <a:rPr lang="en-US" sz="2400" b="1" dirty="0">
                <a:solidFill>
                  <a:srgbClr val="FFFFFF"/>
                </a:solidFill>
                <a:latin typeface="Helvetica Neue" pitchFamily="34" charset="0"/>
                <a:ea typeface="Helvetica Neue" pitchFamily="34" charset="-122"/>
                <a:cs typeface="Helvetica Neue" pitchFamily="34" charset="-120"/>
              </a:rPr>
              <a:t>Accessibility you can hear and see</a:t>
            </a:r>
            <a:endParaRPr lang="en-US" sz="2400" dirty="0"/>
          </a:p>
        </p:txBody>
      </p:sp>
      <p:sp>
        <p:nvSpPr>
          <p:cNvPr id="10" name="Text 7"/>
          <p:cNvSpPr txBox="1"/>
          <p:nvPr/>
        </p:nvSpPr>
        <p:spPr>
          <a:xfrm>
            <a:off x="1554480" y="3566160"/>
            <a:ext cx="9144000" cy="411480"/>
          </a:xfrm>
          <a:prstGeom prst="rect">
            <a:avLst/>
          </a:prstGeom>
          <a:noFill/>
          <a:ln/>
        </p:spPr>
        <p:txBody>
          <a:bodyPr wrap="square" lIns="0" tIns="0" rIns="0" bIns="0" rtlCol="0" anchor="t"/>
          <a:lstStyle/>
          <a:p>
            <a:pPr indent="0" marL="0">
              <a:buNone/>
            </a:pPr>
            <a:r>
              <a:rPr lang="en-US" sz="1600" dirty="0">
                <a:solidFill>
                  <a:srgbClr val="A1A1A6"/>
                </a:solidFill>
                <a:latin typeface="Helvetica Neue" pitchFamily="34" charset="0"/>
                <a:ea typeface="Helvetica Neue" pitchFamily="34" charset="-122"/>
                <a:cs typeface="Helvetica Neue" pitchFamily="34" charset="-120"/>
              </a:rPr>
              <a:t>For the author, the reader, and the VoiceOver user.</a:t>
            </a:r>
            <a:endParaRPr lang="en-US" sz="1600" dirty="0"/>
          </a:p>
        </p:txBody>
      </p:sp>
      <p:sp>
        <p:nvSpPr>
          <p:cNvPr id="11" name="Text 8"/>
          <p:cNvSpPr txBox="1"/>
          <p:nvPr/>
        </p:nvSpPr>
        <p:spPr>
          <a:xfrm>
            <a:off x="640080" y="4251960"/>
            <a:ext cx="731520" cy="822960"/>
          </a:xfrm>
          <a:prstGeom prst="rect">
            <a:avLst/>
          </a:prstGeom>
          <a:noFill/>
          <a:ln/>
        </p:spPr>
        <p:txBody>
          <a:bodyPr wrap="square" lIns="0" tIns="0" rIns="0" bIns="0" rtlCol="0" anchor="t"/>
          <a:lstStyle/>
          <a:p>
            <a:pPr indent="0" marL="0">
              <a:buNone/>
            </a:pPr>
            <a:r>
              <a:rPr lang="en-US" sz="4400" b="1" dirty="0">
                <a:solidFill>
                  <a:srgbClr val="0066CC"/>
                </a:solidFill>
                <a:latin typeface="Helvetica Neue" pitchFamily="34" charset="0"/>
                <a:ea typeface="Helvetica Neue" pitchFamily="34" charset="-122"/>
                <a:cs typeface="Helvetica Neue" pitchFamily="34" charset="-120"/>
              </a:rPr>
              <a:t>3</a:t>
            </a:r>
            <a:endParaRPr lang="en-US" sz="4400" dirty="0"/>
          </a:p>
        </p:txBody>
      </p:sp>
      <p:sp>
        <p:nvSpPr>
          <p:cNvPr id="12" name="Text 9"/>
          <p:cNvSpPr txBox="1"/>
          <p:nvPr/>
        </p:nvSpPr>
        <p:spPr>
          <a:xfrm>
            <a:off x="1554480" y="4297680"/>
            <a:ext cx="9144000" cy="457200"/>
          </a:xfrm>
          <a:prstGeom prst="rect">
            <a:avLst/>
          </a:prstGeom>
          <a:noFill/>
          <a:ln/>
        </p:spPr>
        <p:txBody>
          <a:bodyPr wrap="square" lIns="0" tIns="0" rIns="0" bIns="0" rtlCol="0" anchor="t"/>
          <a:lstStyle/>
          <a:p>
            <a:pPr indent="0" marL="0">
              <a:buNone/>
            </a:pPr>
            <a:r>
              <a:rPr lang="en-US" sz="2400" b="1" dirty="0">
                <a:solidFill>
                  <a:srgbClr val="FFFFFF"/>
                </a:solidFill>
                <a:latin typeface="Helvetica Neue" pitchFamily="34" charset="0"/>
                <a:ea typeface="Helvetica Neue" pitchFamily="34" charset="-122"/>
                <a:cs typeface="Helvetica Neue" pitchFamily="34" charset="-120"/>
              </a:rPr>
              <a:t>Privacy is a design decision</a:t>
            </a:r>
            <a:endParaRPr lang="en-US" sz="2400" dirty="0"/>
          </a:p>
        </p:txBody>
      </p:sp>
      <p:sp>
        <p:nvSpPr>
          <p:cNvPr id="13" name="Text 10"/>
          <p:cNvSpPr txBox="1"/>
          <p:nvPr/>
        </p:nvSpPr>
        <p:spPr>
          <a:xfrm>
            <a:off x="1554480" y="4800600"/>
            <a:ext cx="9144000" cy="411480"/>
          </a:xfrm>
          <a:prstGeom prst="rect">
            <a:avLst/>
          </a:prstGeom>
          <a:noFill/>
          <a:ln/>
        </p:spPr>
        <p:txBody>
          <a:bodyPr wrap="square" lIns="0" tIns="0" rIns="0" bIns="0" rtlCol="0" anchor="t"/>
          <a:lstStyle/>
          <a:p>
            <a:pPr indent="0" marL="0">
              <a:buNone/>
            </a:pPr>
            <a:r>
              <a:rPr lang="en-US" sz="1600" dirty="0">
                <a:solidFill>
                  <a:srgbClr val="A1A1A6"/>
                </a:solidFill>
                <a:latin typeface="Helvetica Neue" pitchFamily="34" charset="0"/>
                <a:ea typeface="Helvetica Neue" pitchFamily="34" charset="-122"/>
                <a:cs typeface="Helvetica Neue" pitchFamily="34" charset="-120"/>
              </a:rPr>
              <a:t>Local by default, AI opt-in, and honest about what is a demo.</a:t>
            </a:r>
            <a:endParaRPr lang="en-US" sz="1600" dirty="0"/>
          </a:p>
        </p:txBody>
      </p:sp>
      <p:sp>
        <p:nvSpPr>
          <p:cNvPr id="14" name="Text 11"/>
          <p:cNvSpPr txBox="1"/>
          <p:nvPr/>
        </p:nvSpPr>
        <p:spPr>
          <a:xfrm>
            <a:off x="640080" y="5760720"/>
            <a:ext cx="7315200" cy="457200"/>
          </a:xfrm>
          <a:prstGeom prst="rect">
            <a:avLst/>
          </a:prstGeom>
          <a:noFill/>
          <a:ln/>
        </p:spPr>
        <p:txBody>
          <a:bodyPr wrap="square" lIns="0" tIns="0" rIns="0" bIns="0" rtlCol="0" anchor="t"/>
          <a:lstStyle/>
          <a:p>
            <a:pPr indent="0" marL="0">
              <a:buNone/>
            </a:pPr>
            <a:r>
              <a:rPr lang="en-US" sz="2000" b="1" dirty="0">
                <a:solidFill>
                  <a:srgbClr val="FFFFFF"/>
                </a:solidFill>
                <a:latin typeface="Helvetica Neue" pitchFamily="34" charset="0"/>
                <a:ea typeface="Helvetica Neue" pitchFamily="34" charset="-122"/>
                <a:cs typeface="Helvetica Neue" pitchFamily="34" charset="-120"/>
              </a:rPr>
              <a:t>Thank you. Questions?</a:t>
            </a:r>
            <a:endParaRPr lang="en-US" sz="2000" dirty="0"/>
          </a:p>
        </p:txBody>
      </p:sp>
      <p:sp>
        <p:nvSpPr>
          <p:cNvPr id="15" name="Text 12"/>
          <p:cNvSpPr txBox="1"/>
          <p:nvPr/>
        </p:nvSpPr>
        <p:spPr>
          <a:xfrm>
            <a:off x="640080" y="6217920"/>
            <a:ext cx="9144000" cy="320040"/>
          </a:xfrm>
          <a:prstGeom prst="rect">
            <a:avLst/>
          </a:prstGeom>
          <a:noFill/>
          <a:ln/>
        </p:spPr>
        <p:txBody>
          <a:bodyPr wrap="square" lIns="0" tIns="0" rIns="0" bIns="0" rtlCol="0" anchor="t"/>
          <a:lstStyle/>
          <a:p>
            <a:pPr indent="0" marL="0">
              <a:buNone/>
            </a:pPr>
            <a:r>
              <a:rPr lang="en-US" sz="1300" dirty="0">
                <a:solidFill>
                  <a:srgbClr val="A1A1A6"/>
                </a:solidFill>
                <a:latin typeface="Helvetica Neue" pitchFamily="34" charset="0"/>
                <a:ea typeface="Helvetica Neue" pitchFamily="34" charset="-122"/>
                <a:cs typeface="Helvetica Neue" pitchFamily="34" charset="-120"/>
              </a:rPr>
              <a:t>github.com/ANTI-Tony/apple_oa  ·  anti-tony.github.io/apple_oa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Reporting Builder</dc:title>
  <dc:subject>Project Reporting Builder: proof of concept</dc:subject>
  <dc:creator>Tony Wen</dc:creator>
  <cp:lastModifiedBy>Tony Wen</cp:lastModifiedBy>
  <cp:revision>1</cp:revision>
  <dcterms:created xsi:type="dcterms:W3CDTF">2026-09-21T13:53:14Z</dcterms:created>
  <dcterms:modified xsi:type="dcterms:W3CDTF">2026-09-21T13:53:14Z</dcterms:modified>
</cp:coreProperties>
</file>